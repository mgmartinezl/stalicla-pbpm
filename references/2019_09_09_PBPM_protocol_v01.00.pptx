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9"/>
  </p:notesMasterIdLst>
  <p:sldIdLst>
    <p:sldId id="256" r:id="rId3"/>
    <p:sldId id="302" r:id="rId4"/>
    <p:sldId id="339" r:id="rId5"/>
    <p:sldId id="319" r:id="rId6"/>
    <p:sldId id="320" r:id="rId7"/>
    <p:sldId id="321" r:id="rId8"/>
    <p:sldId id="340" r:id="rId9"/>
    <p:sldId id="322" r:id="rId10"/>
    <p:sldId id="323" r:id="rId11"/>
    <p:sldId id="324" r:id="rId12"/>
    <p:sldId id="325" r:id="rId13"/>
    <p:sldId id="326" r:id="rId14"/>
    <p:sldId id="327" r:id="rId15"/>
    <p:sldId id="341" r:id="rId16"/>
    <p:sldId id="328" r:id="rId17"/>
    <p:sldId id="329" r:id="rId18"/>
    <p:sldId id="330" r:id="rId19"/>
    <p:sldId id="332" r:id="rId20"/>
    <p:sldId id="331" r:id="rId21"/>
    <p:sldId id="333" r:id="rId22"/>
    <p:sldId id="342" r:id="rId23"/>
    <p:sldId id="336" r:id="rId24"/>
    <p:sldId id="337" r:id="rId25"/>
    <p:sldId id="338" r:id="rId26"/>
    <p:sldId id="335" r:id="rId27"/>
    <p:sldId id="334" r:id="rId2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17" autoAdjust="0"/>
  </p:normalViewPr>
  <p:slideViewPr>
    <p:cSldViewPr snapToGrid="0">
      <p:cViewPr varScale="1">
        <p:scale>
          <a:sx n="63" d="100"/>
          <a:sy n="63" d="100"/>
        </p:scale>
        <p:origin x="8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00FBA4-CB1D-4C58-B09A-B41F99C7A7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5146AC3-6495-487A-A59A-8678BB69A317}">
      <dgm:prSet phldrT="[Text]" custT="1"/>
      <dgm:spPr/>
      <dgm:t>
        <a:bodyPr/>
        <a:lstStyle/>
        <a:p>
          <a:r>
            <a:rPr lang="en-US" sz="2000" dirty="0">
              <a:latin typeface="Abadi Extra Light" panose="020B0204020104020204" pitchFamily="34" charset="0"/>
            </a:rPr>
            <a:t>Mandatory parameters</a:t>
          </a:r>
        </a:p>
      </dgm:t>
    </dgm:pt>
    <dgm:pt modelId="{2FFA81AC-5AFC-42A4-B3A4-35184807FF28}" type="parTrans" cxnId="{0F5BC447-51E4-4EAD-B79D-DDA804D903B2}">
      <dgm:prSet/>
      <dgm:spPr/>
      <dgm:t>
        <a:bodyPr/>
        <a:lstStyle/>
        <a:p>
          <a:endParaRPr lang="en-US" sz="1050">
            <a:latin typeface="Abadi Extra Light" panose="020B0204020104020204" pitchFamily="34" charset="0"/>
          </a:endParaRPr>
        </a:p>
      </dgm:t>
    </dgm:pt>
    <dgm:pt modelId="{0CDE5A4E-018E-458F-867E-86CE575CE5A4}" type="sibTrans" cxnId="{0F5BC447-51E4-4EAD-B79D-DDA804D903B2}">
      <dgm:prSet/>
      <dgm:spPr/>
      <dgm:t>
        <a:bodyPr/>
        <a:lstStyle/>
        <a:p>
          <a:endParaRPr lang="en-US" sz="1050">
            <a:latin typeface="Abadi Extra Light" panose="020B0204020104020204" pitchFamily="34" charset="0"/>
          </a:endParaRPr>
        </a:p>
      </dgm:t>
    </dgm:pt>
    <dgm:pt modelId="{86085957-A16E-4C72-9138-6C9B64D9352A}">
      <dgm:prSet phldrT="[Text]" custT="1"/>
      <dgm:spPr/>
      <dgm:t>
        <a:bodyPr/>
        <a:lstStyle/>
        <a:p>
          <a:r>
            <a:rPr lang="en-US" sz="1600" dirty="0">
              <a:latin typeface="Abadi Extra Light" panose="020B0204020104020204" pitchFamily="34" charset="0"/>
            </a:rPr>
            <a:t>Input file containing patients and mutations.</a:t>
          </a:r>
        </a:p>
      </dgm:t>
    </dgm:pt>
    <dgm:pt modelId="{CED142A3-A150-4AD6-BF64-C2D0D9AB8325}" type="parTrans" cxnId="{0C49B6A7-A54D-4DD3-B5E6-54CF23DD5FA0}">
      <dgm:prSet/>
      <dgm:spPr/>
      <dgm:t>
        <a:bodyPr/>
        <a:lstStyle/>
        <a:p>
          <a:endParaRPr lang="en-US" sz="1050">
            <a:latin typeface="Abadi Extra Light" panose="020B0204020104020204" pitchFamily="34" charset="0"/>
          </a:endParaRPr>
        </a:p>
      </dgm:t>
    </dgm:pt>
    <dgm:pt modelId="{34E2DA64-A300-4B38-B3C1-837FD4B7034D}" type="sibTrans" cxnId="{0C49B6A7-A54D-4DD3-B5E6-54CF23DD5FA0}">
      <dgm:prSet/>
      <dgm:spPr/>
      <dgm:t>
        <a:bodyPr/>
        <a:lstStyle/>
        <a:p>
          <a:endParaRPr lang="en-US" sz="1050">
            <a:latin typeface="Abadi Extra Light" panose="020B0204020104020204" pitchFamily="34" charset="0"/>
          </a:endParaRPr>
        </a:p>
      </dgm:t>
    </dgm:pt>
    <dgm:pt modelId="{65AB574B-B228-4761-B809-DE494ECE921E}">
      <dgm:prSet phldrT="[Text]" custT="1"/>
      <dgm:spPr/>
      <dgm:t>
        <a:bodyPr/>
        <a:lstStyle/>
        <a:p>
          <a:r>
            <a:rPr lang="en-US" sz="2000" dirty="0">
              <a:latin typeface="Abadi Extra Light" panose="020B0204020104020204" pitchFamily="34" charset="0"/>
            </a:rPr>
            <a:t>Optional parameters: act as filters</a:t>
          </a:r>
        </a:p>
      </dgm:t>
    </dgm:pt>
    <dgm:pt modelId="{E1C34707-C964-4D09-88EC-5261896B78BB}" type="parTrans" cxnId="{5DFAC81D-9472-4D8B-A593-93EF2E4BF5D8}">
      <dgm:prSet/>
      <dgm:spPr/>
      <dgm:t>
        <a:bodyPr/>
        <a:lstStyle/>
        <a:p>
          <a:endParaRPr lang="en-US" sz="1050">
            <a:latin typeface="Abadi Extra Light" panose="020B0204020104020204" pitchFamily="34" charset="0"/>
          </a:endParaRPr>
        </a:p>
      </dgm:t>
    </dgm:pt>
    <dgm:pt modelId="{57E6AB5F-BA01-469E-AA83-47E50ED48A78}" type="sibTrans" cxnId="{5DFAC81D-9472-4D8B-A593-93EF2E4BF5D8}">
      <dgm:prSet/>
      <dgm:spPr/>
      <dgm:t>
        <a:bodyPr/>
        <a:lstStyle/>
        <a:p>
          <a:endParaRPr lang="en-US" sz="1050">
            <a:latin typeface="Abadi Extra Light" panose="020B0204020104020204" pitchFamily="34" charset="0"/>
          </a:endParaRPr>
        </a:p>
      </dgm:t>
    </dgm:pt>
    <dgm:pt modelId="{BE88318D-37D8-4165-83D7-19E82BA6BC0A}">
      <dgm:prSet phldrT="[Text]" custT="1"/>
      <dgm:spPr/>
      <dgm:t>
        <a:bodyPr/>
        <a:lstStyle/>
        <a:p>
          <a:r>
            <a:rPr lang="en-US" sz="1600" dirty="0">
              <a:latin typeface="Abadi Extra Light" panose="020B0204020104020204" pitchFamily="34" charset="0"/>
            </a:rPr>
            <a:t>Pathways.</a:t>
          </a:r>
        </a:p>
      </dgm:t>
    </dgm:pt>
    <dgm:pt modelId="{CB49A4FD-3CA0-42AB-8A4E-58240ECE6291}" type="parTrans" cxnId="{E667E63A-7501-4F3C-ABA4-D2E95172116C}">
      <dgm:prSet/>
      <dgm:spPr/>
      <dgm:t>
        <a:bodyPr/>
        <a:lstStyle/>
        <a:p>
          <a:endParaRPr lang="en-US" sz="1050">
            <a:latin typeface="Abadi Extra Light" panose="020B0204020104020204" pitchFamily="34" charset="0"/>
          </a:endParaRPr>
        </a:p>
      </dgm:t>
    </dgm:pt>
    <dgm:pt modelId="{46217F2B-685A-4707-9E2A-940DCE7E9185}" type="sibTrans" cxnId="{E667E63A-7501-4F3C-ABA4-D2E95172116C}">
      <dgm:prSet/>
      <dgm:spPr/>
      <dgm:t>
        <a:bodyPr/>
        <a:lstStyle/>
        <a:p>
          <a:endParaRPr lang="en-US" sz="1050">
            <a:latin typeface="Abadi Extra Light" panose="020B0204020104020204" pitchFamily="34" charset="0"/>
          </a:endParaRPr>
        </a:p>
      </dgm:t>
    </dgm:pt>
    <dgm:pt modelId="{F329B068-9BC4-4462-B9D5-9A619FF5230B}">
      <dgm:prSet phldrT="[Text]" custT="1"/>
      <dgm:spPr/>
      <dgm:t>
        <a:bodyPr/>
        <a:lstStyle/>
        <a:p>
          <a:r>
            <a:rPr lang="en-US" sz="1600" dirty="0">
              <a:latin typeface="Abadi Extra Light" panose="020B0204020104020204" pitchFamily="34" charset="0"/>
            </a:rPr>
            <a:t>Folder containing pathways and their genes.</a:t>
          </a:r>
        </a:p>
      </dgm:t>
    </dgm:pt>
    <dgm:pt modelId="{38D78629-776E-4003-A22F-FEAF89B391DA}" type="parTrans" cxnId="{306B0FB6-47B7-4746-B8FC-E7C1E70997A7}">
      <dgm:prSet/>
      <dgm:spPr/>
      <dgm:t>
        <a:bodyPr/>
        <a:lstStyle/>
        <a:p>
          <a:endParaRPr lang="en-US" sz="1600"/>
        </a:p>
      </dgm:t>
    </dgm:pt>
    <dgm:pt modelId="{13BD7148-BC80-4FB7-8095-67E29808C76F}" type="sibTrans" cxnId="{306B0FB6-47B7-4746-B8FC-E7C1E70997A7}">
      <dgm:prSet/>
      <dgm:spPr/>
      <dgm:t>
        <a:bodyPr/>
        <a:lstStyle/>
        <a:p>
          <a:endParaRPr lang="en-US" sz="1600"/>
        </a:p>
      </dgm:t>
    </dgm:pt>
    <dgm:pt modelId="{A9944A70-02D3-410C-928B-EFEB24C5B54F}">
      <dgm:prSet phldrT="[Text]" custT="1"/>
      <dgm:spPr/>
      <dgm:t>
        <a:bodyPr/>
        <a:lstStyle/>
        <a:p>
          <a:r>
            <a:rPr lang="en-US" sz="1600" dirty="0">
              <a:latin typeface="Abadi Extra Light" panose="020B0204020104020204" pitchFamily="34" charset="0"/>
            </a:rPr>
            <a:t>Genes.</a:t>
          </a:r>
        </a:p>
      </dgm:t>
    </dgm:pt>
    <dgm:pt modelId="{29FC8D18-3575-46F2-9A9B-44A4C5833570}" type="parTrans" cxnId="{E54EE72F-66E4-4A51-8AEA-E978E107ED7F}">
      <dgm:prSet/>
      <dgm:spPr/>
      <dgm:t>
        <a:bodyPr/>
        <a:lstStyle/>
        <a:p>
          <a:endParaRPr lang="en-US" sz="1600"/>
        </a:p>
      </dgm:t>
    </dgm:pt>
    <dgm:pt modelId="{5DD62C38-8697-4B64-B030-E488026965BA}" type="sibTrans" cxnId="{E54EE72F-66E4-4A51-8AEA-E978E107ED7F}">
      <dgm:prSet/>
      <dgm:spPr/>
      <dgm:t>
        <a:bodyPr/>
        <a:lstStyle/>
        <a:p>
          <a:endParaRPr lang="en-US" sz="1600"/>
        </a:p>
      </dgm:t>
    </dgm:pt>
    <dgm:pt modelId="{8273C375-AA08-4264-9971-EE51802074C9}">
      <dgm:prSet phldrT="[Text]" custT="1"/>
      <dgm:spPr/>
      <dgm:t>
        <a:bodyPr/>
        <a:lstStyle/>
        <a:p>
          <a:r>
            <a:rPr lang="en-US" sz="1600" dirty="0">
              <a:latin typeface="Abadi Extra Light" panose="020B0204020104020204" pitchFamily="34" charset="0"/>
            </a:rPr>
            <a:t>Patients.</a:t>
          </a:r>
        </a:p>
      </dgm:t>
    </dgm:pt>
    <dgm:pt modelId="{BF77A1B3-F659-459D-8E42-8736713E2575}" type="parTrans" cxnId="{8A8CB847-C81D-41CA-A49B-3BC617977930}">
      <dgm:prSet/>
      <dgm:spPr/>
      <dgm:t>
        <a:bodyPr/>
        <a:lstStyle/>
        <a:p>
          <a:endParaRPr lang="en-US" sz="1600"/>
        </a:p>
      </dgm:t>
    </dgm:pt>
    <dgm:pt modelId="{8D2C53B3-4A71-41FB-90AB-5E7D0AA9BEF6}" type="sibTrans" cxnId="{8A8CB847-C81D-41CA-A49B-3BC617977930}">
      <dgm:prSet/>
      <dgm:spPr/>
      <dgm:t>
        <a:bodyPr/>
        <a:lstStyle/>
        <a:p>
          <a:endParaRPr lang="en-US" sz="1600"/>
        </a:p>
      </dgm:t>
    </dgm:pt>
    <dgm:pt modelId="{723998F3-6070-48DD-8746-FDB1F9EAA5F7}">
      <dgm:prSet phldrT="[Text]" custT="1"/>
      <dgm:spPr/>
      <dgm:t>
        <a:bodyPr/>
        <a:lstStyle/>
        <a:p>
          <a:r>
            <a:rPr lang="en-US" sz="1600" dirty="0">
              <a:latin typeface="Abadi Extra Light" panose="020B0204020104020204" pitchFamily="34" charset="0"/>
            </a:rPr>
            <a:t>Consequences.</a:t>
          </a:r>
        </a:p>
      </dgm:t>
    </dgm:pt>
    <dgm:pt modelId="{60BD2AFD-0384-4FB6-ACDF-22ADDFCBAD2F}" type="parTrans" cxnId="{C41EE296-3872-4B88-A9C8-9986915DA2EE}">
      <dgm:prSet/>
      <dgm:spPr/>
      <dgm:t>
        <a:bodyPr/>
        <a:lstStyle/>
        <a:p>
          <a:endParaRPr lang="en-US" sz="1600"/>
        </a:p>
      </dgm:t>
    </dgm:pt>
    <dgm:pt modelId="{A4DBD70C-B827-43EF-9F8F-82786E3BCFE9}" type="sibTrans" cxnId="{C41EE296-3872-4B88-A9C8-9986915DA2EE}">
      <dgm:prSet/>
      <dgm:spPr/>
      <dgm:t>
        <a:bodyPr/>
        <a:lstStyle/>
        <a:p>
          <a:endParaRPr lang="en-US" sz="1600"/>
        </a:p>
      </dgm:t>
    </dgm:pt>
    <dgm:pt modelId="{B1F82956-5461-4365-AAFC-99EA45EF28FE}">
      <dgm:prSet phldrT="[Text]" custT="1"/>
      <dgm:spPr/>
      <dgm:t>
        <a:bodyPr/>
        <a:lstStyle/>
        <a:p>
          <a:r>
            <a:rPr lang="en-US" sz="1600" dirty="0" err="1">
              <a:latin typeface="Abadi Extra Light" panose="020B0204020104020204" pitchFamily="34" charset="0"/>
            </a:rPr>
            <a:t>pLI</a:t>
          </a:r>
          <a:r>
            <a:rPr lang="en-US" sz="1600" dirty="0">
              <a:latin typeface="Abadi Extra Light" panose="020B0204020104020204" pitchFamily="34" charset="0"/>
            </a:rPr>
            <a:t>.</a:t>
          </a:r>
        </a:p>
      </dgm:t>
    </dgm:pt>
    <dgm:pt modelId="{83860D20-98E3-4D1D-B564-E3767D1A4035}" type="parTrans" cxnId="{46E18510-445B-4774-AAC9-E0F6BD6B13B3}">
      <dgm:prSet/>
      <dgm:spPr/>
      <dgm:t>
        <a:bodyPr/>
        <a:lstStyle/>
        <a:p>
          <a:endParaRPr lang="en-US" sz="1600"/>
        </a:p>
      </dgm:t>
    </dgm:pt>
    <dgm:pt modelId="{0395FDF7-664A-4BE8-8EB4-C743C6622177}" type="sibTrans" cxnId="{46E18510-445B-4774-AAC9-E0F6BD6B13B3}">
      <dgm:prSet/>
      <dgm:spPr/>
      <dgm:t>
        <a:bodyPr/>
        <a:lstStyle/>
        <a:p>
          <a:endParaRPr lang="en-US" sz="1600"/>
        </a:p>
      </dgm:t>
    </dgm:pt>
    <dgm:pt modelId="{8F93982F-0AA5-4A48-B18B-AF5AAB830105}">
      <dgm:prSet phldrT="[Text]" custT="1"/>
      <dgm:spPr/>
      <dgm:t>
        <a:bodyPr/>
        <a:lstStyle/>
        <a:p>
          <a:r>
            <a:rPr lang="en-US" sz="1600" dirty="0">
              <a:latin typeface="Abadi Extra Light" panose="020B0204020104020204" pitchFamily="34" charset="0"/>
            </a:rPr>
            <a:t>PolyPhen2 prediction label.</a:t>
          </a:r>
        </a:p>
      </dgm:t>
    </dgm:pt>
    <dgm:pt modelId="{7593248A-90C2-4261-8818-D7ABDBF69308}" type="parTrans" cxnId="{7DF2D91B-D504-41EC-A405-1AE472B34366}">
      <dgm:prSet/>
      <dgm:spPr/>
      <dgm:t>
        <a:bodyPr/>
        <a:lstStyle/>
        <a:p>
          <a:endParaRPr lang="en-US" sz="1600"/>
        </a:p>
      </dgm:t>
    </dgm:pt>
    <dgm:pt modelId="{74390B85-E602-425D-A885-5377C4479CD5}" type="sibTrans" cxnId="{7DF2D91B-D504-41EC-A405-1AE472B34366}">
      <dgm:prSet/>
      <dgm:spPr/>
      <dgm:t>
        <a:bodyPr/>
        <a:lstStyle/>
        <a:p>
          <a:endParaRPr lang="en-US" sz="1600"/>
        </a:p>
      </dgm:t>
    </dgm:pt>
    <dgm:pt modelId="{059EDBCB-948C-4167-9E05-D7FA4430C710}">
      <dgm:prSet phldrT="[Text]" custT="1"/>
      <dgm:spPr/>
      <dgm:t>
        <a:bodyPr/>
        <a:lstStyle/>
        <a:p>
          <a:r>
            <a:rPr lang="en-US" sz="1600" dirty="0">
              <a:latin typeface="Abadi Extra Light" panose="020B0204020104020204" pitchFamily="34" charset="0"/>
            </a:rPr>
            <a:t>MPC.</a:t>
          </a:r>
        </a:p>
      </dgm:t>
    </dgm:pt>
    <dgm:pt modelId="{C30138CD-322E-4752-BF80-6BA24B2A04EE}" type="parTrans" cxnId="{BE1412A9-1119-4F21-B485-E7D97EB4536C}">
      <dgm:prSet/>
      <dgm:spPr/>
      <dgm:t>
        <a:bodyPr/>
        <a:lstStyle/>
        <a:p>
          <a:endParaRPr lang="en-US" sz="1600"/>
        </a:p>
      </dgm:t>
    </dgm:pt>
    <dgm:pt modelId="{3FB4102A-92D2-49B6-A11A-EDEBCABA80E8}" type="sibTrans" cxnId="{BE1412A9-1119-4F21-B485-E7D97EB4536C}">
      <dgm:prSet/>
      <dgm:spPr/>
      <dgm:t>
        <a:bodyPr/>
        <a:lstStyle/>
        <a:p>
          <a:endParaRPr lang="en-US" sz="1600"/>
        </a:p>
      </dgm:t>
    </dgm:pt>
    <dgm:pt modelId="{7B9225A7-FD91-4913-B81A-EDEBE91C28E3}">
      <dgm:prSet phldrT="[Text]" custT="1"/>
      <dgm:spPr/>
      <dgm:t>
        <a:bodyPr/>
        <a:lstStyle/>
        <a:p>
          <a:r>
            <a:rPr lang="en-US" sz="1600" dirty="0">
              <a:latin typeface="Abadi Extra Light" panose="020B0204020104020204" pitchFamily="34" charset="0"/>
            </a:rPr>
            <a:t>Adjusted consequence.</a:t>
          </a:r>
        </a:p>
      </dgm:t>
    </dgm:pt>
    <dgm:pt modelId="{ED0B2524-25E1-4155-AFE6-71980C6486C3}" type="parTrans" cxnId="{95E485D1-0FB9-4070-BAF8-BFE66F220D00}">
      <dgm:prSet/>
      <dgm:spPr/>
      <dgm:t>
        <a:bodyPr/>
        <a:lstStyle/>
        <a:p>
          <a:endParaRPr lang="en-US" sz="1600"/>
        </a:p>
      </dgm:t>
    </dgm:pt>
    <dgm:pt modelId="{F7EB1606-4867-4AC3-9E4B-E5F8C276A8C6}" type="sibTrans" cxnId="{95E485D1-0FB9-4070-BAF8-BFE66F220D00}">
      <dgm:prSet/>
      <dgm:spPr/>
      <dgm:t>
        <a:bodyPr/>
        <a:lstStyle/>
        <a:p>
          <a:endParaRPr lang="en-US" sz="1600"/>
        </a:p>
      </dgm:t>
    </dgm:pt>
    <dgm:pt modelId="{65CEB2A9-5BD6-4535-A528-21B33C174249}">
      <dgm:prSet phldrT="[Text]" custT="1"/>
      <dgm:spPr/>
      <dgm:t>
        <a:bodyPr/>
        <a:lstStyle/>
        <a:p>
          <a:r>
            <a:rPr lang="en-US" sz="1600" dirty="0">
              <a:latin typeface="Abadi Extra Light" panose="020B0204020104020204" pitchFamily="34" charset="0"/>
            </a:rPr>
            <a:t>Max control AF.</a:t>
          </a:r>
        </a:p>
      </dgm:t>
    </dgm:pt>
    <dgm:pt modelId="{6AA51B85-3061-4B8B-8CC3-7BD1525B3C9D}" type="parTrans" cxnId="{47F4F0A4-64CD-4B8B-B8B7-AC2A3915F493}">
      <dgm:prSet/>
      <dgm:spPr/>
      <dgm:t>
        <a:bodyPr/>
        <a:lstStyle/>
        <a:p>
          <a:endParaRPr lang="en-US" sz="1600"/>
        </a:p>
      </dgm:t>
    </dgm:pt>
    <dgm:pt modelId="{E9C6E380-18D9-4FD4-AD4E-13117399E6C6}" type="sibTrans" cxnId="{47F4F0A4-64CD-4B8B-B8B7-AC2A3915F493}">
      <dgm:prSet/>
      <dgm:spPr/>
      <dgm:t>
        <a:bodyPr/>
        <a:lstStyle/>
        <a:p>
          <a:endParaRPr lang="en-US" sz="1600"/>
        </a:p>
      </dgm:t>
    </dgm:pt>
    <dgm:pt modelId="{5CC1AF3F-F708-4AE0-B118-449B1AB2DDE3}">
      <dgm:prSet phldrT="[Text]" custT="1"/>
      <dgm:spPr/>
      <dgm:t>
        <a:bodyPr/>
        <a:lstStyle/>
        <a:p>
          <a:r>
            <a:rPr lang="en-US" sz="1600" dirty="0" err="1">
              <a:latin typeface="Abadi Extra Light" panose="020B0204020104020204" pitchFamily="34" charset="0"/>
            </a:rPr>
            <a:t>pRecessive</a:t>
          </a:r>
          <a:r>
            <a:rPr lang="en-US" sz="1600" dirty="0">
              <a:latin typeface="Abadi Extra Light" panose="020B0204020104020204" pitchFamily="34" charset="0"/>
            </a:rPr>
            <a:t>.</a:t>
          </a:r>
        </a:p>
      </dgm:t>
    </dgm:pt>
    <dgm:pt modelId="{738DBB76-52EB-434B-B2B5-89FA3B7B6C90}" type="parTrans" cxnId="{12039BB1-FCF7-4534-8232-0713D356DF6D}">
      <dgm:prSet/>
      <dgm:spPr/>
      <dgm:t>
        <a:bodyPr/>
        <a:lstStyle/>
        <a:p>
          <a:endParaRPr lang="en-US" sz="1600"/>
        </a:p>
      </dgm:t>
    </dgm:pt>
    <dgm:pt modelId="{4AB3CA75-F9B0-4354-8C11-7CA35DA74402}" type="sibTrans" cxnId="{12039BB1-FCF7-4534-8232-0713D356DF6D}">
      <dgm:prSet/>
      <dgm:spPr/>
      <dgm:t>
        <a:bodyPr/>
        <a:lstStyle/>
        <a:p>
          <a:endParaRPr lang="en-US" sz="1600"/>
        </a:p>
      </dgm:t>
    </dgm:pt>
    <dgm:pt modelId="{8CCB2EA1-111B-46B8-8079-7492E1B5542B}" type="pres">
      <dgm:prSet presAssocID="{2B00FBA4-CB1D-4C58-B09A-B41F99C7A7E0}" presName="linear" presStyleCnt="0">
        <dgm:presLayoutVars>
          <dgm:animLvl val="lvl"/>
          <dgm:resizeHandles val="exact"/>
        </dgm:presLayoutVars>
      </dgm:prSet>
      <dgm:spPr/>
    </dgm:pt>
    <dgm:pt modelId="{3F3C2C25-13E4-4654-B5C1-D27896EACFE2}" type="pres">
      <dgm:prSet presAssocID="{15146AC3-6495-487A-A59A-8678BB69A317}" presName="parentText" presStyleLbl="node1" presStyleIdx="0" presStyleCnt="2" custScaleY="57090">
        <dgm:presLayoutVars>
          <dgm:chMax val="0"/>
          <dgm:bulletEnabled val="1"/>
        </dgm:presLayoutVars>
      </dgm:prSet>
      <dgm:spPr/>
    </dgm:pt>
    <dgm:pt modelId="{133D3FF6-4C61-4E47-9673-BECA49670E51}" type="pres">
      <dgm:prSet presAssocID="{15146AC3-6495-487A-A59A-8678BB69A317}" presName="childText" presStyleLbl="revTx" presStyleIdx="0" presStyleCnt="2">
        <dgm:presLayoutVars>
          <dgm:bulletEnabled val="1"/>
        </dgm:presLayoutVars>
      </dgm:prSet>
      <dgm:spPr/>
    </dgm:pt>
    <dgm:pt modelId="{CA1DEA98-0227-4375-B7C1-4CDD8CECB021}" type="pres">
      <dgm:prSet presAssocID="{65AB574B-B228-4761-B809-DE494ECE921E}" presName="parentText" presStyleLbl="node1" presStyleIdx="1" presStyleCnt="2" custScaleY="55232">
        <dgm:presLayoutVars>
          <dgm:chMax val="0"/>
          <dgm:bulletEnabled val="1"/>
        </dgm:presLayoutVars>
      </dgm:prSet>
      <dgm:spPr/>
    </dgm:pt>
    <dgm:pt modelId="{031E98BD-2ED7-4F07-82B3-A3B4BCE7E46A}" type="pres">
      <dgm:prSet presAssocID="{65AB574B-B228-4761-B809-DE494ECE921E}" presName="childText" presStyleLbl="revTx" presStyleIdx="1" presStyleCnt="2">
        <dgm:presLayoutVars>
          <dgm:bulletEnabled val="1"/>
        </dgm:presLayoutVars>
      </dgm:prSet>
      <dgm:spPr/>
    </dgm:pt>
  </dgm:ptLst>
  <dgm:cxnLst>
    <dgm:cxn modelId="{70D20205-FDEA-48C5-BD73-E3F068BD306A}" type="presOf" srcId="{5CC1AF3F-F708-4AE0-B118-449B1AB2DDE3}" destId="{031E98BD-2ED7-4F07-82B3-A3B4BCE7E46A}" srcOrd="0" destOrd="5" presId="urn:microsoft.com/office/officeart/2005/8/layout/vList2"/>
    <dgm:cxn modelId="{A7ECFE09-ADE5-4537-BCB9-D84A0EE83820}" type="presOf" srcId="{8273C375-AA08-4264-9971-EE51802074C9}" destId="{031E98BD-2ED7-4F07-82B3-A3B4BCE7E46A}" srcOrd="0" destOrd="2" presId="urn:microsoft.com/office/officeart/2005/8/layout/vList2"/>
    <dgm:cxn modelId="{E07A700A-3804-4490-AE76-097DE8876F4D}" type="presOf" srcId="{65CEB2A9-5BD6-4535-A528-21B33C174249}" destId="{031E98BD-2ED7-4F07-82B3-A3B4BCE7E46A}" srcOrd="0" destOrd="6" presId="urn:microsoft.com/office/officeart/2005/8/layout/vList2"/>
    <dgm:cxn modelId="{46E18510-445B-4774-AAC9-E0F6BD6B13B3}" srcId="{65AB574B-B228-4761-B809-DE494ECE921E}" destId="{B1F82956-5461-4365-AAFC-99EA45EF28FE}" srcOrd="4" destOrd="0" parTransId="{83860D20-98E3-4D1D-B564-E3767D1A4035}" sibTransId="{0395FDF7-664A-4BE8-8EB4-C743C6622177}"/>
    <dgm:cxn modelId="{E804601A-D1FE-407F-A5F7-8D8F974EBCA7}" type="presOf" srcId="{059EDBCB-948C-4167-9E05-D7FA4430C710}" destId="{031E98BD-2ED7-4F07-82B3-A3B4BCE7E46A}" srcOrd="0" destOrd="8" presId="urn:microsoft.com/office/officeart/2005/8/layout/vList2"/>
    <dgm:cxn modelId="{7DF2D91B-D504-41EC-A405-1AE472B34366}" srcId="{65AB574B-B228-4761-B809-DE494ECE921E}" destId="{8F93982F-0AA5-4A48-B18B-AF5AAB830105}" srcOrd="7" destOrd="0" parTransId="{7593248A-90C2-4261-8818-D7ABDBF69308}" sibTransId="{74390B85-E602-425D-A885-5377C4479CD5}"/>
    <dgm:cxn modelId="{5DFAC81D-9472-4D8B-A593-93EF2E4BF5D8}" srcId="{2B00FBA4-CB1D-4C58-B09A-B41F99C7A7E0}" destId="{65AB574B-B228-4761-B809-DE494ECE921E}" srcOrd="1" destOrd="0" parTransId="{E1C34707-C964-4D09-88EC-5261896B78BB}" sibTransId="{57E6AB5F-BA01-469E-AA83-47E50ED48A78}"/>
    <dgm:cxn modelId="{7B596C27-5ADA-4587-BB88-56BD94602F59}" type="presOf" srcId="{65AB574B-B228-4761-B809-DE494ECE921E}" destId="{CA1DEA98-0227-4375-B7C1-4CDD8CECB021}" srcOrd="0" destOrd="0" presId="urn:microsoft.com/office/officeart/2005/8/layout/vList2"/>
    <dgm:cxn modelId="{E54EE72F-66E4-4A51-8AEA-E978E107ED7F}" srcId="{65AB574B-B228-4761-B809-DE494ECE921E}" destId="{A9944A70-02D3-410C-928B-EFEB24C5B54F}" srcOrd="1" destOrd="0" parTransId="{29FC8D18-3575-46F2-9A9B-44A4C5833570}" sibTransId="{5DD62C38-8697-4B64-B030-E488026965BA}"/>
    <dgm:cxn modelId="{E667E63A-7501-4F3C-ABA4-D2E95172116C}" srcId="{65AB574B-B228-4761-B809-DE494ECE921E}" destId="{BE88318D-37D8-4165-83D7-19E82BA6BC0A}" srcOrd="0" destOrd="0" parTransId="{CB49A4FD-3CA0-42AB-8A4E-58240ECE6291}" sibTransId="{46217F2B-685A-4707-9E2A-940DCE7E9185}"/>
    <dgm:cxn modelId="{8A8CB847-C81D-41CA-A49B-3BC617977930}" srcId="{65AB574B-B228-4761-B809-DE494ECE921E}" destId="{8273C375-AA08-4264-9971-EE51802074C9}" srcOrd="2" destOrd="0" parTransId="{BF77A1B3-F659-459D-8E42-8736713E2575}" sibTransId="{8D2C53B3-4A71-41FB-90AB-5E7D0AA9BEF6}"/>
    <dgm:cxn modelId="{0F5BC447-51E4-4EAD-B79D-DDA804D903B2}" srcId="{2B00FBA4-CB1D-4C58-B09A-B41F99C7A7E0}" destId="{15146AC3-6495-487A-A59A-8678BB69A317}" srcOrd="0" destOrd="0" parTransId="{2FFA81AC-5AFC-42A4-B3A4-35184807FF28}" sibTransId="{0CDE5A4E-018E-458F-867E-86CE575CE5A4}"/>
    <dgm:cxn modelId="{44CFDE47-FD69-49B2-8201-320F00EE300A}" type="presOf" srcId="{2B00FBA4-CB1D-4C58-B09A-B41F99C7A7E0}" destId="{8CCB2EA1-111B-46B8-8079-7492E1B5542B}" srcOrd="0" destOrd="0" presId="urn:microsoft.com/office/officeart/2005/8/layout/vList2"/>
    <dgm:cxn modelId="{776B586E-CF13-4546-A2C0-84CC4D390865}" type="presOf" srcId="{86085957-A16E-4C72-9138-6C9B64D9352A}" destId="{133D3FF6-4C61-4E47-9673-BECA49670E51}" srcOrd="0" destOrd="0" presId="urn:microsoft.com/office/officeart/2005/8/layout/vList2"/>
    <dgm:cxn modelId="{227DCC87-3609-415A-A229-897E65A8AF71}" type="presOf" srcId="{F329B068-9BC4-4462-B9D5-9A619FF5230B}" destId="{133D3FF6-4C61-4E47-9673-BECA49670E51}" srcOrd="0" destOrd="1" presId="urn:microsoft.com/office/officeart/2005/8/layout/vList2"/>
    <dgm:cxn modelId="{922F408F-926F-4A21-84F0-DB761FA85E53}" type="presOf" srcId="{8F93982F-0AA5-4A48-B18B-AF5AAB830105}" destId="{031E98BD-2ED7-4F07-82B3-A3B4BCE7E46A}" srcOrd="0" destOrd="7" presId="urn:microsoft.com/office/officeart/2005/8/layout/vList2"/>
    <dgm:cxn modelId="{C41EE296-3872-4B88-A9C8-9986915DA2EE}" srcId="{65AB574B-B228-4761-B809-DE494ECE921E}" destId="{723998F3-6070-48DD-8746-FDB1F9EAA5F7}" srcOrd="3" destOrd="0" parTransId="{60BD2AFD-0384-4FB6-ACDF-22ADDFCBAD2F}" sibTransId="{A4DBD70C-B827-43EF-9F8F-82786E3BCFE9}"/>
    <dgm:cxn modelId="{91DF299A-1729-4D19-92EC-294C6F396355}" type="presOf" srcId="{B1F82956-5461-4365-AAFC-99EA45EF28FE}" destId="{031E98BD-2ED7-4F07-82B3-A3B4BCE7E46A}" srcOrd="0" destOrd="4" presId="urn:microsoft.com/office/officeart/2005/8/layout/vList2"/>
    <dgm:cxn modelId="{B2FE969A-562E-44A5-8F9D-F29BDEECB6DC}" type="presOf" srcId="{BE88318D-37D8-4165-83D7-19E82BA6BC0A}" destId="{031E98BD-2ED7-4F07-82B3-A3B4BCE7E46A}" srcOrd="0" destOrd="0" presId="urn:microsoft.com/office/officeart/2005/8/layout/vList2"/>
    <dgm:cxn modelId="{47F4F0A4-64CD-4B8B-B8B7-AC2A3915F493}" srcId="{65AB574B-B228-4761-B809-DE494ECE921E}" destId="{65CEB2A9-5BD6-4535-A528-21B33C174249}" srcOrd="6" destOrd="0" parTransId="{6AA51B85-3061-4B8B-8CC3-7BD1525B3C9D}" sibTransId="{E9C6E380-18D9-4FD4-AD4E-13117399E6C6}"/>
    <dgm:cxn modelId="{0C49B6A7-A54D-4DD3-B5E6-54CF23DD5FA0}" srcId="{15146AC3-6495-487A-A59A-8678BB69A317}" destId="{86085957-A16E-4C72-9138-6C9B64D9352A}" srcOrd="0" destOrd="0" parTransId="{CED142A3-A150-4AD6-BF64-C2D0D9AB8325}" sibTransId="{34E2DA64-A300-4B38-B3C1-837FD4B7034D}"/>
    <dgm:cxn modelId="{BE1412A9-1119-4F21-B485-E7D97EB4536C}" srcId="{65AB574B-B228-4761-B809-DE494ECE921E}" destId="{059EDBCB-948C-4167-9E05-D7FA4430C710}" srcOrd="8" destOrd="0" parTransId="{C30138CD-322E-4752-BF80-6BA24B2A04EE}" sibTransId="{3FB4102A-92D2-49B6-A11A-EDEBCABA80E8}"/>
    <dgm:cxn modelId="{12039BB1-FCF7-4534-8232-0713D356DF6D}" srcId="{65AB574B-B228-4761-B809-DE494ECE921E}" destId="{5CC1AF3F-F708-4AE0-B118-449B1AB2DDE3}" srcOrd="5" destOrd="0" parTransId="{738DBB76-52EB-434B-B2B5-89FA3B7B6C90}" sibTransId="{4AB3CA75-F9B0-4354-8C11-7CA35DA74402}"/>
    <dgm:cxn modelId="{BDB0B6B5-0797-4743-9A13-174B6ECCC4F9}" type="presOf" srcId="{15146AC3-6495-487A-A59A-8678BB69A317}" destId="{3F3C2C25-13E4-4654-B5C1-D27896EACFE2}" srcOrd="0" destOrd="0" presId="urn:microsoft.com/office/officeart/2005/8/layout/vList2"/>
    <dgm:cxn modelId="{306B0FB6-47B7-4746-B8FC-E7C1E70997A7}" srcId="{15146AC3-6495-487A-A59A-8678BB69A317}" destId="{F329B068-9BC4-4462-B9D5-9A619FF5230B}" srcOrd="1" destOrd="0" parTransId="{38D78629-776E-4003-A22F-FEAF89B391DA}" sibTransId="{13BD7148-BC80-4FB7-8095-67E29808C76F}"/>
    <dgm:cxn modelId="{7C61CDC6-5FC6-4052-990B-51D7AC3358FB}" type="presOf" srcId="{723998F3-6070-48DD-8746-FDB1F9EAA5F7}" destId="{031E98BD-2ED7-4F07-82B3-A3B4BCE7E46A}" srcOrd="0" destOrd="3" presId="urn:microsoft.com/office/officeart/2005/8/layout/vList2"/>
    <dgm:cxn modelId="{95E485D1-0FB9-4070-BAF8-BFE66F220D00}" srcId="{65AB574B-B228-4761-B809-DE494ECE921E}" destId="{7B9225A7-FD91-4913-B81A-EDEBE91C28E3}" srcOrd="9" destOrd="0" parTransId="{ED0B2524-25E1-4155-AFE6-71980C6486C3}" sibTransId="{F7EB1606-4867-4AC3-9E4B-E5F8C276A8C6}"/>
    <dgm:cxn modelId="{B3A839ED-EB96-4088-8ABD-9E6808581660}" type="presOf" srcId="{A9944A70-02D3-410C-928B-EFEB24C5B54F}" destId="{031E98BD-2ED7-4F07-82B3-A3B4BCE7E46A}" srcOrd="0" destOrd="1" presId="urn:microsoft.com/office/officeart/2005/8/layout/vList2"/>
    <dgm:cxn modelId="{0DED66ED-72AC-463E-A3B3-2C7058AE774A}" type="presOf" srcId="{7B9225A7-FD91-4913-B81A-EDEBE91C28E3}" destId="{031E98BD-2ED7-4F07-82B3-A3B4BCE7E46A}" srcOrd="0" destOrd="9" presId="urn:microsoft.com/office/officeart/2005/8/layout/vList2"/>
    <dgm:cxn modelId="{FDB199B1-7E72-43AB-B9C2-F3D265C450B9}" type="presParOf" srcId="{8CCB2EA1-111B-46B8-8079-7492E1B5542B}" destId="{3F3C2C25-13E4-4654-B5C1-D27896EACFE2}" srcOrd="0" destOrd="0" presId="urn:microsoft.com/office/officeart/2005/8/layout/vList2"/>
    <dgm:cxn modelId="{2329F8B0-0E3C-4A8A-A2FC-EDA3AD5061BB}" type="presParOf" srcId="{8CCB2EA1-111B-46B8-8079-7492E1B5542B}" destId="{133D3FF6-4C61-4E47-9673-BECA49670E51}" srcOrd="1" destOrd="0" presId="urn:microsoft.com/office/officeart/2005/8/layout/vList2"/>
    <dgm:cxn modelId="{29134945-F12C-4B0A-927A-FE5B8314DD38}" type="presParOf" srcId="{8CCB2EA1-111B-46B8-8079-7492E1B5542B}" destId="{CA1DEA98-0227-4375-B7C1-4CDD8CECB021}" srcOrd="2" destOrd="0" presId="urn:microsoft.com/office/officeart/2005/8/layout/vList2"/>
    <dgm:cxn modelId="{C3CDAE7C-6E37-401D-AB71-D79FAAAE42C1}" type="presParOf" srcId="{8CCB2EA1-111B-46B8-8079-7492E1B5542B}" destId="{031E98BD-2ED7-4F07-82B3-A3B4BCE7E46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C2C25-13E4-4654-B5C1-D27896EACFE2}">
      <dsp:nvSpPr>
        <dsp:cNvPr id="0" name=""/>
        <dsp:cNvSpPr/>
      </dsp:nvSpPr>
      <dsp:spPr>
        <a:xfrm>
          <a:off x="0" y="22265"/>
          <a:ext cx="8097520" cy="4381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badi Extra Light" panose="020B0204020104020204" pitchFamily="34" charset="0"/>
            </a:rPr>
            <a:t>Mandatory parameters</a:t>
          </a:r>
        </a:p>
      </dsp:txBody>
      <dsp:txXfrm>
        <a:off x="21390" y="43655"/>
        <a:ext cx="8054740" cy="395397"/>
      </dsp:txXfrm>
    </dsp:sp>
    <dsp:sp modelId="{133D3FF6-4C61-4E47-9673-BECA49670E51}">
      <dsp:nvSpPr>
        <dsp:cNvPr id="0" name=""/>
        <dsp:cNvSpPr/>
      </dsp:nvSpPr>
      <dsp:spPr>
        <a:xfrm>
          <a:off x="0" y="460442"/>
          <a:ext cx="8097520"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Input file containing patients and mutations.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Folder containing pathways and their genes.</a:t>
          </a:r>
        </a:p>
      </dsp:txBody>
      <dsp:txXfrm>
        <a:off x="0" y="460442"/>
        <a:ext cx="8097520" cy="678960"/>
      </dsp:txXfrm>
    </dsp:sp>
    <dsp:sp modelId="{CA1DEA98-0227-4375-B7C1-4CDD8CECB021}">
      <dsp:nvSpPr>
        <dsp:cNvPr id="0" name=""/>
        <dsp:cNvSpPr/>
      </dsp:nvSpPr>
      <dsp:spPr>
        <a:xfrm>
          <a:off x="0" y="1139402"/>
          <a:ext cx="8097520" cy="42391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badi Extra Light" panose="020B0204020104020204" pitchFamily="34" charset="0"/>
            </a:rPr>
            <a:t>Optional parameters: act as filters</a:t>
          </a:r>
        </a:p>
      </dsp:txBody>
      <dsp:txXfrm>
        <a:off x="20694" y="1160096"/>
        <a:ext cx="8056132" cy="382528"/>
      </dsp:txXfrm>
    </dsp:sp>
    <dsp:sp modelId="{031E98BD-2ED7-4F07-82B3-A3B4BCE7E46A}">
      <dsp:nvSpPr>
        <dsp:cNvPr id="0" name=""/>
        <dsp:cNvSpPr/>
      </dsp:nvSpPr>
      <dsp:spPr>
        <a:xfrm>
          <a:off x="0" y="1563318"/>
          <a:ext cx="8097520" cy="2588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09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Pathways.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Genes.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Patients.</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Consequences.</a:t>
          </a:r>
        </a:p>
        <a:p>
          <a:pPr marL="171450" lvl="1" indent="-171450" algn="l" defTabSz="711200">
            <a:lnSpc>
              <a:spcPct val="90000"/>
            </a:lnSpc>
            <a:spcBef>
              <a:spcPct val="0"/>
            </a:spcBef>
            <a:spcAft>
              <a:spcPct val="20000"/>
            </a:spcAft>
            <a:buChar char="•"/>
          </a:pPr>
          <a:r>
            <a:rPr lang="en-US" sz="1600" kern="1200" dirty="0" err="1">
              <a:latin typeface="Abadi Extra Light" panose="020B0204020104020204" pitchFamily="34" charset="0"/>
            </a:rPr>
            <a:t>pLI</a:t>
          </a:r>
          <a:r>
            <a:rPr lang="en-US" sz="1600" kern="1200" dirty="0">
              <a:latin typeface="Abadi Extra Light" panose="020B0204020104020204" pitchFamily="34" charset="0"/>
            </a:rPr>
            <a:t>.</a:t>
          </a:r>
        </a:p>
        <a:p>
          <a:pPr marL="171450" lvl="1" indent="-171450" algn="l" defTabSz="711200">
            <a:lnSpc>
              <a:spcPct val="90000"/>
            </a:lnSpc>
            <a:spcBef>
              <a:spcPct val="0"/>
            </a:spcBef>
            <a:spcAft>
              <a:spcPct val="20000"/>
            </a:spcAft>
            <a:buChar char="•"/>
          </a:pPr>
          <a:r>
            <a:rPr lang="en-US" sz="1600" kern="1200" dirty="0" err="1">
              <a:latin typeface="Abadi Extra Light" panose="020B0204020104020204" pitchFamily="34" charset="0"/>
            </a:rPr>
            <a:t>pRecessive</a:t>
          </a:r>
          <a:r>
            <a:rPr lang="en-US" sz="1600" kern="1200" dirty="0">
              <a:latin typeface="Abadi Extra Light" panose="020B0204020104020204" pitchFamily="34" charset="0"/>
            </a:rPr>
            <a:t>.</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Max control AF.</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PolyPhen2 prediction label.</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MPC.</a:t>
          </a:r>
        </a:p>
        <a:p>
          <a:pPr marL="171450" lvl="1" indent="-171450" algn="l" defTabSz="711200">
            <a:lnSpc>
              <a:spcPct val="90000"/>
            </a:lnSpc>
            <a:spcBef>
              <a:spcPct val="0"/>
            </a:spcBef>
            <a:spcAft>
              <a:spcPct val="20000"/>
            </a:spcAft>
            <a:buChar char="•"/>
          </a:pPr>
          <a:r>
            <a:rPr lang="en-US" sz="1600" kern="1200" dirty="0">
              <a:latin typeface="Abadi Extra Light" panose="020B0204020104020204" pitchFamily="34" charset="0"/>
            </a:rPr>
            <a:t>Adjusted consequence.</a:t>
          </a:r>
        </a:p>
      </dsp:txBody>
      <dsp:txXfrm>
        <a:off x="0" y="1563318"/>
        <a:ext cx="8097520" cy="2588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A641305-E248-4842-AEF6-36C2F2A111BC}" type="datetimeFigureOut">
              <a:rPr lang="en-US" smtClean="0"/>
              <a:t>9/9/2019</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0B20743B-7677-4FA6-A7F0-12EE4ABB5816}" type="slidenum">
              <a:rPr lang="en-US" smtClean="0"/>
              <a:t>‹#›</a:t>
            </a:fld>
            <a:endParaRPr lang="en-US"/>
          </a:p>
        </p:txBody>
      </p:sp>
    </p:spTree>
    <p:extLst>
      <p:ext uri="{BB962C8B-B14F-4D97-AF65-F5344CB8AC3E}">
        <p14:creationId xmlns:p14="http://schemas.microsoft.com/office/powerpoint/2010/main" val="169374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0"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3"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7"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9"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7"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8"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9"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40"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41"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42"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6"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4"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65"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6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9"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3"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5"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76"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80"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81"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83"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84"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85"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86"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87"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88"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12"/>
          <p:cNvPicPr/>
          <p:nvPr/>
        </p:nvPicPr>
        <p:blipFill>
          <a:blip r:embed="rId14"/>
          <a:srcRect l="19261" t="20543" r="23607" b="31256"/>
          <a:stretch/>
        </p:blipFill>
        <p:spPr>
          <a:xfrm>
            <a:off x="0" y="1507320"/>
            <a:ext cx="9142920" cy="5131800"/>
          </a:xfrm>
          <a:prstGeom prst="rect">
            <a:avLst/>
          </a:prstGeom>
          <a:ln>
            <a:noFill/>
          </a:ln>
        </p:spPr>
      </p:pic>
      <p:sp>
        <p:nvSpPr>
          <p:cNvPr id="8" name="Line 1"/>
          <p:cNvSpPr/>
          <p:nvPr/>
        </p:nvSpPr>
        <p:spPr>
          <a:xfrm>
            <a:off x="-11880" y="1388520"/>
            <a:ext cx="9155880" cy="360"/>
          </a:xfrm>
          <a:prstGeom prst="line">
            <a:avLst/>
          </a:prstGeom>
          <a:ln w="241200">
            <a:solidFill>
              <a:srgbClr val="00AAE9"/>
            </a:solidFill>
            <a:round/>
          </a:ln>
        </p:spPr>
        <p:style>
          <a:lnRef idx="1">
            <a:schemeClr val="accent1"/>
          </a:lnRef>
          <a:fillRef idx="0">
            <a:schemeClr val="accent1"/>
          </a:fillRef>
          <a:effectRef idx="0">
            <a:schemeClr val="accent1"/>
          </a:effectRef>
          <a:fontRef idx="minor"/>
        </p:style>
      </p:sp>
      <p:sp>
        <p:nvSpPr>
          <p:cNvPr id="2" name="Line 2"/>
          <p:cNvSpPr/>
          <p:nvPr/>
        </p:nvSpPr>
        <p:spPr>
          <a:xfrm>
            <a:off x="-11880" y="6748920"/>
            <a:ext cx="9155880" cy="360"/>
          </a:xfrm>
          <a:prstGeom prst="line">
            <a:avLst/>
          </a:prstGeom>
          <a:ln w="241200">
            <a:solidFill>
              <a:schemeClr val="accent2"/>
            </a:solidFill>
            <a:round/>
          </a:ln>
        </p:spPr>
        <p:style>
          <a:lnRef idx="1">
            <a:schemeClr val="accent1"/>
          </a:lnRef>
          <a:fillRef idx="0">
            <a:schemeClr val="accent1"/>
          </a:fillRef>
          <a:effectRef idx="0">
            <a:schemeClr val="accent1"/>
          </a:effectRef>
          <a:fontRef idx="minor"/>
        </p:style>
      </p:sp>
      <p:pic>
        <p:nvPicPr>
          <p:cNvPr id="3" name="Picture 11"/>
          <p:cNvPicPr/>
          <p:nvPr/>
        </p:nvPicPr>
        <p:blipFill>
          <a:blip r:embed="rId15"/>
          <a:stretch/>
        </p:blipFill>
        <p:spPr>
          <a:xfrm>
            <a:off x="285840" y="357480"/>
            <a:ext cx="2799360" cy="628200"/>
          </a:xfrm>
          <a:prstGeom prst="rect">
            <a:avLst/>
          </a:prstGeom>
          <a:ln>
            <a:noFill/>
          </a:ln>
        </p:spPr>
      </p:pic>
      <p:sp>
        <p:nvSpPr>
          <p:cNvPr id="4" name="PlaceHolder 3"/>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 name="PlaceHolder 4"/>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pic>
        <p:nvPicPr>
          <p:cNvPr id="6" name="Picture 5"/>
          <p:cNvPicPr/>
          <p:nvPr/>
        </p:nvPicPr>
        <p:blipFill>
          <a:blip r:embed="rId16"/>
          <a:stretch/>
        </p:blipFill>
        <p:spPr>
          <a:xfrm>
            <a:off x="3295800" y="512640"/>
            <a:ext cx="544320" cy="32976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Line 1"/>
          <p:cNvSpPr/>
          <p:nvPr/>
        </p:nvSpPr>
        <p:spPr>
          <a:xfrm>
            <a:off x="200160" y="6352560"/>
            <a:ext cx="8691120" cy="360"/>
          </a:xfrm>
          <a:prstGeom prst="line">
            <a:avLst/>
          </a:prstGeom>
          <a:ln>
            <a:solidFill>
              <a:schemeClr val="accent1"/>
            </a:solidFill>
            <a:round/>
          </a:ln>
        </p:spPr>
        <p:style>
          <a:lnRef idx="1">
            <a:schemeClr val="accent1"/>
          </a:lnRef>
          <a:fillRef idx="0">
            <a:schemeClr val="accent1"/>
          </a:fillRef>
          <a:effectRef idx="0">
            <a:schemeClr val="accent1"/>
          </a:effectRef>
          <a:fontRef idx="minor"/>
        </p:style>
      </p:sp>
      <p:sp>
        <p:nvSpPr>
          <p:cNvPr id="44" name="CustomShape 2"/>
          <p:cNvSpPr/>
          <p:nvPr/>
        </p:nvSpPr>
        <p:spPr>
          <a:xfrm>
            <a:off x="200520" y="6481080"/>
            <a:ext cx="7480080" cy="393480"/>
          </a:xfrm>
          <a:prstGeom prst="rect">
            <a:avLst/>
          </a:prstGeom>
          <a:noFill/>
          <a:ln>
            <a:noFill/>
          </a:ln>
        </p:spPr>
        <p:style>
          <a:lnRef idx="0">
            <a:scrgbClr r="0" g="0" b="0"/>
          </a:lnRef>
          <a:fillRef idx="0">
            <a:scrgbClr r="0" g="0" b="0"/>
          </a:fillRef>
          <a:effectRef idx="0">
            <a:scrgbClr r="0" g="0" b="0"/>
          </a:effectRef>
          <a:fontRef idx="minor"/>
        </p:style>
        <p:txBody>
          <a:bodyPr lIns="0" tIns="45000" rIns="90000" bIns="45000"/>
          <a:lstStyle/>
          <a:p>
            <a:pPr>
              <a:lnSpc>
                <a:spcPct val="100000"/>
              </a:lnSpc>
            </a:pPr>
            <a:r>
              <a:rPr lang="en-US" sz="1000" b="1" strike="noStrike" spc="-1">
                <a:solidFill>
                  <a:srgbClr val="00AEEF"/>
                </a:solidFill>
                <a:latin typeface="Tahoma"/>
                <a:ea typeface="Tahoma"/>
              </a:rPr>
              <a:t>CONFIDENTIAL</a:t>
            </a:r>
            <a:r>
              <a:rPr lang="en-US" sz="1000" b="0" strike="noStrike" spc="-1">
                <a:solidFill>
                  <a:srgbClr val="4D4D4F"/>
                </a:solidFill>
                <a:latin typeface="Tahoma"/>
                <a:ea typeface="Tahoma"/>
              </a:rPr>
              <a:t> </a:t>
            </a:r>
            <a:r>
              <a:rPr lang="en-US" sz="1000" b="0" strike="noStrike" spc="-1">
                <a:solidFill>
                  <a:srgbClr val="757070"/>
                </a:solidFill>
                <a:latin typeface="Tahoma"/>
                <a:ea typeface="Tahoma"/>
              </a:rPr>
              <a:t>STALICLA R&amp;D – Do not use, modify or transmit content without prior authorization  </a:t>
            </a:r>
            <a:endParaRPr lang="en-US" sz="1000" b="0" strike="noStrike" spc="-1">
              <a:latin typeface="Arial"/>
            </a:endParaRPr>
          </a:p>
        </p:txBody>
      </p:sp>
      <p:grpSp>
        <p:nvGrpSpPr>
          <p:cNvPr id="45" name="Group 3"/>
          <p:cNvGrpSpPr/>
          <p:nvPr/>
        </p:nvGrpSpPr>
        <p:grpSpPr>
          <a:xfrm>
            <a:off x="-7200" y="158040"/>
            <a:ext cx="9151200" cy="1213560"/>
            <a:chOff x="-7200" y="158040"/>
            <a:chExt cx="9151200" cy="1213560"/>
          </a:xfrm>
        </p:grpSpPr>
        <p:pic>
          <p:nvPicPr>
            <p:cNvPr id="46" name="Picture 29"/>
            <p:cNvPicPr/>
            <p:nvPr/>
          </p:nvPicPr>
          <p:blipFill>
            <a:blip r:embed="rId14"/>
            <a:srcRect t="20824" r="3163" b="28132"/>
            <a:stretch/>
          </p:blipFill>
          <p:spPr>
            <a:xfrm>
              <a:off x="-4320" y="712440"/>
              <a:ext cx="9147240" cy="646920"/>
            </a:xfrm>
            <a:prstGeom prst="rect">
              <a:avLst/>
            </a:prstGeom>
            <a:ln>
              <a:noFill/>
            </a:ln>
          </p:spPr>
        </p:pic>
        <p:sp>
          <p:nvSpPr>
            <p:cNvPr id="47" name="Line 4"/>
            <p:cNvSpPr/>
            <p:nvPr/>
          </p:nvSpPr>
          <p:spPr>
            <a:xfrm>
              <a:off x="-7200" y="704520"/>
              <a:ext cx="9151200" cy="360"/>
            </a:xfrm>
            <a:prstGeom prst="line">
              <a:avLst/>
            </a:prstGeom>
            <a:ln w="34920">
              <a:solidFill>
                <a:srgbClr val="00AAE9"/>
              </a:solidFill>
              <a:round/>
            </a:ln>
          </p:spPr>
          <p:style>
            <a:lnRef idx="1">
              <a:schemeClr val="accent1"/>
            </a:lnRef>
            <a:fillRef idx="0">
              <a:schemeClr val="accent1"/>
            </a:fillRef>
            <a:effectRef idx="0">
              <a:schemeClr val="accent1"/>
            </a:effectRef>
            <a:fontRef idx="minor"/>
          </p:style>
        </p:sp>
        <p:sp>
          <p:nvSpPr>
            <p:cNvPr id="48" name="Line 5"/>
            <p:cNvSpPr/>
            <p:nvPr/>
          </p:nvSpPr>
          <p:spPr>
            <a:xfrm>
              <a:off x="-7200" y="1371240"/>
              <a:ext cx="9151200" cy="360"/>
            </a:xfrm>
            <a:prstGeom prst="line">
              <a:avLst/>
            </a:prstGeom>
            <a:ln w="34920">
              <a:solidFill>
                <a:schemeClr val="accent2"/>
              </a:solidFill>
              <a:round/>
            </a:ln>
          </p:spPr>
          <p:style>
            <a:lnRef idx="1">
              <a:schemeClr val="accent1"/>
            </a:lnRef>
            <a:fillRef idx="0">
              <a:schemeClr val="accent1"/>
            </a:fillRef>
            <a:effectRef idx="0">
              <a:schemeClr val="accent1"/>
            </a:effectRef>
            <a:fontRef idx="minor"/>
          </p:style>
        </p:sp>
        <p:pic>
          <p:nvPicPr>
            <p:cNvPr id="49" name="Picture 32"/>
            <p:cNvPicPr/>
            <p:nvPr/>
          </p:nvPicPr>
          <p:blipFill>
            <a:blip r:embed="rId15"/>
            <a:stretch/>
          </p:blipFill>
          <p:spPr>
            <a:xfrm>
              <a:off x="274680" y="158040"/>
              <a:ext cx="1650600" cy="370080"/>
            </a:xfrm>
            <a:prstGeom prst="rect">
              <a:avLst/>
            </a:prstGeom>
            <a:ln>
              <a:noFill/>
            </a:ln>
          </p:spPr>
        </p:pic>
      </p:grpSp>
      <p:pic>
        <p:nvPicPr>
          <p:cNvPr id="50" name="Picture 49"/>
          <p:cNvPicPr/>
          <p:nvPr/>
        </p:nvPicPr>
        <p:blipFill>
          <a:blip r:embed="rId16"/>
          <a:stretch/>
        </p:blipFill>
        <p:spPr>
          <a:xfrm>
            <a:off x="2047680" y="216360"/>
            <a:ext cx="421200" cy="255240"/>
          </a:xfrm>
          <a:prstGeom prst="rect">
            <a:avLst/>
          </a:prstGeom>
          <a:ln>
            <a:noFill/>
          </a:ln>
        </p:spPr>
      </p:pic>
      <p:sp>
        <p:nvSpPr>
          <p:cNvPr id="51" name="PlaceHolder 6"/>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52"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mgmartinezl/Stalicla-PBP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CustomShape 1"/>
          <p:cNvSpPr/>
          <p:nvPr/>
        </p:nvSpPr>
        <p:spPr>
          <a:xfrm>
            <a:off x="4561840" y="2828160"/>
            <a:ext cx="3459599" cy="650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r">
              <a:lnSpc>
                <a:spcPct val="90000"/>
              </a:lnSpc>
            </a:pPr>
            <a:r>
              <a:rPr lang="en-US" sz="3200" b="1" strike="noStrike" spc="-1" dirty="0">
                <a:solidFill>
                  <a:srgbClr val="FFFFFF"/>
                </a:solidFill>
                <a:latin typeface="Abadi Extra Light" panose="020B0604020202020204" pitchFamily="34" charset="0"/>
                <a:ea typeface="Tahoma"/>
              </a:rPr>
              <a:t>Overview of the PBPM protocol</a:t>
            </a: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endParaRPr lang="en-US" sz="3200" b="1" spc="-1" dirty="0">
              <a:solidFill>
                <a:srgbClr val="FFFFFF"/>
              </a:solidFill>
              <a:latin typeface="Abadi Extra Light" panose="020B0604020202020204" pitchFamily="34" charset="0"/>
              <a:ea typeface="Tahoma"/>
            </a:endParaRPr>
          </a:p>
          <a:p>
            <a:pPr algn="r">
              <a:lnSpc>
                <a:spcPct val="90000"/>
              </a:lnSpc>
            </a:pPr>
            <a:r>
              <a:rPr lang="en-US" sz="2400" b="1" spc="-1" dirty="0">
                <a:solidFill>
                  <a:srgbClr val="FFFFFF"/>
                </a:solidFill>
                <a:latin typeface="Abadi Extra Light" panose="020B0604020202020204" pitchFamily="34" charset="0"/>
                <a:ea typeface="Tahoma"/>
              </a:rPr>
              <a:t>Gabriela Martínez</a:t>
            </a:r>
          </a:p>
          <a:p>
            <a:pPr algn="r">
              <a:lnSpc>
                <a:spcPct val="90000"/>
              </a:lnSpc>
            </a:pPr>
            <a:r>
              <a:rPr lang="en-US" sz="2400" spc="-1" dirty="0">
                <a:solidFill>
                  <a:srgbClr val="FFFFFF"/>
                </a:solidFill>
                <a:latin typeface="Abadi Extra Light" panose="020B0604020202020204" pitchFamily="34" charset="0"/>
                <a:ea typeface="Tahoma"/>
              </a:rPr>
              <a:t>September 2019</a:t>
            </a:r>
            <a:br>
              <a:rPr dirty="0">
                <a:latin typeface="Abadi Extra Light" panose="020B0604020202020204" pitchFamily="34" charset="0"/>
              </a:rPr>
            </a:br>
            <a:endParaRPr lang="en-US" sz="3200" b="0" strike="noStrike" spc="-1" dirty="0">
              <a:latin typeface="Abadi Extra Light" panose="020B0604020202020204" pitchFamily="34" charset="0"/>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The PBPM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9" name="CustomShape 2">
            <a:extLst>
              <a:ext uri="{FF2B5EF4-FFF2-40B4-BE49-F238E27FC236}">
                <a16:creationId xmlns:a16="http://schemas.microsoft.com/office/drawing/2014/main" id="{E02F744F-5BBC-48CD-BB68-2132C42DA5E2}"/>
              </a:ext>
            </a:extLst>
          </p:cNvPr>
          <p:cNvSpPr/>
          <p:nvPr/>
        </p:nvSpPr>
        <p:spPr>
          <a:xfrm>
            <a:off x="250920" y="2024009"/>
            <a:ext cx="8476520" cy="36859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A command line inter</a:t>
            </a:r>
            <a:r>
              <a:rPr lang="en-US" sz="2000" spc="-1" dirty="0">
                <a:solidFill>
                  <a:schemeClr val="tx2"/>
                </a:solidFill>
                <a:latin typeface="Abadi Extra Light" panose="020B0604020202020204" pitchFamily="34" charset="0"/>
                <a:ea typeface="Tahoma"/>
                <a:cs typeface="Calibri Light" panose="020F0302020204030204" pitchFamily="34" charset="0"/>
              </a:rPr>
              <a:t>face program built in Python 3 to generate Patient by Disrupted Pathways Matrices (PBPMs). It generates three types of matrices: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Binary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binary (1 or 0) indicators for each column when a mutation was found for any gene in that pathway for a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b="1" spc="-1" dirty="0">
                <a:solidFill>
                  <a:schemeClr val="tx2"/>
                </a:solidFill>
                <a:latin typeface="Abadi Extra Light" panose="020B0604020202020204" pitchFamily="34" charset="0"/>
                <a:ea typeface="Tahoma"/>
                <a:cs typeface="Calibri Light" panose="020F0302020204030204" pitchFamily="34" charset="0"/>
              </a:rPr>
              <a:t>Normalized numerical PBPM: </a:t>
            </a:r>
            <a:r>
              <a:rPr lang="en-US" sz="2000" spc="-1" dirty="0">
                <a:solidFill>
                  <a:schemeClr val="tx2"/>
                </a:solidFill>
                <a:latin typeface="Abadi Extra Light" panose="020B0604020202020204" pitchFamily="34" charset="0"/>
                <a:ea typeface="Tahoma"/>
                <a:cs typeface="Calibri Light" panose="020F0302020204030204" pitchFamily="34" charset="0"/>
              </a:rPr>
              <a:t>unique patient identifiers as rows and pathways as columns. Values are the number of mutations found for each pathway and patient, normalized considering the number of genes of each pathway.</a:t>
            </a:r>
          </a:p>
        </p:txBody>
      </p:sp>
    </p:spTree>
    <p:extLst>
      <p:ext uri="{BB962C8B-B14F-4D97-AF65-F5344CB8AC3E}">
        <p14:creationId xmlns:p14="http://schemas.microsoft.com/office/powerpoint/2010/main" val="780479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to execute this protocol?</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1930929"/>
            <a:ext cx="2624360" cy="335063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This module is written in Python 3 and uses up-to-date libraries for this version as well. </a:t>
            </a:r>
          </a:p>
          <a:p>
            <a:pPr algn="r">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run the main module in a Linux environment, simply open a new terminal and call the script together with the arguments it accepts: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pic>
        <p:nvPicPr>
          <p:cNvPr id="3" name="Picture 2">
            <a:extLst>
              <a:ext uri="{FF2B5EF4-FFF2-40B4-BE49-F238E27FC236}">
                <a16:creationId xmlns:a16="http://schemas.microsoft.com/office/drawing/2014/main" id="{09398169-602B-49AF-A55E-7953C39E3A73}"/>
              </a:ext>
            </a:extLst>
          </p:cNvPr>
          <p:cNvPicPr>
            <a:picLocks noChangeAspect="1"/>
          </p:cNvPicPr>
          <p:nvPr/>
        </p:nvPicPr>
        <p:blipFill>
          <a:blip r:embed="rId2"/>
          <a:stretch>
            <a:fillRect/>
          </a:stretch>
        </p:blipFill>
        <p:spPr>
          <a:xfrm>
            <a:off x="2991485" y="2145929"/>
            <a:ext cx="5959475" cy="4051368"/>
          </a:xfrm>
          <a:prstGeom prst="rect">
            <a:avLst/>
          </a:prstGeom>
        </p:spPr>
      </p:pic>
    </p:spTree>
    <p:extLst>
      <p:ext uri="{BB962C8B-B14F-4D97-AF65-F5344CB8AC3E}">
        <p14:creationId xmlns:p14="http://schemas.microsoft.com/office/powerpoint/2010/main" val="311099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8FEF70-E7FD-4B4E-994A-B37726FD216B}"/>
              </a:ext>
            </a:extLst>
          </p:cNvPr>
          <p:cNvSpPr/>
          <p:nvPr/>
        </p:nvSpPr>
        <p:spPr>
          <a:xfrm>
            <a:off x="762000" y="3657600"/>
            <a:ext cx="2895600" cy="1026160"/>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Brace 2">
            <a:extLst>
              <a:ext uri="{FF2B5EF4-FFF2-40B4-BE49-F238E27FC236}">
                <a16:creationId xmlns:a16="http://schemas.microsoft.com/office/drawing/2014/main" id="{C37089EA-4BD2-45FA-AAFD-D188603CB342}"/>
              </a:ext>
            </a:extLst>
          </p:cNvPr>
          <p:cNvSpPr/>
          <p:nvPr/>
        </p:nvSpPr>
        <p:spPr>
          <a:xfrm>
            <a:off x="3718560" y="3657600"/>
            <a:ext cx="355600" cy="1026160"/>
          </a:xfrm>
          <a:prstGeom prst="rightBrace">
            <a:avLst>
              <a:gd name="adj1" fmla="val 6585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protocol arguments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7" name="CustomShape 2">
            <a:extLst>
              <a:ext uri="{FF2B5EF4-FFF2-40B4-BE49-F238E27FC236}">
                <a16:creationId xmlns:a16="http://schemas.microsoft.com/office/drawing/2014/main" id="{FD41FB29-01BB-4BE2-A880-062C8C985758}"/>
              </a:ext>
            </a:extLst>
          </p:cNvPr>
          <p:cNvSpPr/>
          <p:nvPr/>
        </p:nvSpPr>
        <p:spPr>
          <a:xfrm>
            <a:off x="4135120" y="3798755"/>
            <a:ext cx="31333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The protocol accepts a explicit subset of them and also external files</a:t>
            </a:r>
          </a:p>
        </p:txBody>
      </p:sp>
      <p:sp>
        <p:nvSpPr>
          <p:cNvPr id="5" name="Rectangle 4">
            <a:extLst>
              <a:ext uri="{FF2B5EF4-FFF2-40B4-BE49-F238E27FC236}">
                <a16:creationId xmlns:a16="http://schemas.microsoft.com/office/drawing/2014/main" id="{6C970AE1-7AB1-4B87-A8C5-80B353FE4FD7}"/>
              </a:ext>
            </a:extLst>
          </p:cNvPr>
          <p:cNvSpPr/>
          <p:nvPr/>
        </p:nvSpPr>
        <p:spPr>
          <a:xfrm>
            <a:off x="4712700" y="6041991"/>
            <a:ext cx="4572000" cy="276999"/>
          </a:xfrm>
          <a:prstGeom prst="rect">
            <a:avLst/>
          </a:prstGeom>
        </p:spPr>
        <p:txBody>
          <a:bodyPr>
            <a:spAutoFit/>
          </a:bodyPr>
          <a:lstStyle/>
          <a:p>
            <a:r>
              <a:rPr lang="en-US" sz="1200" b="1" dirty="0">
                <a:solidFill>
                  <a:srgbClr val="24292E"/>
                </a:solidFill>
                <a:latin typeface="Abadi Extra Light" panose="020B0204020104020204" pitchFamily="34" charset="0"/>
              </a:rPr>
              <a:t>Note:</a:t>
            </a:r>
            <a:r>
              <a:rPr lang="en-US" sz="1200" dirty="0">
                <a:solidFill>
                  <a:srgbClr val="24292E"/>
                </a:solidFill>
                <a:latin typeface="Abadi Extra Light" panose="020B0204020104020204" pitchFamily="34" charset="0"/>
              </a:rPr>
              <a:t> help() is available for all the parameters via the command line.</a:t>
            </a:r>
            <a:endParaRPr lang="en-US" sz="1200" dirty="0">
              <a:latin typeface="Abadi Extra Light" panose="020B0204020104020204" pitchFamily="34" charset="0"/>
            </a:endParaRPr>
          </a:p>
        </p:txBody>
      </p:sp>
      <p:graphicFrame>
        <p:nvGraphicFramePr>
          <p:cNvPr id="2" name="Diagram 1">
            <a:extLst>
              <a:ext uri="{FF2B5EF4-FFF2-40B4-BE49-F238E27FC236}">
                <a16:creationId xmlns:a16="http://schemas.microsoft.com/office/drawing/2014/main" id="{A2B350E0-EB28-4401-9D2E-617711966083}"/>
              </a:ext>
            </a:extLst>
          </p:cNvPr>
          <p:cNvGraphicFramePr/>
          <p:nvPr>
            <p:extLst>
              <p:ext uri="{D42A27DB-BD31-4B8C-83A1-F6EECF244321}">
                <p14:modId xmlns:p14="http://schemas.microsoft.com/office/powerpoint/2010/main" val="724551508"/>
              </p:ext>
            </p:extLst>
          </p:nvPr>
        </p:nvGraphicFramePr>
        <p:xfrm>
          <a:off x="523240" y="2084440"/>
          <a:ext cx="8097520" cy="4174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550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input file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6683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trike="noStrike" spc="-1" dirty="0">
                <a:solidFill>
                  <a:schemeClr val="tx2"/>
                </a:solidFill>
                <a:latin typeface="Abadi Extra Light" panose="020B0604020202020204" pitchFamily="34" charset="0"/>
                <a:ea typeface="Tahoma"/>
                <a:cs typeface="Calibri Light" panose="020F0302020204030204" pitchFamily="34" charset="0"/>
              </a:rPr>
              <a:t>The input file containing patients and mutations has the following columns*. Moreover, o</a:t>
            </a:r>
            <a:r>
              <a:rPr lang="en-US" sz="2000" spc="-1" dirty="0">
                <a:solidFill>
                  <a:schemeClr val="tx2"/>
                </a:solidFill>
                <a:latin typeface="Abadi Extra Light" panose="020B0604020202020204" pitchFamily="34" charset="0"/>
                <a:ea typeface="Tahoma"/>
                <a:cs typeface="Calibri Light" panose="020F0302020204030204" pitchFamily="34" charset="0"/>
              </a:rPr>
              <a:t>nly observations with a valid </a:t>
            </a:r>
            <a:r>
              <a:rPr lang="en-US" sz="2000" b="1" spc="-1" dirty="0" err="1">
                <a:solidFill>
                  <a:schemeClr val="tx2"/>
                </a:solidFill>
                <a:latin typeface="Abadi Extra Light" panose="020B0604020202020204" pitchFamily="34" charset="0"/>
                <a:ea typeface="Tahoma"/>
                <a:cs typeface="Calibri Light" panose="020F0302020204030204" pitchFamily="34" charset="0"/>
              </a:rPr>
              <a:t>HGNC_symbol</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will be considered.</a:t>
            </a:r>
          </a:p>
        </p:txBody>
      </p:sp>
      <p:graphicFrame>
        <p:nvGraphicFramePr>
          <p:cNvPr id="5" name="Table 4">
            <a:extLst>
              <a:ext uri="{FF2B5EF4-FFF2-40B4-BE49-F238E27FC236}">
                <a16:creationId xmlns:a16="http://schemas.microsoft.com/office/drawing/2014/main" id="{F2400F9B-05E2-4D91-996C-C20E3D9D5109}"/>
              </a:ext>
            </a:extLst>
          </p:cNvPr>
          <p:cNvGraphicFramePr>
            <a:graphicFrameLocks noGrp="1"/>
          </p:cNvGraphicFramePr>
          <p:nvPr>
            <p:extLst>
              <p:ext uri="{D42A27DB-BD31-4B8C-83A1-F6EECF244321}">
                <p14:modId xmlns:p14="http://schemas.microsoft.com/office/powerpoint/2010/main" val="1911367147"/>
              </p:ext>
            </p:extLst>
          </p:nvPr>
        </p:nvGraphicFramePr>
        <p:xfrm>
          <a:off x="333741" y="2878507"/>
          <a:ext cx="8393699" cy="2849880"/>
        </p:xfrm>
        <a:graphic>
          <a:graphicData uri="http://schemas.openxmlformats.org/drawingml/2006/table">
            <a:tbl>
              <a:tblPr firstRow="1" bandRow="1">
                <a:tableStyleId>{69012ECD-51FC-41F1-AA8D-1B2483CD663E}</a:tableStyleId>
              </a:tblPr>
              <a:tblGrid>
                <a:gridCol w="637647">
                  <a:extLst>
                    <a:ext uri="{9D8B030D-6E8A-4147-A177-3AD203B41FA5}">
                      <a16:colId xmlns:a16="http://schemas.microsoft.com/office/drawing/2014/main" val="566549421"/>
                    </a:ext>
                  </a:extLst>
                </a:gridCol>
                <a:gridCol w="783555">
                  <a:extLst>
                    <a:ext uri="{9D8B030D-6E8A-4147-A177-3AD203B41FA5}">
                      <a16:colId xmlns:a16="http://schemas.microsoft.com/office/drawing/2014/main" val="4270458755"/>
                    </a:ext>
                  </a:extLst>
                </a:gridCol>
                <a:gridCol w="374743">
                  <a:extLst>
                    <a:ext uri="{9D8B030D-6E8A-4147-A177-3AD203B41FA5}">
                      <a16:colId xmlns:a16="http://schemas.microsoft.com/office/drawing/2014/main" val="4148601070"/>
                    </a:ext>
                  </a:extLst>
                </a:gridCol>
                <a:gridCol w="987959">
                  <a:extLst>
                    <a:ext uri="{9D8B030D-6E8A-4147-A177-3AD203B41FA5}">
                      <a16:colId xmlns:a16="http://schemas.microsoft.com/office/drawing/2014/main" val="3977579580"/>
                    </a:ext>
                  </a:extLst>
                </a:gridCol>
                <a:gridCol w="1283212">
                  <a:extLst>
                    <a:ext uri="{9D8B030D-6E8A-4147-A177-3AD203B41FA5}">
                      <a16:colId xmlns:a16="http://schemas.microsoft.com/office/drawing/2014/main" val="460646814"/>
                    </a:ext>
                  </a:extLst>
                </a:gridCol>
                <a:gridCol w="1283212">
                  <a:extLst>
                    <a:ext uri="{9D8B030D-6E8A-4147-A177-3AD203B41FA5}">
                      <a16:colId xmlns:a16="http://schemas.microsoft.com/office/drawing/2014/main" val="2338258831"/>
                    </a:ext>
                  </a:extLst>
                </a:gridCol>
                <a:gridCol w="1374059">
                  <a:extLst>
                    <a:ext uri="{9D8B030D-6E8A-4147-A177-3AD203B41FA5}">
                      <a16:colId xmlns:a16="http://schemas.microsoft.com/office/drawing/2014/main" val="2298311088"/>
                    </a:ext>
                  </a:extLst>
                </a:gridCol>
                <a:gridCol w="352032">
                  <a:extLst>
                    <a:ext uri="{9D8B030D-6E8A-4147-A177-3AD203B41FA5}">
                      <a16:colId xmlns:a16="http://schemas.microsoft.com/office/drawing/2014/main" val="1457784495"/>
                    </a:ext>
                  </a:extLst>
                </a:gridCol>
                <a:gridCol w="658640">
                  <a:extLst>
                    <a:ext uri="{9D8B030D-6E8A-4147-A177-3AD203B41FA5}">
                      <a16:colId xmlns:a16="http://schemas.microsoft.com/office/drawing/2014/main" val="3670079129"/>
                    </a:ext>
                  </a:extLst>
                </a:gridCol>
                <a:gridCol w="658640">
                  <a:extLst>
                    <a:ext uri="{9D8B030D-6E8A-4147-A177-3AD203B41FA5}">
                      <a16:colId xmlns:a16="http://schemas.microsoft.com/office/drawing/2014/main" val="2039950121"/>
                    </a:ext>
                  </a:extLst>
                </a:gridCol>
              </a:tblGrid>
              <a:tr h="523240">
                <a:tc>
                  <a:txBody>
                    <a:bodyPr/>
                    <a:lstStyle/>
                    <a:p>
                      <a:pPr algn="ctr"/>
                      <a:r>
                        <a:rPr lang="en-US" sz="1200" dirty="0" err="1">
                          <a:latin typeface="Abadi Extra Light" panose="020B0204020104020204" pitchFamily="34" charset="0"/>
                        </a:rPr>
                        <a:t>Chr</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Position</a:t>
                      </a:r>
                    </a:p>
                  </a:txBody>
                  <a:tcPr anchor="ctr"/>
                </a:tc>
                <a:tc>
                  <a:txBody>
                    <a:bodyPr/>
                    <a:lstStyle/>
                    <a:p>
                      <a:pPr algn="ctr"/>
                      <a:r>
                        <a:rPr lang="en-US" sz="1200" dirty="0">
                          <a:latin typeface="Abadi Extra Light" panose="020B0204020104020204" pitchFamily="34" charset="0"/>
                        </a:rPr>
                        <a:t>…</a:t>
                      </a:r>
                    </a:p>
                  </a:txBody>
                  <a:tcPr anchor="ctr"/>
                </a:tc>
                <a:tc>
                  <a:txBody>
                    <a:bodyPr/>
                    <a:lstStyle/>
                    <a:p>
                      <a:pPr algn="ctr"/>
                      <a:r>
                        <a:rPr lang="en-US" sz="1200" dirty="0" err="1">
                          <a:latin typeface="Abadi Extra Light" panose="020B0204020104020204" pitchFamily="34" charset="0"/>
                        </a:rPr>
                        <a:t>child_id</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consequence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err="1">
                          <a:latin typeface="Abadi Extra Light" panose="020B0204020104020204" pitchFamily="34" charset="0"/>
                        </a:rPr>
                        <a:t>constraint_score</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pLI</a:t>
                      </a:r>
                      <a:endParaRPr lang="en-US" sz="1200" dirty="0">
                        <a:latin typeface="Abadi Extra Light" panose="020B02040201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badi Extra Light" panose="020B0204020104020204" pitchFamily="34" charset="0"/>
                        </a:rPr>
                        <a:t>MPC</a:t>
                      </a:r>
                    </a:p>
                  </a:txBody>
                  <a:tcPr anchor="ctr"/>
                </a:tc>
                <a:extLst>
                  <a:ext uri="{0D108BD9-81ED-4DB2-BD59-A6C34878D82A}">
                    <a16:rowId xmlns:a16="http://schemas.microsoft.com/office/drawing/2014/main" val="1039042550"/>
                  </a:ext>
                </a:extLst>
              </a:tr>
              <a:tr h="467360">
                <a:tc>
                  <a:txBody>
                    <a:bodyPr/>
                    <a:lstStyle/>
                    <a:p>
                      <a:pPr algn="ctr"/>
                      <a:r>
                        <a:rPr lang="en-US" sz="1200" dirty="0">
                          <a:latin typeface="Abadi Extra Light" panose="020B0204020104020204" pitchFamily="34" charset="0"/>
                        </a:rPr>
                        <a:t>11</a:t>
                      </a:r>
                    </a:p>
                  </a:txBody>
                  <a:tcPr anchor="ctr"/>
                </a:tc>
                <a:tc>
                  <a:txBody>
                    <a:bodyPr/>
                    <a:lstStyle/>
                    <a:p>
                      <a:pPr algn="ctr"/>
                      <a:r>
                        <a:rPr lang="en-US" sz="1200" dirty="0">
                          <a:latin typeface="Abadi Extra Light" panose="020B0204020104020204" pitchFamily="34" charset="0"/>
                        </a:rPr>
                        <a:t>881802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Patient_10</a:t>
                      </a:r>
                    </a:p>
                  </a:txBody>
                  <a:tcPr anchor="ctr"/>
                </a:tc>
                <a:tc>
                  <a:txBody>
                    <a:bodyPr/>
                    <a:lstStyle/>
                    <a:p>
                      <a:pPr algn="ct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V595I</a:t>
                      </a:r>
                    </a:p>
                  </a:txBody>
                  <a:tcPr anchor="ctr"/>
                </a:tc>
                <a:tc>
                  <a:txBody>
                    <a:bodyPr/>
                    <a:lstStyle/>
                    <a:p>
                      <a:pPr algn="ctr"/>
                      <a:r>
                        <a:rPr lang="en-US" sz="1200" dirty="0">
                          <a:latin typeface="Abadi Extra Light" panose="020B0204020104020204" pitchFamily="34" charset="0"/>
                        </a:rPr>
                        <a:t>0.018</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0.14</a:t>
                      </a:r>
                    </a:p>
                  </a:txBody>
                  <a:tcPr anchor="ctr"/>
                </a:tc>
                <a:tc>
                  <a:txBody>
                    <a:bodyPr/>
                    <a:lstStyle/>
                    <a:p>
                      <a:pPr algn="ctr"/>
                      <a:r>
                        <a:rPr lang="en-US" sz="1200" dirty="0">
                          <a:latin typeface="Abadi Extra Light" panose="020B0204020104020204" pitchFamily="34" charset="0"/>
                        </a:rPr>
                        <a:t>1.7</a:t>
                      </a:r>
                    </a:p>
                  </a:txBody>
                  <a:tcPr anchor="ctr"/>
                </a:tc>
                <a:extLst>
                  <a:ext uri="{0D108BD9-81ED-4DB2-BD59-A6C34878D82A}">
                    <a16:rowId xmlns:a16="http://schemas.microsoft.com/office/drawing/2014/main" val="3447875338"/>
                  </a:ext>
                </a:extLst>
              </a:tr>
              <a:tr h="467360">
                <a:tc>
                  <a:txBody>
                    <a:bodyPr/>
                    <a:lstStyle/>
                    <a:p>
                      <a:pPr algn="ctr"/>
                      <a:r>
                        <a:rPr lang="en-US" sz="1200" dirty="0">
                          <a:latin typeface="Abadi Extra Light" panose="020B0204020104020204" pitchFamily="34" charset="0"/>
                        </a:rPr>
                        <a:t>12</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686702</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Patient_19</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Near_3splice</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0.651</a:t>
                      </a:r>
                    </a:p>
                  </a:txBody>
                  <a:tcPr anchor="ctr">
                    <a:solidFill>
                      <a:schemeClr val="accent6">
                        <a:lumMod val="40000"/>
                        <a:lumOff val="60000"/>
                      </a:schemeClr>
                    </a:solidFill>
                  </a:tcPr>
                </a:tc>
                <a:tc>
                  <a:txBody>
                    <a:bodyPr/>
                    <a:lstStyle/>
                    <a:p>
                      <a:pPr algn="ctr"/>
                      <a:endParaRPr lang="en-US" sz="120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2986409613"/>
                  </a:ext>
                </a:extLst>
              </a:tr>
              <a:tr h="477520">
                <a:tc>
                  <a:txBody>
                    <a:bodyPr/>
                    <a:lstStyle/>
                    <a:p>
                      <a:pPr algn="ctr"/>
                      <a:r>
                        <a:rPr lang="en-US" sz="1200" dirty="0">
                          <a:latin typeface="Abadi Extra Light" panose="020B0204020104020204" pitchFamily="34" charset="0"/>
                        </a:rPr>
                        <a:t>3</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981711</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Patient_21</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Intron</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0.006</a:t>
                      </a:r>
                    </a:p>
                  </a:txBody>
                  <a:tcPr anchor="ctr">
                    <a:solidFill>
                      <a:schemeClr val="accent6">
                        <a:lumMod val="40000"/>
                        <a:lumOff val="60000"/>
                      </a:schemeClr>
                    </a:solidFill>
                  </a:tcPr>
                </a:tc>
                <a:tc>
                  <a:txBody>
                    <a:bodyPr/>
                    <a:lstStyle/>
                    <a:p>
                      <a:pPr algn="ctr"/>
                      <a:endParaRPr lang="en-US" sz="1200" dirty="0">
                        <a:latin typeface="Abadi Extra Light" panose="020B0204020104020204" pitchFamily="34" charset="0"/>
                      </a:endParaRP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0.35</a:t>
                      </a:r>
                    </a:p>
                  </a:txBody>
                  <a:tcPr anchor="ctr">
                    <a:solidFill>
                      <a:schemeClr val="accent6">
                        <a:lumMod val="40000"/>
                        <a:lumOff val="60000"/>
                      </a:schemeClr>
                    </a:solidFill>
                  </a:tcPr>
                </a:tc>
                <a:tc>
                  <a:txBody>
                    <a:bodyPr/>
                    <a:lstStyle/>
                    <a:p>
                      <a:pPr algn="ctr"/>
                      <a:r>
                        <a:rPr lang="en-US" sz="1200" dirty="0">
                          <a:latin typeface="Abadi Extra Light" panose="020B0204020104020204" pitchFamily="34" charset="0"/>
                        </a:rPr>
                        <a:t>NA</a:t>
                      </a:r>
                    </a:p>
                  </a:txBody>
                  <a:tcPr anchor="ctr">
                    <a:solidFill>
                      <a:schemeClr val="accent6">
                        <a:lumMod val="40000"/>
                        <a:lumOff val="60000"/>
                      </a:schemeClr>
                    </a:solidFill>
                  </a:tcPr>
                </a:tc>
                <a:extLst>
                  <a:ext uri="{0D108BD9-81ED-4DB2-BD59-A6C34878D82A}">
                    <a16:rowId xmlns:a16="http://schemas.microsoft.com/office/drawing/2014/main" val="1146648037"/>
                  </a:ext>
                </a:extLst>
              </a:tr>
              <a:tr h="487680">
                <a:tc>
                  <a:txBody>
                    <a:bodyPr/>
                    <a:lstStyle/>
                    <a:p>
                      <a:pPr algn="ctr"/>
                      <a:r>
                        <a:rPr lang="en-US" sz="1200" dirty="0">
                          <a:latin typeface="Abadi Extra Light" panose="020B0204020104020204" pitchFamily="34" charset="0"/>
                        </a:rPr>
                        <a:t>15</a:t>
                      </a:r>
                    </a:p>
                  </a:txBody>
                  <a:tcPr anchor="ctr"/>
                </a:tc>
                <a:tc>
                  <a:txBody>
                    <a:bodyPr/>
                    <a:lstStyle/>
                    <a:p>
                      <a:pPr algn="ctr"/>
                      <a:r>
                        <a:rPr lang="en-US" sz="1200" dirty="0">
                          <a:latin typeface="Abadi Extra Light" panose="020B0204020104020204" pitchFamily="34" charset="0"/>
                        </a:rPr>
                        <a:t>1121834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Patient_31</a:t>
                      </a:r>
                    </a:p>
                  </a:txBody>
                  <a:tcPr anchor="ctr"/>
                </a:tc>
                <a:tc>
                  <a:txBody>
                    <a:bodyPr/>
                    <a:lstStyle/>
                    <a:p>
                      <a:pPr algn="ctr"/>
                      <a:r>
                        <a:rPr lang="en-US" sz="1200" dirty="0">
                          <a:latin typeface="Abadi Extra Light" panose="020B0204020104020204" pitchFamily="34" charset="0"/>
                        </a:rPr>
                        <a:t>Silent</a:t>
                      </a:r>
                    </a:p>
                  </a:txBody>
                  <a:tcPr anchor="ctr"/>
                </a:tc>
                <a:tc>
                  <a:txBody>
                    <a:bodyPr/>
                    <a:lstStyle/>
                    <a:p>
                      <a:pPr algn="ctr"/>
                      <a:r>
                        <a:rPr lang="en-US" sz="1200" dirty="0">
                          <a:latin typeface="Abadi Extra Light" panose="020B0204020104020204" pitchFamily="34" charset="0"/>
                        </a:rPr>
                        <a:t>R589R</a:t>
                      </a:r>
                    </a:p>
                  </a:txBody>
                  <a:tcPr anchor="ctr"/>
                </a:tc>
                <a:tc>
                  <a:txBody>
                    <a:bodyPr/>
                    <a:lstStyle/>
                    <a:p>
                      <a:pPr algn="ctr"/>
                      <a:r>
                        <a:rPr lang="en-US" sz="1200" dirty="0">
                          <a:latin typeface="Abadi Extra Light" panose="020B0204020104020204" pitchFamily="34" charset="0"/>
                        </a:rPr>
                        <a:t>0.124</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0.05</a:t>
                      </a:r>
                    </a:p>
                  </a:txBody>
                  <a:tcPr anchor="ctr"/>
                </a:tc>
                <a:tc>
                  <a:txBody>
                    <a:bodyPr/>
                    <a:lstStyle/>
                    <a:p>
                      <a:pPr algn="ctr"/>
                      <a:r>
                        <a:rPr lang="en-US" sz="1200" dirty="0">
                          <a:latin typeface="Abadi Extra Light" panose="020B0204020104020204" pitchFamily="34" charset="0"/>
                        </a:rPr>
                        <a:t>NA</a:t>
                      </a:r>
                    </a:p>
                  </a:txBody>
                  <a:tcPr anchor="ctr"/>
                </a:tc>
                <a:extLst>
                  <a:ext uri="{0D108BD9-81ED-4DB2-BD59-A6C34878D82A}">
                    <a16:rowId xmlns:a16="http://schemas.microsoft.com/office/drawing/2014/main" val="3169565482"/>
                  </a:ext>
                </a:extLst>
              </a:tr>
              <a:tr h="426720">
                <a:tc>
                  <a:txBody>
                    <a:bodyPr/>
                    <a:lstStyle/>
                    <a:p>
                      <a:pPr algn="ctr"/>
                      <a:r>
                        <a:rPr lang="en-US" sz="1200" dirty="0">
                          <a:latin typeface="Abadi Extra Light" panose="020B0204020104020204" pitchFamily="34" charset="0"/>
                        </a:rPr>
                        <a:t>20</a:t>
                      </a:r>
                    </a:p>
                  </a:txBody>
                  <a:tcPr anchor="ctr"/>
                </a:tc>
                <a:tc>
                  <a:txBody>
                    <a:bodyPr/>
                    <a:lstStyle/>
                    <a:p>
                      <a:pPr algn="ctr"/>
                      <a:r>
                        <a:rPr lang="en-US" sz="1200" dirty="0">
                          <a:latin typeface="Abadi Extra Light" panose="020B0204020104020204" pitchFamily="34" charset="0"/>
                        </a:rPr>
                        <a:t>541255</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Patient_98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missense_variant</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L239P</a:t>
                      </a:r>
                    </a:p>
                  </a:txBody>
                  <a:tcPr anchor="ctr"/>
                </a:tc>
                <a:tc>
                  <a:txBody>
                    <a:bodyPr/>
                    <a:lstStyle/>
                    <a:p>
                      <a:pPr algn="ctr"/>
                      <a:r>
                        <a:rPr lang="en-US" sz="1200" dirty="0">
                          <a:latin typeface="Abadi Extra Light" panose="020B0204020104020204" pitchFamily="34" charset="0"/>
                        </a:rPr>
                        <a:t>0.032</a:t>
                      </a:r>
                    </a:p>
                  </a:txBody>
                  <a:tcPr anchor="ctr"/>
                </a:tc>
                <a:tc>
                  <a:txBody>
                    <a:bodyPr/>
                    <a:lstStyle/>
                    <a:p>
                      <a:pPr algn="ct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0.12</a:t>
                      </a:r>
                    </a:p>
                  </a:txBody>
                  <a:tcPr anchor="ctr"/>
                </a:tc>
                <a:tc>
                  <a:txBody>
                    <a:bodyPr/>
                    <a:lstStyle/>
                    <a:p>
                      <a:pPr algn="ctr"/>
                      <a:r>
                        <a:rPr lang="en-US" sz="1200" dirty="0">
                          <a:latin typeface="Abadi Extra Light" panose="020B0204020104020204" pitchFamily="34" charset="0"/>
                        </a:rPr>
                        <a:t>3.5</a:t>
                      </a:r>
                    </a:p>
                  </a:txBody>
                  <a:tcPr anchor="ctr"/>
                </a:tc>
                <a:extLst>
                  <a:ext uri="{0D108BD9-81ED-4DB2-BD59-A6C34878D82A}">
                    <a16:rowId xmlns:a16="http://schemas.microsoft.com/office/drawing/2014/main" val="3400704830"/>
                  </a:ext>
                </a:extLst>
              </a:tr>
            </a:tbl>
          </a:graphicData>
        </a:graphic>
      </p:graphicFrame>
      <p:sp>
        <p:nvSpPr>
          <p:cNvPr id="6" name="CustomShape 2">
            <a:extLst>
              <a:ext uri="{FF2B5EF4-FFF2-40B4-BE49-F238E27FC236}">
                <a16:creationId xmlns:a16="http://schemas.microsoft.com/office/drawing/2014/main" id="{FEF86476-B539-4D76-A7B1-278DAAD7170F}"/>
              </a:ext>
            </a:extLst>
          </p:cNvPr>
          <p:cNvSpPr/>
          <p:nvPr/>
        </p:nvSpPr>
        <p:spPr>
          <a:xfrm>
            <a:off x="129000" y="597990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200" spc="-1" dirty="0">
                <a:solidFill>
                  <a:schemeClr val="tx2"/>
                </a:solidFill>
                <a:latin typeface="Abadi Extra Light" panose="020B0604020202020204" pitchFamily="34" charset="0"/>
                <a:ea typeface="Tahoma"/>
                <a:cs typeface="Calibri Light" panose="020F0302020204030204" pitchFamily="34" charset="0"/>
              </a:rPr>
              <a:t>*and many more. This is not exhaustive.</a:t>
            </a:r>
          </a:p>
        </p:txBody>
      </p:sp>
    </p:spTree>
    <p:extLst>
      <p:ext uri="{BB962C8B-B14F-4D97-AF65-F5344CB8AC3E}">
        <p14:creationId xmlns:p14="http://schemas.microsoft.com/office/powerpoint/2010/main" val="253854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mandatory parameters: pathways folder</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sample folder to build the PBPM protocol contained 80 pathways, for which the files ended with </a:t>
            </a:r>
            <a:r>
              <a:rPr lang="en-US" sz="2000" b="1" spc="-1" dirty="0">
                <a:solidFill>
                  <a:schemeClr val="tx2"/>
                </a:solidFill>
                <a:latin typeface="Abadi Extra Light" panose="020B0604020202020204" pitchFamily="34" charset="0"/>
                <a:ea typeface="Tahoma"/>
                <a:cs typeface="Calibri Light" panose="020F0302020204030204" pitchFamily="34" charset="0"/>
              </a:rPr>
              <a:t>“_</a:t>
            </a:r>
            <a:r>
              <a:rPr lang="en-US" sz="2000" b="1" spc="-1" dirty="0" err="1">
                <a:solidFill>
                  <a:schemeClr val="tx2"/>
                </a:solidFill>
                <a:latin typeface="Abadi Extra Light" panose="020B0604020202020204" pitchFamily="34" charset="0"/>
                <a:ea typeface="Tahoma"/>
                <a:cs typeface="Calibri Light" panose="020F0302020204030204" pitchFamily="34" charset="0"/>
              </a:rPr>
              <a:t>gene_annotations</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were considered </a:t>
            </a:r>
          </a:p>
        </p:txBody>
      </p:sp>
      <p:sp>
        <p:nvSpPr>
          <p:cNvPr id="6" name="CustomShape 2">
            <a:extLst>
              <a:ext uri="{FF2B5EF4-FFF2-40B4-BE49-F238E27FC236}">
                <a16:creationId xmlns:a16="http://schemas.microsoft.com/office/drawing/2014/main" id="{FEF86476-B539-4D76-A7B1-278DAAD7170F}"/>
              </a:ext>
            </a:extLst>
          </p:cNvPr>
          <p:cNvSpPr/>
          <p:nvPr/>
        </p:nvSpPr>
        <p:spPr>
          <a:xfrm>
            <a:off x="416560" y="2621280"/>
            <a:ext cx="348796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Folder structure</a:t>
            </a:r>
          </a:p>
        </p:txBody>
      </p:sp>
      <p:pic>
        <p:nvPicPr>
          <p:cNvPr id="2" name="Picture 1">
            <a:extLst>
              <a:ext uri="{FF2B5EF4-FFF2-40B4-BE49-F238E27FC236}">
                <a16:creationId xmlns:a16="http://schemas.microsoft.com/office/drawing/2014/main" id="{C1205647-F7CB-47FC-BDF1-0C340F4742C2}"/>
              </a:ext>
            </a:extLst>
          </p:cNvPr>
          <p:cNvPicPr>
            <a:picLocks noChangeAspect="1"/>
          </p:cNvPicPr>
          <p:nvPr/>
        </p:nvPicPr>
        <p:blipFill>
          <a:blip r:embed="rId2"/>
          <a:stretch>
            <a:fillRect/>
          </a:stretch>
        </p:blipFill>
        <p:spPr>
          <a:xfrm>
            <a:off x="932632" y="3182991"/>
            <a:ext cx="2761064" cy="2902849"/>
          </a:xfrm>
          <a:prstGeom prst="rect">
            <a:avLst/>
          </a:prstGeom>
        </p:spPr>
      </p:pic>
      <p:sp>
        <p:nvSpPr>
          <p:cNvPr id="3" name="Arrow: Bent-Up 2">
            <a:extLst>
              <a:ext uri="{FF2B5EF4-FFF2-40B4-BE49-F238E27FC236}">
                <a16:creationId xmlns:a16="http://schemas.microsoft.com/office/drawing/2014/main" id="{B71BC966-EF6F-4F5C-B7D7-C0224706441D}"/>
              </a:ext>
            </a:extLst>
          </p:cNvPr>
          <p:cNvSpPr/>
          <p:nvPr/>
        </p:nvSpPr>
        <p:spPr>
          <a:xfrm rot="5400000">
            <a:off x="694871" y="318067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519A2CB0-B130-4B51-A023-C21C970B1477}"/>
              </a:ext>
            </a:extLst>
          </p:cNvPr>
          <p:cNvGraphicFramePr>
            <a:graphicFrameLocks noGrp="1"/>
          </p:cNvGraphicFramePr>
          <p:nvPr>
            <p:extLst>
              <p:ext uri="{D42A27DB-BD31-4B8C-83A1-F6EECF244321}">
                <p14:modId xmlns:p14="http://schemas.microsoft.com/office/powerpoint/2010/main" val="2297765367"/>
              </p:ext>
            </p:extLst>
          </p:nvPr>
        </p:nvGraphicFramePr>
        <p:xfrm>
          <a:off x="4564418" y="3375288"/>
          <a:ext cx="2272891" cy="2148467"/>
        </p:xfrm>
        <a:graphic>
          <a:graphicData uri="http://schemas.openxmlformats.org/drawingml/2006/table">
            <a:tbl>
              <a:tblPr firstRow="1" bandRow="1">
                <a:tableStyleId>{69012ECD-51FC-41F1-AA8D-1B2483CD663E}</a:tableStyleId>
              </a:tblPr>
              <a:tblGrid>
                <a:gridCol w="871908">
                  <a:extLst>
                    <a:ext uri="{9D8B030D-6E8A-4147-A177-3AD203B41FA5}">
                      <a16:colId xmlns:a16="http://schemas.microsoft.com/office/drawing/2014/main" val="566549421"/>
                    </a:ext>
                  </a:extLst>
                </a:gridCol>
                <a:gridCol w="1048951">
                  <a:extLst>
                    <a:ext uri="{9D8B030D-6E8A-4147-A177-3AD203B41FA5}">
                      <a16:colId xmlns:a16="http://schemas.microsoft.com/office/drawing/2014/main" val="2338258831"/>
                    </a:ext>
                  </a:extLst>
                </a:gridCol>
                <a:gridCol w="352032">
                  <a:extLst>
                    <a:ext uri="{9D8B030D-6E8A-4147-A177-3AD203B41FA5}">
                      <a16:colId xmlns:a16="http://schemas.microsoft.com/office/drawing/2014/main" val="1457784495"/>
                    </a:ext>
                  </a:extLst>
                </a:gridCol>
              </a:tblGrid>
              <a:tr h="394460">
                <a:tc>
                  <a:txBody>
                    <a:bodyPr/>
                    <a:lstStyle/>
                    <a:p>
                      <a:pPr algn="ctr"/>
                      <a:r>
                        <a:rPr lang="en-US" sz="1200" dirty="0">
                          <a:latin typeface="Abadi Extra Light" panose="020B0204020104020204" pitchFamily="34" charset="0"/>
                        </a:rPr>
                        <a:t>Pathway_1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Abadi Extra Light" panose="020B0204020104020204" pitchFamily="34" charset="0"/>
                        </a:rPr>
                        <a:t>HGNC_symbol</a:t>
                      </a:r>
                      <a:endParaRPr lang="en-US" sz="1200" dirty="0">
                        <a:latin typeface="Abadi Extra Light" panose="020B0204020104020204" pitchFamily="34" charset="0"/>
                      </a:endParaRPr>
                    </a:p>
                  </a:txBody>
                  <a:tcPr anchor="ctr"/>
                </a:tc>
                <a:tc>
                  <a:txBody>
                    <a:bodyPr/>
                    <a:lstStyle/>
                    <a:p>
                      <a:pPr algn="ctr"/>
                      <a:r>
                        <a:rPr lang="en-US" sz="1200" dirty="0">
                          <a:latin typeface="Abadi Extra Light" panose="020B0204020104020204" pitchFamily="34" charset="0"/>
                        </a:rPr>
                        <a:t>…</a:t>
                      </a:r>
                    </a:p>
                  </a:txBody>
                  <a:tcPr anchor="ctr"/>
                </a:tc>
                <a:extLst>
                  <a:ext uri="{0D108BD9-81ED-4DB2-BD59-A6C34878D82A}">
                    <a16:rowId xmlns:a16="http://schemas.microsoft.com/office/drawing/2014/main" val="1039042550"/>
                  </a:ext>
                </a:extLst>
              </a:tr>
              <a:tr h="352333">
                <a:tc>
                  <a:txBody>
                    <a:bodyPr/>
                    <a:lstStyle/>
                    <a:p>
                      <a:pPr algn="ctr"/>
                      <a:r>
                        <a:rPr lang="en-US" sz="1200" dirty="0">
                          <a:latin typeface="Abadi Extra Light" panose="020B0204020104020204" pitchFamily="34" charset="0"/>
                        </a:rPr>
                        <a:t>SCN4A</a:t>
                      </a:r>
                    </a:p>
                  </a:txBody>
                  <a:tcPr anchor="ctr">
                    <a:noFill/>
                  </a:tcPr>
                </a:tc>
                <a:tc>
                  <a:txBody>
                    <a:bodyPr/>
                    <a:lstStyle/>
                    <a:p>
                      <a:pPr algn="ctr"/>
                      <a:r>
                        <a:rPr lang="en-US" sz="1200" dirty="0">
                          <a:latin typeface="Abadi Extra Light" panose="020B0204020104020204" pitchFamily="34" charset="0"/>
                        </a:rPr>
                        <a:t>SCN4A</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447875338"/>
                  </a:ext>
                </a:extLst>
              </a:tr>
              <a:tr h="352333">
                <a:tc>
                  <a:txBody>
                    <a:bodyPr/>
                    <a:lstStyle/>
                    <a:p>
                      <a:pPr algn="ctr"/>
                      <a:r>
                        <a:rPr lang="en-US" sz="1200" dirty="0">
                          <a:latin typeface="Abadi Extra Light" panose="020B0204020104020204" pitchFamily="34" charset="0"/>
                        </a:rPr>
                        <a:t>ANK1</a:t>
                      </a:r>
                    </a:p>
                  </a:txBody>
                  <a:tcPr anchor="ctr">
                    <a:noFill/>
                  </a:tcPr>
                </a:tc>
                <a:tc>
                  <a:txBody>
                    <a:bodyPr/>
                    <a:lstStyle/>
                    <a:p>
                      <a:pPr algn="ctr"/>
                      <a:r>
                        <a:rPr lang="en-US" sz="1200" dirty="0">
                          <a:latin typeface="Abadi Extra Light" panose="020B0204020104020204" pitchFamily="34" charset="0"/>
                        </a:rPr>
                        <a:t>ANK1</a:t>
                      </a:r>
                    </a:p>
                  </a:txBody>
                  <a:tcPr anchor="ctr">
                    <a:noFill/>
                  </a:tcPr>
                </a:tc>
                <a:tc>
                  <a:txBody>
                    <a:bodyPr/>
                    <a:lstStyle/>
                    <a:p>
                      <a:pPr algn="ctr"/>
                      <a:endParaRPr lang="en-US" sz="1200">
                        <a:latin typeface="Abadi Extra Light" panose="020B0204020104020204" pitchFamily="34" charset="0"/>
                      </a:endParaRPr>
                    </a:p>
                  </a:txBody>
                  <a:tcPr anchor="ctr">
                    <a:noFill/>
                  </a:tcPr>
                </a:tc>
                <a:extLst>
                  <a:ext uri="{0D108BD9-81ED-4DB2-BD59-A6C34878D82A}">
                    <a16:rowId xmlns:a16="http://schemas.microsoft.com/office/drawing/2014/main" val="2986409613"/>
                  </a:ext>
                </a:extLst>
              </a:tr>
              <a:tr h="359993">
                <a:tc>
                  <a:txBody>
                    <a:bodyPr/>
                    <a:lstStyle/>
                    <a:p>
                      <a:pPr algn="ctr"/>
                      <a:r>
                        <a:rPr lang="en-US" sz="1200" dirty="0">
                          <a:latin typeface="Abadi Extra Light" panose="020B0204020104020204" pitchFamily="34" charset="0"/>
                        </a:rPr>
                        <a:t>SPTB</a:t>
                      </a:r>
                    </a:p>
                  </a:txBody>
                  <a:tcPr anchor="ctr">
                    <a:noFill/>
                  </a:tcPr>
                </a:tc>
                <a:tc>
                  <a:txBody>
                    <a:bodyPr/>
                    <a:lstStyle/>
                    <a:p>
                      <a:pPr algn="ctr"/>
                      <a:r>
                        <a:rPr lang="en-US" sz="1200" dirty="0">
                          <a:latin typeface="Abadi Extra Light" panose="020B0204020104020204" pitchFamily="34" charset="0"/>
                        </a:rPr>
                        <a:t>SPTB</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1146648037"/>
                  </a:ext>
                </a:extLst>
              </a:tr>
              <a:tr h="367652">
                <a:tc>
                  <a:txBody>
                    <a:bodyPr/>
                    <a:lstStyle/>
                    <a:p>
                      <a:pPr algn="ctr"/>
                      <a:r>
                        <a:rPr lang="en-US" sz="1200" dirty="0">
                          <a:latin typeface="Abadi Extra Light" panose="020B0204020104020204" pitchFamily="34" charset="0"/>
                        </a:rPr>
                        <a:t>KCNQ2</a:t>
                      </a:r>
                    </a:p>
                  </a:txBody>
                  <a:tcPr anchor="ctr">
                    <a:noFill/>
                  </a:tcPr>
                </a:tc>
                <a:tc>
                  <a:txBody>
                    <a:bodyPr/>
                    <a:lstStyle/>
                    <a:p>
                      <a:pPr algn="ctr"/>
                      <a:r>
                        <a:rPr lang="en-US" sz="1200" dirty="0">
                          <a:latin typeface="Abadi Extra Light" panose="020B0204020104020204" pitchFamily="34" charset="0"/>
                        </a:rPr>
                        <a:t>KCNQ2</a:t>
                      </a:r>
                    </a:p>
                  </a:txBody>
                  <a:tcPr anchor="ctr">
                    <a:noFill/>
                  </a:tcPr>
                </a:tc>
                <a:tc>
                  <a:txBody>
                    <a:bodyPr/>
                    <a:lstStyle/>
                    <a:p>
                      <a:pPr algn="ctr"/>
                      <a:endParaRPr lang="en-US" sz="1200" dirty="0">
                        <a:latin typeface="Abadi Extra Light" panose="020B0204020104020204" pitchFamily="34" charset="0"/>
                      </a:endParaRPr>
                    </a:p>
                  </a:txBody>
                  <a:tcPr anchor="ctr">
                    <a:noFill/>
                  </a:tcPr>
                </a:tc>
                <a:extLst>
                  <a:ext uri="{0D108BD9-81ED-4DB2-BD59-A6C34878D82A}">
                    <a16:rowId xmlns:a16="http://schemas.microsoft.com/office/drawing/2014/main" val="3169565482"/>
                  </a:ext>
                </a:extLst>
              </a:tr>
              <a:tr h="321696">
                <a:tc>
                  <a:txBody>
                    <a:bodyPr/>
                    <a:lstStyle/>
                    <a:p>
                      <a:pPr algn="ctr"/>
                      <a:r>
                        <a:rPr lang="en-US" sz="1200" dirty="0">
                          <a:latin typeface="Abadi Extra Light" panose="020B0204020104020204" pitchFamily="34" charset="0"/>
                        </a:rPr>
                        <a:t>ACTB</a:t>
                      </a:r>
                    </a:p>
                  </a:txBody>
                  <a:tcPr anchor="ctr"/>
                </a:tc>
                <a:tc>
                  <a:txBody>
                    <a:bodyPr/>
                    <a:lstStyle/>
                    <a:p>
                      <a:pPr algn="ctr"/>
                      <a:r>
                        <a:rPr lang="en-US" sz="1200" dirty="0">
                          <a:latin typeface="Abadi Extra Light" panose="020B0204020104020204" pitchFamily="34" charset="0"/>
                        </a:rPr>
                        <a:t>ACTB</a:t>
                      </a:r>
                    </a:p>
                  </a:txBody>
                  <a:tcPr anchor="ctr"/>
                </a:tc>
                <a:tc>
                  <a:txBody>
                    <a:bodyPr/>
                    <a:lstStyle/>
                    <a:p>
                      <a:pPr algn="ctr"/>
                      <a:endParaRPr lang="en-US" sz="1200" dirty="0">
                        <a:latin typeface="Abadi Extra Light" panose="020B0204020104020204" pitchFamily="34" charset="0"/>
                      </a:endParaRPr>
                    </a:p>
                  </a:txBody>
                  <a:tcPr anchor="ctr"/>
                </a:tc>
                <a:extLst>
                  <a:ext uri="{0D108BD9-81ED-4DB2-BD59-A6C34878D82A}">
                    <a16:rowId xmlns:a16="http://schemas.microsoft.com/office/drawing/2014/main" val="3400704830"/>
                  </a:ext>
                </a:extLst>
              </a:tr>
            </a:tbl>
          </a:graphicData>
        </a:graphic>
      </p:graphicFrame>
      <p:cxnSp>
        <p:nvCxnSpPr>
          <p:cNvPr id="10" name="Straight Arrow Connector 9">
            <a:extLst>
              <a:ext uri="{FF2B5EF4-FFF2-40B4-BE49-F238E27FC236}">
                <a16:creationId xmlns:a16="http://schemas.microsoft.com/office/drawing/2014/main" id="{AB065B3B-1915-4FBB-AD5E-6E622329C38E}"/>
              </a:ext>
            </a:extLst>
          </p:cNvPr>
          <p:cNvCxnSpPr>
            <a:cxnSpLocks/>
          </p:cNvCxnSpPr>
          <p:nvPr/>
        </p:nvCxnSpPr>
        <p:spPr>
          <a:xfrm>
            <a:off x="3571694" y="3576320"/>
            <a:ext cx="6656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50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
            <a:extLst>
              <a:ext uri="{FF2B5EF4-FFF2-40B4-BE49-F238E27FC236}">
                <a16:creationId xmlns:a16="http://schemas.microsoft.com/office/drawing/2014/main" id="{04753248-BE94-4FDE-AE76-E562D47EB437}"/>
              </a:ext>
            </a:extLst>
          </p:cNvPr>
          <p:cNvSpPr>
            <a:spLocks noChangeArrowheads="1"/>
          </p:cNvSpPr>
          <p:nvPr/>
        </p:nvSpPr>
        <p:spPr bwMode="auto">
          <a:xfrm>
            <a:off x="370840" y="3313933"/>
            <a:ext cx="8192040" cy="2862322"/>
          </a:xfrm>
          <a:prstGeom prst="rect">
            <a:avLst/>
          </a:prstGeom>
          <a:no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spc="-1" dirty="0">
                <a:solidFill>
                  <a:schemeClr val="tx2"/>
                </a:solidFill>
                <a:latin typeface="Abadi Extra Light" panose="020B0604020202020204" pitchFamily="34" charset="0"/>
                <a:ea typeface="Tahoma"/>
                <a:cs typeface="Calibri Light" panose="020F0302020204030204" pitchFamily="34" charset="0"/>
              </a:rPr>
              <a:t>Important notes: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Be aware of respecting the order of the positional arguments.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Also, keep the names of the patients and mutations file as follows:</a:t>
            </a:r>
          </a:p>
          <a:p>
            <a:pPr lvl="0" eaLnBrk="0" fontAlgn="base" hangingPunct="0">
              <a:spcBef>
                <a:spcPct val="0"/>
              </a:spcBef>
              <a:spcAft>
                <a:spcPct val="0"/>
              </a:spcAf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 </a:t>
            </a:r>
            <a:br>
              <a:rPr lang="en-US" altLang="en-US" sz="2000" spc="-1" dirty="0">
                <a:solidFill>
                  <a:schemeClr val="tx2"/>
                </a:solidFill>
                <a:latin typeface="Abadi Extra Light" panose="020B0604020202020204" pitchFamily="34" charset="0"/>
                <a:ea typeface="Tahoma"/>
                <a:cs typeface="Calibri Light" panose="020F0302020204030204" pitchFamily="34" charset="0"/>
              </a:rPr>
            </a:b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Chr</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Position, Ref, Alt, Type, Gene, consequence,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child_id</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HGNC_symbol</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HGNC_mapping</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constraint_score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pLI</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pRecessive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max_control_AF</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PolyPhen_pred</a:t>
            </a:r>
            <a:r>
              <a:rPr lang="en-US" altLang="en-US" sz="1600" spc="-1" dirty="0">
                <a:solidFill>
                  <a:schemeClr val="tx2"/>
                </a:solidFill>
                <a:latin typeface="Abadi Extra Light" panose="020B0604020202020204" pitchFamily="34" charset="0"/>
                <a:ea typeface="Tahoma"/>
                <a:cs typeface="Calibri Light" panose="020F0302020204030204" pitchFamily="34" charset="0"/>
              </a:rPr>
              <a:t>, MPC, </a:t>
            </a:r>
            <a:r>
              <a:rPr lang="en-US" altLang="en-US" sz="1600" spc="-1" dirty="0" err="1">
                <a:solidFill>
                  <a:schemeClr val="tx2"/>
                </a:solidFill>
                <a:latin typeface="Abadi Extra Light" panose="020B0604020202020204" pitchFamily="34" charset="0"/>
                <a:ea typeface="Tahoma"/>
                <a:cs typeface="Calibri Light" panose="020F0302020204030204" pitchFamily="34" charset="0"/>
              </a:rPr>
              <a:t>Adj_Consequence</a:t>
            </a:r>
            <a:r>
              <a:rPr lang="en-US" altLang="en-US" sz="1600" spc="-1" dirty="0">
                <a:solidFill>
                  <a:schemeClr val="tx2"/>
                </a:solidFill>
                <a:latin typeface="Abadi Extra Light" panose="020B0604020202020204" pitchFamily="34" charset="0"/>
                <a:ea typeface="Tahoma"/>
                <a:cs typeface="Calibri Light" panose="020F0302020204030204" pitchFamily="34" charset="0"/>
              </a:rPr>
              <a:t>.</a:t>
            </a:r>
          </a:p>
          <a:p>
            <a:pPr marR="0" lvl="0" algn="l" defTabSz="914400" rtl="0" eaLnBrk="0" fontAlgn="base" latinLnBrk="0" hangingPunct="0">
              <a:lnSpc>
                <a:spcPct val="100000"/>
              </a:lnSpc>
              <a:spcBef>
                <a:spcPct val="0"/>
              </a:spcBef>
              <a:spcAft>
                <a:spcPct val="0"/>
              </a:spcAft>
              <a:buClrTx/>
              <a:buSzTx/>
              <a:tabLst/>
            </a:pPr>
            <a:endParaRPr lang="en-US" altLang="en-US" sz="1600" spc="-1" dirty="0">
              <a:solidFill>
                <a:schemeClr val="tx2"/>
              </a:solidFill>
              <a:latin typeface="Abadi Extra Light" panose="020B0604020202020204" pitchFamily="34" charset="0"/>
              <a:ea typeface="Tahoma"/>
              <a:cs typeface="Calibri Light" panose="020F03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spc="-1" dirty="0">
                <a:solidFill>
                  <a:schemeClr val="tx2"/>
                </a:solidFill>
                <a:latin typeface="Abadi Extra Light" panose="020B0604020202020204" pitchFamily="34" charset="0"/>
                <a:ea typeface="Tahoma"/>
                <a:cs typeface="Calibri Light" panose="020F0302020204030204" pitchFamily="34" charset="0"/>
              </a:rPr>
              <a:t>The directory containing the pathways can contain multiple files. However, only those ending with </a:t>
            </a:r>
            <a:r>
              <a:rPr lang="en-US" altLang="en-US" sz="2000" i="1" spc="-1" dirty="0">
                <a:solidFill>
                  <a:schemeClr val="tx2"/>
                </a:solidFill>
                <a:latin typeface="Abadi Extra Light" panose="020B0604020202020204" pitchFamily="34" charset="0"/>
                <a:ea typeface="Tahoma"/>
                <a:cs typeface="Calibri Light" panose="020F0302020204030204" pitchFamily="34" charset="0"/>
              </a:rPr>
              <a:t>'_</a:t>
            </a:r>
            <a:r>
              <a:rPr lang="en-US" altLang="en-US" sz="2000" i="1" spc="-1" dirty="0" err="1">
                <a:solidFill>
                  <a:schemeClr val="tx2"/>
                </a:solidFill>
                <a:latin typeface="Abadi Extra Light" panose="020B0604020202020204" pitchFamily="34" charset="0"/>
                <a:ea typeface="Tahoma"/>
                <a:cs typeface="Calibri Light" panose="020F0302020204030204" pitchFamily="34" charset="0"/>
              </a:rPr>
              <a:t>with_gene_annotations</a:t>
            </a:r>
            <a:r>
              <a:rPr lang="en-US" altLang="en-US" sz="2000" i="1" spc="-1" dirty="0">
                <a:solidFill>
                  <a:schemeClr val="tx2"/>
                </a:solidFill>
                <a:latin typeface="Abadi Extra Light" panose="020B0604020202020204" pitchFamily="34" charset="0"/>
                <a:ea typeface="Tahoma"/>
                <a:cs typeface="Calibri Light" panose="020F0302020204030204" pitchFamily="34" charset="0"/>
              </a:rPr>
              <a:t>'</a:t>
            </a:r>
            <a:r>
              <a:rPr lang="en-US" altLang="en-US" sz="2000" spc="-1" dirty="0">
                <a:solidFill>
                  <a:schemeClr val="tx2"/>
                </a:solidFill>
                <a:latin typeface="Abadi Extra Light" panose="020B0604020202020204" pitchFamily="34" charset="0"/>
                <a:ea typeface="Tahoma"/>
                <a:cs typeface="Calibri Light" panose="020F0302020204030204" pitchFamily="34" charset="0"/>
              </a:rPr>
              <a:t> will be considered for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Rounded Corners 11">
            <a:extLst>
              <a:ext uri="{FF2B5EF4-FFF2-40B4-BE49-F238E27FC236}">
                <a16:creationId xmlns:a16="http://schemas.microsoft.com/office/drawing/2014/main" id="{FBB01C71-C549-47CA-A1A7-A0525B8F89E3}"/>
              </a:ext>
            </a:extLst>
          </p:cNvPr>
          <p:cNvSpPr/>
          <p:nvPr/>
        </p:nvSpPr>
        <p:spPr>
          <a:xfrm>
            <a:off x="4785360" y="2573178"/>
            <a:ext cx="2164080" cy="286232"/>
          </a:xfrm>
          <a:prstGeom prst="round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087FE6C-D748-447F-B4FF-A9F8B5AFBD9F}"/>
              </a:ext>
            </a:extLst>
          </p:cNvPr>
          <p:cNvSpPr/>
          <p:nvPr/>
        </p:nvSpPr>
        <p:spPr>
          <a:xfrm>
            <a:off x="2133600" y="2583338"/>
            <a:ext cx="2651760" cy="286232"/>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to specify mandatory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5" name="Rectangle 4">
            <a:extLst>
              <a:ext uri="{FF2B5EF4-FFF2-40B4-BE49-F238E27FC236}">
                <a16:creationId xmlns:a16="http://schemas.microsoft.com/office/drawing/2014/main" id="{5FF5BD41-E170-420D-A161-83DC81CBA962}"/>
              </a:ext>
            </a:extLst>
          </p:cNvPr>
          <p:cNvSpPr/>
          <p:nvPr/>
        </p:nvSpPr>
        <p:spPr>
          <a:xfrm>
            <a:off x="250920" y="2594374"/>
            <a:ext cx="6776720" cy="286232"/>
          </a:xfrm>
          <a:prstGeom prst="rect">
            <a:avLst/>
          </a:prstGeom>
        </p:spPr>
        <p:txBody>
          <a:bodyPr wrap="square">
            <a:spAutoFit/>
          </a:bodyPr>
          <a:lstStyle/>
          <a:p>
            <a:pPr lvl="1">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~/PBPM/data/raw/pathways/</a:t>
            </a:r>
          </a:p>
        </p:txBody>
      </p:sp>
      <p:sp>
        <p:nvSpPr>
          <p:cNvPr id="11" name="CustomShape 2">
            <a:extLst>
              <a:ext uri="{FF2B5EF4-FFF2-40B4-BE49-F238E27FC236}">
                <a16:creationId xmlns:a16="http://schemas.microsoft.com/office/drawing/2014/main" id="{79D212A3-73FF-4DAC-8648-341E00DC577D}"/>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Run the protocol by specifying both positional arguments:</a:t>
            </a:r>
          </a:p>
        </p:txBody>
      </p:sp>
      <p:sp>
        <p:nvSpPr>
          <p:cNvPr id="13" name="CustomShape 2">
            <a:extLst>
              <a:ext uri="{FF2B5EF4-FFF2-40B4-BE49-F238E27FC236}">
                <a16:creationId xmlns:a16="http://schemas.microsoft.com/office/drawing/2014/main" id="{CFC47D9A-D607-4364-BBA9-1E283AE91CCD}"/>
              </a:ext>
            </a:extLst>
          </p:cNvPr>
          <p:cNvSpPr/>
          <p:nvPr/>
        </p:nvSpPr>
        <p:spPr>
          <a:xfrm>
            <a:off x="2917920" y="2833471"/>
            <a:ext cx="119180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b="1" spc="-1" dirty="0">
                <a:solidFill>
                  <a:schemeClr val="accent1"/>
                </a:solidFill>
                <a:latin typeface="Abadi Extra Light" panose="020B0604020202020204" pitchFamily="34" charset="0"/>
                <a:ea typeface="Tahoma"/>
                <a:cs typeface="Calibri Light" panose="020F0302020204030204" pitchFamily="34" charset="0"/>
              </a:rPr>
              <a:t>Input file</a:t>
            </a:r>
          </a:p>
        </p:txBody>
      </p:sp>
      <p:sp>
        <p:nvSpPr>
          <p:cNvPr id="14" name="CustomShape 2">
            <a:extLst>
              <a:ext uri="{FF2B5EF4-FFF2-40B4-BE49-F238E27FC236}">
                <a16:creationId xmlns:a16="http://schemas.microsoft.com/office/drawing/2014/main" id="{862E35AF-0273-41FC-BB5E-1C1A62E49896}"/>
              </a:ext>
            </a:extLst>
          </p:cNvPr>
          <p:cNvSpPr/>
          <p:nvPr/>
        </p:nvSpPr>
        <p:spPr>
          <a:xfrm>
            <a:off x="4944840" y="2818332"/>
            <a:ext cx="200968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b="1" spc="-1" dirty="0">
                <a:solidFill>
                  <a:schemeClr val="accent2"/>
                </a:solidFill>
                <a:latin typeface="Abadi Extra Light" panose="020B0604020202020204" pitchFamily="34" charset="0"/>
                <a:ea typeface="Tahoma"/>
                <a:cs typeface="Calibri Light" panose="020F0302020204030204" pitchFamily="34" charset="0"/>
              </a:rPr>
              <a:t>Pathways directory</a:t>
            </a:r>
          </a:p>
        </p:txBody>
      </p:sp>
    </p:spTree>
    <p:extLst>
      <p:ext uri="{BB962C8B-B14F-4D97-AF65-F5344CB8AC3E}">
        <p14:creationId xmlns:p14="http://schemas.microsoft.com/office/powerpoint/2010/main" val="626940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optional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59727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Final PBPMs will be filtered according to the optional arguments included in the analysis. Most of the parameters have both short and long names to be called.</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69986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804180"/>
            <a:ext cx="8476520" cy="248703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pathways. If no setting is provided, all available pathways will be considered.</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1: protocol will filter data for pathway </a:t>
            </a:r>
            <a:r>
              <a:rPr lang="en-US" sz="2000" b="1" spc="-1" dirty="0">
                <a:solidFill>
                  <a:schemeClr val="accent2"/>
                </a:solidFill>
                <a:latin typeface="Abadi Extra Light" panose="020B0604020202020204" pitchFamily="34" charset="0"/>
                <a:ea typeface="Tahoma"/>
                <a:cs typeface="Calibri Light" panose="020F0302020204030204" pitchFamily="34" charset="0"/>
              </a:rPr>
              <a:t>R-HSA-69620</a:t>
            </a: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marL="342900" indent="-342900" algn="just">
              <a:lnSpc>
                <a:spcPct val="90000"/>
              </a:lnSpc>
              <a:buFont typeface="Arial" panose="020B0604020202020204" pitchFamily="34" charset="0"/>
              <a:buChar char="•"/>
            </a:pPr>
            <a:endParaRPr lang="en-US" sz="500" spc="-1" dirty="0">
              <a:solidFill>
                <a:schemeClr val="tx2"/>
              </a:solidFill>
              <a:latin typeface="Consolas" panose="020B0609020204030204" pitchFamily="49" charset="0"/>
              <a:ea typeface="Tahoma"/>
              <a:cs typeface="Calibri Light" panose="020F0302020204030204" pitchFamily="34" charset="0"/>
            </a:endParaRP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python3 main.py  ~/PBPM/data/raw/mutations-file.txt </a:t>
            </a: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lvl="1">
              <a:lnSpc>
                <a:spcPct val="90000"/>
              </a:lnSpc>
            </a:pP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-p R-HSA-69620</a:t>
            </a:r>
          </a:p>
          <a:p>
            <a:pPr lvl="1">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2: protocol will not filter data by any pathway.</a:t>
            </a:r>
          </a:p>
          <a:p>
            <a:pPr marL="342900" indent="-342900" algn="just">
              <a:lnSpc>
                <a:spcPct val="90000"/>
              </a:lnSpc>
              <a:buFont typeface="Arial" panose="020B0604020202020204" pitchFamily="34" charset="0"/>
              <a:buChar char="•"/>
            </a:pPr>
            <a:endParaRPr lang="en-US" sz="500" spc="-1" dirty="0">
              <a:solidFill>
                <a:schemeClr val="tx2"/>
              </a:solidFill>
              <a:latin typeface="Abadi Extra Light" panose="020B0604020202020204" pitchFamily="34" charset="0"/>
              <a:ea typeface="Tahoma"/>
              <a:cs typeface="Calibri Light" panose="020F0302020204030204" pitchFamily="34" charset="0"/>
            </a:endParaRP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python3 main.py  ~/PBPM/data/raw/mutations-file.txt </a:t>
            </a:r>
          </a:p>
          <a:p>
            <a:pPr lvl="1">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335646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Pathways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D62224B3-6FA5-4460-B2B4-2E355A321811}"/>
              </a:ext>
            </a:extLst>
          </p:cNvPr>
          <p:cNvSpPr/>
          <p:nvPr/>
        </p:nvSpPr>
        <p:spPr>
          <a:xfrm>
            <a:off x="250920" y="331432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294FF8C0-B60C-4405-BD20-D6C388ABDF49}"/>
              </a:ext>
            </a:extLst>
          </p:cNvPr>
          <p:cNvSpPr/>
          <p:nvPr/>
        </p:nvSpPr>
        <p:spPr>
          <a:xfrm>
            <a:off x="250920" y="2082801"/>
            <a:ext cx="8476520" cy="238759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pathway, you can specify one of the following: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pathways separated by comma (without spaces): </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 R-HSA-69620,0051705</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pathways to filter written in the first column: </a:t>
            </a:r>
          </a:p>
          <a:p>
            <a:pPr algn="just">
              <a:lnSpc>
                <a:spcPct val="90000"/>
              </a:lnSpc>
            </a:pPr>
            <a:r>
              <a:rPr lang="en-US" sz="2000" spc="-1" dirty="0">
                <a:solidFill>
                  <a:schemeClr val="bg2">
                    <a:lumMod val="75000"/>
                  </a:schemeClr>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 ~/PBPM/data/raw/filters/my-file-containing-pathways.txt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5" name="Picture 4">
            <a:extLst>
              <a:ext uri="{FF2B5EF4-FFF2-40B4-BE49-F238E27FC236}">
                <a16:creationId xmlns:a16="http://schemas.microsoft.com/office/drawing/2014/main" id="{9AA32244-B955-4C98-95BD-766BC9CE4B71}"/>
              </a:ext>
            </a:extLst>
          </p:cNvPr>
          <p:cNvPicPr>
            <a:picLocks noChangeAspect="1"/>
          </p:cNvPicPr>
          <p:nvPr/>
        </p:nvPicPr>
        <p:blipFill>
          <a:blip r:embed="rId2"/>
          <a:stretch>
            <a:fillRect/>
          </a:stretch>
        </p:blipFill>
        <p:spPr>
          <a:xfrm>
            <a:off x="5283361" y="4112632"/>
            <a:ext cx="2204559" cy="2118667"/>
          </a:xfrm>
          <a:prstGeom prst="rect">
            <a:avLst/>
          </a:prstGeom>
        </p:spPr>
      </p:pic>
      <p:sp>
        <p:nvSpPr>
          <p:cNvPr id="16" name="Arrow: Bent-Up 15">
            <a:extLst>
              <a:ext uri="{FF2B5EF4-FFF2-40B4-BE49-F238E27FC236}">
                <a16:creationId xmlns:a16="http://schemas.microsoft.com/office/drawing/2014/main" id="{95661814-90FC-42B7-B05E-73CFCFBFE377}"/>
              </a:ext>
            </a:extLst>
          </p:cNvPr>
          <p:cNvSpPr/>
          <p:nvPr/>
        </p:nvSpPr>
        <p:spPr>
          <a:xfrm rot="5400000">
            <a:off x="4799511" y="4313144"/>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157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Genes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6464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genes. If no setting is provided, all available genes will be considered.</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gene </a:t>
            </a:r>
            <a:r>
              <a:rPr lang="en-US" sz="2000" b="1" spc="-1" dirty="0">
                <a:solidFill>
                  <a:schemeClr val="accent2"/>
                </a:solidFill>
                <a:latin typeface="Abadi Extra Light" panose="020B0604020202020204" pitchFamily="34" charset="0"/>
                <a:ea typeface="Tahoma"/>
                <a:cs typeface="Calibri Light" panose="020F0302020204030204" pitchFamily="34" charset="0"/>
              </a:rPr>
              <a:t>CTR9</a:t>
            </a:r>
          </a:p>
          <a:p>
            <a:pPr>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-g CTR9</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81012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gene, you can specify one of the following: </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Subset of genes separated by comma (without spaces): </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bg2">
                    <a:lumMod val="75000"/>
                  </a:schemeClr>
                </a:solidFill>
                <a:latin typeface="Abadi Extra Light" panose="020B0604020202020204" pitchFamily="34" charset="0"/>
                <a:ea typeface="Tahoma"/>
                <a:cs typeface="Calibri Light" panose="020F0302020204030204" pitchFamily="34" charset="0"/>
              </a:rPr>
              <a:t>-</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g CTR9,NOCL2</a:t>
            </a: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genes to filter:</a:t>
            </a:r>
          </a:p>
          <a:p>
            <a:pPr algn="just">
              <a:lnSpc>
                <a:spcPct val="90000"/>
              </a:lnSpc>
            </a:pPr>
            <a:endParaRPr lang="en-US" sz="5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-g ~/PBPM/data/raw/filters/my-file-containing-genes.txt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pic>
        <p:nvPicPr>
          <p:cNvPr id="8" name="Picture 7">
            <a:extLst>
              <a:ext uri="{FF2B5EF4-FFF2-40B4-BE49-F238E27FC236}">
                <a16:creationId xmlns:a16="http://schemas.microsoft.com/office/drawing/2014/main" id="{DCD4110A-0668-43DD-B282-AD5C9A197406}"/>
              </a:ext>
            </a:extLst>
          </p:cNvPr>
          <p:cNvPicPr>
            <a:picLocks noChangeAspect="1"/>
          </p:cNvPicPr>
          <p:nvPr/>
        </p:nvPicPr>
        <p:blipFill rotWithShape="1">
          <a:blip r:embed="rId2"/>
          <a:srcRect b="29366"/>
          <a:stretch/>
        </p:blipFill>
        <p:spPr>
          <a:xfrm>
            <a:off x="4947920" y="5670624"/>
            <a:ext cx="1837691" cy="616206"/>
          </a:xfrm>
          <a:prstGeom prst="rect">
            <a:avLst/>
          </a:prstGeom>
        </p:spPr>
      </p:pic>
      <p:sp>
        <p:nvSpPr>
          <p:cNvPr id="17" name="Arrow: Bent-Up 16">
            <a:extLst>
              <a:ext uri="{FF2B5EF4-FFF2-40B4-BE49-F238E27FC236}">
                <a16:creationId xmlns:a16="http://schemas.microsoft.com/office/drawing/2014/main" id="{E4756863-C52B-412E-BB18-9394678C6B1D}"/>
              </a:ext>
            </a:extLst>
          </p:cNvPr>
          <p:cNvSpPr/>
          <p:nvPr/>
        </p:nvSpPr>
        <p:spPr>
          <a:xfrm rot="5400000">
            <a:off x="4491495" y="5886839"/>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069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Patients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64649"/>
            <a:ext cx="8476520" cy="275119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patient IDs. If no setting is provided, all available patients will be considered.</a:t>
            </a:r>
          </a:p>
          <a:p>
            <a:pPr algn="just">
              <a:lnSpc>
                <a:spcPct val="90000"/>
              </a:lnSpc>
            </a:pPr>
            <a:endParaRPr lang="en-US" sz="14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a:t>
            </a:r>
            <a:r>
              <a:rPr lang="en-US" sz="2000" b="1" spc="-1" dirty="0">
                <a:solidFill>
                  <a:schemeClr val="accent2"/>
                </a:solidFill>
                <a:latin typeface="Abadi Extra Light" panose="020B0604020202020204" pitchFamily="34" charset="0"/>
                <a:ea typeface="Tahoma"/>
                <a:cs typeface="Calibri Light" panose="020F0302020204030204" pitchFamily="34" charset="0"/>
              </a:rPr>
              <a:t>patient with ID 1 </a:t>
            </a:r>
          </a:p>
          <a:p>
            <a:pPr algn="just">
              <a:lnSpc>
                <a:spcPct val="90000"/>
              </a:lnSpc>
            </a:pP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-id Patient_1</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827126"/>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patient, you can specify one of the following: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patients IDs separated by comma (without spaces): </a:t>
            </a:r>
            <a:endParaRPr lang="fr-FR" sz="105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fr-FR" sz="5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p>
          <a:p>
            <a:pPr algn="just">
              <a:lnSpc>
                <a:spcPct val="90000"/>
              </a:lnSpc>
            </a:pPr>
            <a:r>
              <a:rPr lang="fr-FR" sz="105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fr-FR"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-id </a:t>
            </a:r>
            <a:r>
              <a:rPr lang="fr-FR"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Patient_X,Patient_Y</a:t>
            </a: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patients to filter:</a:t>
            </a:r>
          </a:p>
          <a:p>
            <a:pPr algn="just">
              <a:lnSpc>
                <a:spcPct val="90000"/>
              </a:lnSpc>
            </a:pPr>
            <a:r>
              <a:rPr lang="en-US" sz="5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p>
          <a:p>
            <a:pPr algn="just">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-id ~/PBPM/data/raw/filters/my-file-containing-patients.txt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7" name="Arrow: Bent-Up 16">
            <a:extLst>
              <a:ext uri="{FF2B5EF4-FFF2-40B4-BE49-F238E27FC236}">
                <a16:creationId xmlns:a16="http://schemas.microsoft.com/office/drawing/2014/main" id="{E4756863-C52B-412E-BB18-9394678C6B1D}"/>
              </a:ext>
            </a:extLst>
          </p:cNvPr>
          <p:cNvSpPr/>
          <p:nvPr/>
        </p:nvSpPr>
        <p:spPr>
          <a:xfrm rot="5400000">
            <a:off x="4800412" y="57902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38C9DCA-9C39-4EDC-8FC5-3309DBE78275}"/>
              </a:ext>
            </a:extLst>
          </p:cNvPr>
          <p:cNvPicPr>
            <a:picLocks noChangeAspect="1"/>
          </p:cNvPicPr>
          <p:nvPr/>
        </p:nvPicPr>
        <p:blipFill rotWithShape="1">
          <a:blip r:embed="rId2"/>
          <a:srcRect b="12754"/>
          <a:stretch/>
        </p:blipFill>
        <p:spPr>
          <a:xfrm>
            <a:off x="5365750" y="5492085"/>
            <a:ext cx="2387637" cy="829563"/>
          </a:xfrm>
          <a:prstGeom prst="rect">
            <a:avLst/>
          </a:prstGeom>
        </p:spPr>
      </p:pic>
    </p:spTree>
    <p:extLst>
      <p:ext uri="{BB962C8B-B14F-4D97-AF65-F5344CB8AC3E}">
        <p14:creationId xmlns:p14="http://schemas.microsoft.com/office/powerpoint/2010/main" val="3989859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Consequences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476520" cy="261911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specific consequences. If no setting is provided, all available consequences will be considered.</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protocol will filter data for consequences of type </a:t>
            </a:r>
            <a:r>
              <a:rPr lang="en-US" sz="2000" b="1" spc="-1" dirty="0">
                <a:solidFill>
                  <a:schemeClr val="accent2"/>
                </a:solidFill>
                <a:latin typeface="Abadi Extra Light" panose="020B0604020202020204" pitchFamily="34" charset="0"/>
                <a:ea typeface="Tahoma"/>
                <a:cs typeface="Calibri Light" panose="020F0302020204030204" pitchFamily="34" charset="0"/>
              </a:rPr>
              <a:t>'</a:t>
            </a:r>
            <a:r>
              <a:rPr lang="en-US" sz="2000" b="1" spc="-1" dirty="0" err="1">
                <a:solidFill>
                  <a:schemeClr val="accent2"/>
                </a:solidFill>
                <a:latin typeface="Abadi Extra Light" panose="020B0604020202020204" pitchFamily="34" charset="0"/>
                <a:ea typeface="Tahoma"/>
                <a:cs typeface="Calibri Light" panose="020F0302020204030204" pitchFamily="34" charset="0"/>
              </a:rPr>
              <a:t>missense_variant</a:t>
            </a:r>
            <a:r>
              <a:rPr lang="en-US" sz="2000" b="1" spc="-1" dirty="0">
                <a:solidFill>
                  <a:schemeClr val="accent2"/>
                </a:solidFill>
                <a:latin typeface="Abadi Extra Light" panose="020B0604020202020204" pitchFamily="34" charset="0"/>
                <a:ea typeface="Tahoma"/>
                <a:cs typeface="Calibri Light" panose="020F0302020204030204" pitchFamily="34" charset="0"/>
              </a:rPr>
              <a:t>’</a:t>
            </a: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tx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missense_variant</a:t>
            </a:r>
            <a:endPar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14" name="CustomShape 2">
            <a:extLst>
              <a:ext uri="{FF2B5EF4-FFF2-40B4-BE49-F238E27FC236}">
                <a16:creationId xmlns:a16="http://schemas.microsoft.com/office/drawing/2014/main" id="{1E27A6A5-3585-4F09-960C-AE419E5126B4}"/>
              </a:ext>
            </a:extLst>
          </p:cNvPr>
          <p:cNvSpPr/>
          <p:nvPr/>
        </p:nvSpPr>
        <p:spPr>
          <a:xfrm>
            <a:off x="250920" y="3718687"/>
            <a:ext cx="8476520" cy="211966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consequence, you can specify one of the following: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A subset of mutations separated by comma (without spaces): </a:t>
            </a:r>
          </a:p>
          <a:p>
            <a:pPr algn="just">
              <a:lnSpc>
                <a:spcPct val="90000"/>
              </a:lnSpc>
            </a:pPr>
            <a:r>
              <a:rPr lang="en-US" dirty="0">
                <a:solidFill>
                  <a:schemeClr val="bg2">
                    <a:lumMod val="75000"/>
                  </a:schemeClr>
                </a:solidFill>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missense_variant,Intron</a:t>
            </a: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 A </a:t>
            </a:r>
            <a:r>
              <a:rPr lang="en-US" sz="2000" b="1" spc="-1" dirty="0">
                <a:solidFill>
                  <a:schemeClr val="tx2"/>
                </a:solidFill>
                <a:latin typeface="Abadi Extra Light" panose="020B0604020202020204" pitchFamily="34" charset="0"/>
                <a:ea typeface="Tahoma"/>
                <a:cs typeface="Calibri Light" panose="020F0302020204030204" pitchFamily="34" charset="0"/>
              </a:rPr>
              <a:t>txt tab delimited file </a:t>
            </a:r>
            <a:r>
              <a:rPr lang="en-US" sz="2000" spc="-1" dirty="0">
                <a:solidFill>
                  <a:schemeClr val="tx2"/>
                </a:solidFill>
                <a:latin typeface="Abadi Extra Light" panose="020B0604020202020204" pitchFamily="34" charset="0"/>
                <a:ea typeface="Tahoma"/>
                <a:cs typeface="Calibri Light" panose="020F0302020204030204" pitchFamily="34" charset="0"/>
              </a:rPr>
              <a:t>with no headers and the desired consequences to filter.</a:t>
            </a:r>
          </a:p>
          <a:p>
            <a:pPr algn="just">
              <a:lnSpc>
                <a:spcPct val="90000"/>
              </a:lnSpc>
            </a:pPr>
            <a:r>
              <a:rPr lang="en-US" dirty="0"/>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~/PBPM/data/raw/filters/my-file-containing-mutations.txt</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287464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err="1">
                <a:solidFill>
                  <a:schemeClr val="accent1"/>
                </a:solidFill>
                <a:latin typeface="Abadi Extra Light" panose="020B0604020202020204" pitchFamily="34" charset="0"/>
                <a:ea typeface="Tahoma"/>
                <a:cs typeface="Calibri Light" panose="020F0302020204030204" pitchFamily="34" charset="0"/>
              </a:rPr>
              <a:t>pLI</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09"/>
            <a:ext cx="8334280" cy="18920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a:t>
            </a:r>
            <a:r>
              <a:rPr lang="en-US" sz="2000" spc="-1" dirty="0" err="1">
                <a:solidFill>
                  <a:schemeClr val="tx2"/>
                </a:solidFill>
                <a:latin typeface="Abadi Extra Light" panose="020B0604020202020204" pitchFamily="34" charset="0"/>
                <a:ea typeface="Tahoma"/>
                <a:cs typeface="Calibri Light" panose="020F0302020204030204" pitchFamily="34" charset="0"/>
              </a:rPr>
              <a:t>pLI</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pli</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0.6</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5869EA53-7B7E-4870-8336-D24D39865CEE}"/>
              </a:ext>
            </a:extLst>
          </p:cNvPr>
          <p:cNvSpPr/>
          <p:nvPr/>
        </p:nvSpPr>
        <p:spPr>
          <a:xfrm>
            <a:off x="250920" y="353629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err="1">
                <a:solidFill>
                  <a:schemeClr val="accent1"/>
                </a:solidFill>
                <a:latin typeface="Abadi Extra Light" panose="020B0604020202020204" pitchFamily="34" charset="0"/>
                <a:ea typeface="Tahoma"/>
                <a:cs typeface="Calibri Light" panose="020F0302020204030204" pitchFamily="34" charset="0"/>
              </a:rPr>
              <a:t>pRecessive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96518C84-16EE-4B11-A2BF-49F4202C6A11}"/>
              </a:ext>
            </a:extLst>
          </p:cNvPr>
          <p:cNvSpPr/>
          <p:nvPr/>
        </p:nvSpPr>
        <p:spPr>
          <a:xfrm>
            <a:off x="250920" y="3983862"/>
            <a:ext cx="8334280" cy="18479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a specified </a:t>
            </a:r>
            <a:r>
              <a:rPr lang="en-US" sz="2000" spc="-1" dirty="0" err="1">
                <a:solidFill>
                  <a:schemeClr val="tx2"/>
                </a:solidFill>
                <a:latin typeface="Abadi Extra Light" panose="020B0604020202020204" pitchFamily="34" charset="0"/>
                <a:ea typeface="Tahoma"/>
                <a:cs typeface="Calibri Light" panose="020F0302020204030204" pitchFamily="34" charset="0"/>
              </a:rPr>
              <a:t>pRecessive</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pr</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0.6</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226240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stomShape 2">
            <a:extLst>
              <a:ext uri="{FF2B5EF4-FFF2-40B4-BE49-F238E27FC236}">
                <a16:creationId xmlns:a16="http://schemas.microsoft.com/office/drawing/2014/main" id="{5869EA53-7B7E-4870-8336-D24D39865CEE}"/>
              </a:ext>
            </a:extLst>
          </p:cNvPr>
          <p:cNvSpPr/>
          <p:nvPr/>
        </p:nvSpPr>
        <p:spPr>
          <a:xfrm>
            <a:off x="250920" y="156525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Max control AF</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96518C84-16EE-4B11-A2BF-49F4202C6A11}"/>
              </a:ext>
            </a:extLst>
          </p:cNvPr>
          <p:cNvSpPr/>
          <p:nvPr/>
        </p:nvSpPr>
        <p:spPr>
          <a:xfrm>
            <a:off x="250920" y="2012822"/>
            <a:ext cx="8334280" cy="222389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less or equal than a </a:t>
            </a:r>
            <a:r>
              <a:rPr lang="en-US" sz="2000" spc="-1" dirty="0" err="1">
                <a:solidFill>
                  <a:schemeClr val="tx2"/>
                </a:solidFill>
                <a:latin typeface="Abadi Extra Light" panose="020B0604020202020204" pitchFamily="34" charset="0"/>
                <a:ea typeface="Tahoma"/>
                <a:cs typeface="Calibri Light" panose="020F0302020204030204" pitchFamily="34" charset="0"/>
              </a:rPr>
              <a:t>max_control_AF</a:t>
            </a:r>
            <a:r>
              <a:rPr lang="en-US" sz="2000" spc="-1" dirty="0">
                <a:solidFill>
                  <a:schemeClr val="tx2"/>
                </a:solidFill>
                <a:latin typeface="Abadi Extra Light" panose="020B0604020202020204" pitchFamily="34" charset="0"/>
                <a:ea typeface="Tahoma"/>
                <a:cs typeface="Calibri Light" panose="020F0302020204030204" pitchFamily="34" charset="0"/>
              </a:rPr>
              <a:t> threshold. Example:  </a:t>
            </a:r>
          </a:p>
          <a:p>
            <a:pPr algn="just">
              <a:lnSpc>
                <a:spcPct val="90000"/>
              </a:lnSpc>
            </a:pPr>
            <a:endParaRPr lang="en-US" sz="16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af</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0.3</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6" name="CustomShape 2">
            <a:extLst>
              <a:ext uri="{FF2B5EF4-FFF2-40B4-BE49-F238E27FC236}">
                <a16:creationId xmlns:a16="http://schemas.microsoft.com/office/drawing/2014/main" id="{FCB4FA09-9D0C-490C-A91B-65A8E4A8B5B6}"/>
              </a:ext>
            </a:extLst>
          </p:cNvPr>
          <p:cNvSpPr/>
          <p:nvPr/>
        </p:nvSpPr>
        <p:spPr>
          <a:xfrm>
            <a:off x="250920" y="347636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err="1">
                <a:solidFill>
                  <a:schemeClr val="accent1"/>
                </a:solidFill>
                <a:latin typeface="Abadi Extra Light" panose="020B0604020202020204" pitchFamily="34" charset="0"/>
                <a:ea typeface="Tahoma"/>
                <a:cs typeface="Calibri Light" panose="020F0302020204030204" pitchFamily="34" charset="0"/>
              </a:rPr>
              <a:t>PolyPhen</a:t>
            </a: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 predictions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7" name="CustomShape 2">
            <a:extLst>
              <a:ext uri="{FF2B5EF4-FFF2-40B4-BE49-F238E27FC236}">
                <a16:creationId xmlns:a16="http://schemas.microsoft.com/office/drawing/2014/main" id="{451ECAEC-1DA7-453E-B342-957758C7B5F4}"/>
              </a:ext>
            </a:extLst>
          </p:cNvPr>
          <p:cNvSpPr/>
          <p:nvPr/>
        </p:nvSpPr>
        <p:spPr>
          <a:xfrm>
            <a:off x="250920" y="3923930"/>
            <a:ext cx="8334280" cy="23447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specific </a:t>
            </a:r>
            <a:r>
              <a:rPr lang="en-US" sz="2000" spc="-1" dirty="0" err="1">
                <a:solidFill>
                  <a:schemeClr val="tx2"/>
                </a:solidFill>
                <a:latin typeface="Abadi Extra Light" panose="020B0604020202020204" pitchFamily="34" charset="0"/>
                <a:ea typeface="Tahoma"/>
                <a:cs typeface="Calibri Light" panose="020F0302020204030204" pitchFamily="34" charset="0"/>
              </a:rPr>
              <a:t>PolyPhen</a:t>
            </a:r>
            <a:r>
              <a:rPr lang="en-US" sz="2000" spc="-1" dirty="0">
                <a:solidFill>
                  <a:schemeClr val="tx2"/>
                </a:solidFill>
                <a:latin typeface="Abadi Extra Light" panose="020B0604020202020204" pitchFamily="34" charset="0"/>
                <a:ea typeface="Tahoma"/>
                <a:cs typeface="Calibri Light" panose="020F0302020204030204" pitchFamily="34" charset="0"/>
              </a:rPr>
              <a:t> predictions. Available options for this parameter are: benign, possibly damaging, and probably damaging. Example:</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-pph2 "possibly damaging"</a:t>
            </a:r>
          </a:p>
          <a:p>
            <a:pPr algn="just">
              <a:lnSpc>
                <a:spcPct val="90000"/>
              </a:lnSpc>
            </a:pPr>
            <a:endParaRPr lang="en-US" sz="12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Note that qualifiers must be enclosed with quotes as they hold blank spaces.</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366890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stomShape 2">
            <a:extLst>
              <a:ext uri="{FF2B5EF4-FFF2-40B4-BE49-F238E27FC236}">
                <a16:creationId xmlns:a16="http://schemas.microsoft.com/office/drawing/2014/main" id="{A09836E9-1CA5-4502-BBFF-D90D9B024A2E}"/>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err="1">
                <a:solidFill>
                  <a:schemeClr val="accent1"/>
                </a:solidFill>
                <a:latin typeface="Abadi Extra Light" panose="020B0604020202020204" pitchFamily="34" charset="0"/>
                <a:ea typeface="Tahoma"/>
                <a:cs typeface="Calibri Light" panose="020F0302020204030204" pitchFamily="34" charset="0"/>
              </a:rPr>
              <a:t>PolyPhen</a:t>
            </a: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 predictions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0" name="CustomShape 2">
            <a:extLst>
              <a:ext uri="{FF2B5EF4-FFF2-40B4-BE49-F238E27FC236}">
                <a16:creationId xmlns:a16="http://schemas.microsoft.com/office/drawing/2014/main" id="{D3B4E2D7-99F1-4318-AE80-3220B6CBD2F6}"/>
              </a:ext>
            </a:extLst>
          </p:cNvPr>
          <p:cNvSpPr/>
          <p:nvPr/>
        </p:nvSpPr>
        <p:spPr>
          <a:xfrm>
            <a:off x="250920" y="2024010"/>
            <a:ext cx="8334280" cy="21923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qualifier, you must separate their labels with comma and without spaces while keeping the quotes:</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-pph2 "probably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damaging,possibly</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damaging"</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
        <p:nvSpPr>
          <p:cNvPr id="9" name="CustomShape 2">
            <a:extLst>
              <a:ext uri="{FF2B5EF4-FFF2-40B4-BE49-F238E27FC236}">
                <a16:creationId xmlns:a16="http://schemas.microsoft.com/office/drawing/2014/main" id="{B76AFD64-1D33-4864-889C-0B3EEA31485A}"/>
              </a:ext>
            </a:extLst>
          </p:cNvPr>
          <p:cNvSpPr/>
          <p:nvPr/>
        </p:nvSpPr>
        <p:spPr>
          <a:xfrm>
            <a:off x="250920" y="324268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MPC</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2" name="CustomShape 2">
            <a:extLst>
              <a:ext uri="{FF2B5EF4-FFF2-40B4-BE49-F238E27FC236}">
                <a16:creationId xmlns:a16="http://schemas.microsoft.com/office/drawing/2014/main" id="{CFBA5B0B-1E9C-4BBB-9B99-6B750B67887F}"/>
              </a:ext>
            </a:extLst>
          </p:cNvPr>
          <p:cNvSpPr/>
          <p:nvPr/>
        </p:nvSpPr>
        <p:spPr>
          <a:xfrm>
            <a:off x="250920" y="3690250"/>
            <a:ext cx="8334280" cy="21923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with values greater than or equal to a specified MPC threshold.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mpc</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0.7</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479727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stomShape 2">
            <a:extLst>
              <a:ext uri="{FF2B5EF4-FFF2-40B4-BE49-F238E27FC236}">
                <a16:creationId xmlns:a16="http://schemas.microsoft.com/office/drawing/2014/main" id="{3C8C4346-CD7B-4231-85EB-7B150AC67FEE}"/>
              </a:ext>
            </a:extLst>
          </p:cNvPr>
          <p:cNvSpPr/>
          <p:nvPr/>
        </p:nvSpPr>
        <p:spPr>
          <a:xfrm>
            <a:off x="250920" y="165146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Adjusted consequence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15" name="CustomShape 2">
            <a:extLst>
              <a:ext uri="{FF2B5EF4-FFF2-40B4-BE49-F238E27FC236}">
                <a16:creationId xmlns:a16="http://schemas.microsoft.com/office/drawing/2014/main" id="{5F2F4259-9275-483E-86DE-C438F4E64FE2}"/>
              </a:ext>
            </a:extLst>
          </p:cNvPr>
          <p:cNvSpPr/>
          <p:nvPr/>
        </p:nvSpPr>
        <p:spPr>
          <a:xfrm>
            <a:off x="250920" y="2034086"/>
            <a:ext cx="8334280" cy="377743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filter records by specific adjusted consequence labels. Available options for this parameter include: PTV, Missense3, Missense, etc. Example: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adj_csq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PTV</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To filter by more than one adjusted consequence, you must separate their labels with comma: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400" b="1" spc="-1" dirty="0" err="1">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adj_csq</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Missense3,Missense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076672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72463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Besides filtering, this protocol allows to extract an intermediate matrix used to compute the final PBPMs. This matrix serves as raw data for individual exploratory analysis, and can be also appended to an existing dataset of the same nature.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By default, this </a:t>
            </a:r>
            <a:r>
              <a:rPr lang="en-US" sz="2000" spc="-1" dirty="0" err="1">
                <a:solidFill>
                  <a:schemeClr val="tx2"/>
                </a:solidFill>
                <a:latin typeface="Abadi Extra Light" panose="020B0604020202020204" pitchFamily="34" charset="0"/>
                <a:ea typeface="Tahoma"/>
                <a:cs typeface="Calibri Light" panose="020F0302020204030204" pitchFamily="34" charset="0"/>
              </a:rPr>
              <a:t>boolean</a:t>
            </a:r>
            <a:r>
              <a:rPr lang="en-US" sz="2000" spc="-1" dirty="0">
                <a:solidFill>
                  <a:schemeClr val="tx2"/>
                </a:solidFill>
                <a:latin typeface="Abadi Extra Light" panose="020B0604020202020204" pitchFamily="34" charset="0"/>
                <a:ea typeface="Tahoma"/>
                <a:cs typeface="Calibri Light" panose="020F0302020204030204" pitchFamily="34" charset="0"/>
              </a:rPr>
              <a:t> parameter is set to </a:t>
            </a:r>
            <a:r>
              <a:rPr lang="en-US" sz="2000" b="1" spc="-1" dirty="0">
                <a:solidFill>
                  <a:schemeClr val="tx2"/>
                </a:solidFill>
                <a:latin typeface="Abadi Extra Light" panose="020B0604020202020204" pitchFamily="34" charset="0"/>
                <a:ea typeface="Tahoma"/>
                <a:cs typeface="Calibri Light" panose="020F0302020204030204" pitchFamily="34" charset="0"/>
              </a:rPr>
              <a:t>False</a:t>
            </a:r>
            <a:r>
              <a:rPr lang="en-US" sz="2000" spc="-1" dirty="0">
                <a:solidFill>
                  <a:schemeClr val="tx2"/>
                </a:solidFill>
                <a:latin typeface="Abadi Extra Light" panose="020B0604020202020204" pitchFamily="34" charset="0"/>
                <a:ea typeface="Tahoma"/>
                <a:cs typeface="Calibri Light" panose="020F0302020204030204" pitchFamily="34" charset="0"/>
              </a:rPr>
              <a:t>, case in which only a final PBPM will be downloaded and a copy of the intermediate matrix will not be saved. To download this dataset, as well as the final PBPM, a </a:t>
            </a:r>
            <a:r>
              <a:rPr lang="en-US" sz="2000" b="1" spc="-1" dirty="0">
                <a:solidFill>
                  <a:schemeClr val="tx2"/>
                </a:solidFill>
                <a:latin typeface="Abadi Extra Light" panose="020B0604020202020204" pitchFamily="34" charset="0"/>
                <a:ea typeface="Tahoma"/>
                <a:cs typeface="Calibri Light" panose="020F0302020204030204" pitchFamily="34" charset="0"/>
              </a:rPr>
              <a:t>True</a:t>
            </a:r>
            <a:r>
              <a:rPr lang="en-US" sz="2000" spc="-1" dirty="0">
                <a:solidFill>
                  <a:schemeClr val="tx2"/>
                </a:solidFill>
                <a:latin typeface="Abadi Extra Light" panose="020B0604020202020204" pitchFamily="34" charset="0"/>
                <a:ea typeface="Tahoma"/>
                <a:cs typeface="Calibri Light" panose="020F0302020204030204" pitchFamily="34" charset="0"/>
              </a:rPr>
              <a:t> must be explicit by typing the parameter </a:t>
            </a:r>
            <a:r>
              <a:rPr lang="en-US" sz="2000" b="1" spc="-1" dirty="0">
                <a:solidFill>
                  <a:schemeClr val="tx2"/>
                </a:solidFill>
                <a:latin typeface="Abadi Extra Light" panose="020B0604020202020204" pitchFamily="34" charset="0"/>
                <a:ea typeface="Tahoma"/>
                <a:cs typeface="Calibri Light" panose="020F0302020204030204" pitchFamily="34" charset="0"/>
              </a:rPr>
              <a:t>–</a:t>
            </a:r>
            <a:r>
              <a:rPr lang="en-US" sz="2000" b="1" spc="-1" dirty="0" err="1">
                <a:solidFill>
                  <a:schemeClr val="tx2"/>
                </a:solidFill>
                <a:latin typeface="Abadi Extra Light" panose="020B0604020202020204" pitchFamily="34" charset="0"/>
                <a:ea typeface="Tahoma"/>
                <a:cs typeface="Calibri Light" panose="020F0302020204030204" pitchFamily="34" charset="0"/>
              </a:rPr>
              <a:t>im</a:t>
            </a:r>
            <a:r>
              <a:rPr lang="en-US" sz="2000" spc="-1" dirty="0">
                <a:solidFill>
                  <a:schemeClr val="tx2"/>
                </a:solidFill>
                <a:latin typeface="Abadi Extra Light" panose="020B0604020202020204" pitchFamily="34" charset="0"/>
                <a:ea typeface="Tahoma"/>
                <a:cs typeface="Calibri Light" panose="020F0302020204030204" pitchFamily="34" charset="0"/>
              </a:rPr>
              <a:t> or</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1000" b="1" spc="-1" dirty="0">
                <a:solidFill>
                  <a:schemeClr val="tx2"/>
                </a:solidFill>
                <a:latin typeface="Abadi Extra Light" panose="020B0604020202020204" pitchFamily="34" charset="0"/>
                <a:ea typeface="Tahoma"/>
                <a:cs typeface="Calibri Light" panose="020F0302020204030204" pitchFamily="34" charset="0"/>
              </a:rPr>
              <a:t> </a:t>
            </a:r>
            <a:r>
              <a:rPr lang="en-US" sz="2000" b="1" spc="-1" dirty="0">
                <a:solidFill>
                  <a:schemeClr val="tx2"/>
                </a:solidFill>
                <a:latin typeface="Abadi Extra Light" panose="020B0604020202020204" pitchFamily="34" charset="0"/>
                <a:ea typeface="Tahoma"/>
                <a:cs typeface="Calibri Light" panose="020F0302020204030204" pitchFamily="34" charset="0"/>
              </a:rPr>
              <a:t>-</a:t>
            </a:r>
            <a:r>
              <a:rPr lang="en-US" sz="2000" b="1" spc="-1" dirty="0" err="1">
                <a:solidFill>
                  <a:schemeClr val="tx2"/>
                </a:solidFill>
                <a:latin typeface="Abadi Extra Light" panose="020B0604020202020204" pitchFamily="34" charset="0"/>
                <a:ea typeface="Tahoma"/>
                <a:cs typeface="Calibri Light" panose="020F0302020204030204" pitchFamily="34" charset="0"/>
              </a:rPr>
              <a:t>intermediate_matrix</a:t>
            </a:r>
            <a:r>
              <a:rPr lang="en-US" sz="2000" b="1" spc="-1" dirty="0">
                <a:solidFill>
                  <a:schemeClr val="tx2"/>
                </a:solidFill>
                <a:latin typeface="Abadi Extra Light" panose="020B0604020202020204" pitchFamily="34" charset="0"/>
                <a:ea typeface="Tahoma"/>
                <a:cs typeface="Calibri Light" panose="020F0302020204030204" pitchFamily="34" charset="0"/>
              </a:rPr>
              <a:t>.</a:t>
            </a:r>
          </a:p>
          <a:p>
            <a:pPr algn="just">
              <a:lnSpc>
                <a:spcPct val="90000"/>
              </a:lnSpc>
            </a:pPr>
            <a:endParaRPr lang="en-US" sz="1600" b="1"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im</a:t>
            </a:r>
            <a:endPar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endParaRPr lang="en-US" sz="11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err="1">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intermediate_matrix</a:t>
            </a:r>
            <a:endPar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endParaRP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54928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base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Download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922F8043-3368-41CA-9E42-72857A31E2EE}"/>
              </a:ext>
            </a:extLst>
          </p:cNvPr>
          <p:cNvPicPr>
            <a:picLocks noChangeAspect="1"/>
          </p:cNvPicPr>
          <p:nvPr/>
        </p:nvPicPr>
        <p:blipFill>
          <a:blip r:embed="rId2"/>
          <a:stretch>
            <a:fillRect/>
          </a:stretch>
        </p:blipFill>
        <p:spPr>
          <a:xfrm>
            <a:off x="345440" y="3185343"/>
            <a:ext cx="8492025" cy="2096218"/>
          </a:xfrm>
          <a:prstGeom prst="rect">
            <a:avLst/>
          </a:prstGeom>
        </p:spPr>
      </p:pic>
      <p:sp>
        <p:nvSpPr>
          <p:cNvPr id="9" name="Rectangle 8">
            <a:extLst>
              <a:ext uri="{FF2B5EF4-FFF2-40B4-BE49-F238E27FC236}">
                <a16:creationId xmlns:a16="http://schemas.microsoft.com/office/drawing/2014/main" id="{BAC76100-0BC8-401E-93A3-E0160D01079B}"/>
              </a:ext>
            </a:extLst>
          </p:cNvPr>
          <p:cNvSpPr/>
          <p:nvPr/>
        </p:nvSpPr>
        <p:spPr>
          <a:xfrm>
            <a:off x="345440" y="3151683"/>
            <a:ext cx="8492025" cy="216357"/>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Bent-Up 11">
            <a:extLst>
              <a:ext uri="{FF2B5EF4-FFF2-40B4-BE49-F238E27FC236}">
                <a16:creationId xmlns:a16="http://schemas.microsoft.com/office/drawing/2014/main" id="{EBE89D8D-27FA-4E78-93AC-100502105177}"/>
              </a:ext>
            </a:extLst>
          </p:cNvPr>
          <p:cNvSpPr/>
          <p:nvPr/>
        </p:nvSpPr>
        <p:spPr>
          <a:xfrm rot="5400000">
            <a:off x="613222" y="5485451"/>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stomShape 2">
            <a:extLst>
              <a:ext uri="{FF2B5EF4-FFF2-40B4-BE49-F238E27FC236}">
                <a16:creationId xmlns:a16="http://schemas.microsoft.com/office/drawing/2014/main" id="{7FCD225F-74C1-471E-9D7F-1D0FA9E110A5}"/>
              </a:ext>
            </a:extLst>
          </p:cNvPr>
          <p:cNvSpPr/>
          <p:nvPr/>
        </p:nvSpPr>
        <p:spPr>
          <a:xfrm>
            <a:off x="1005840" y="5355861"/>
            <a:ext cx="4622800"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Patient-level data for more in-depth information</a:t>
            </a:r>
          </a:p>
        </p:txBody>
      </p:sp>
    </p:spTree>
    <p:extLst>
      <p:ext uri="{BB962C8B-B14F-4D97-AF65-F5344CB8AC3E}">
        <p14:creationId xmlns:p14="http://schemas.microsoft.com/office/powerpoint/2010/main" val="155758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33855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append the intermediate matrix of the current session to the file provided, which is expected to be another intermediate matrix. Appended information will be used to compute the final PBPM.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 path-to-my-historic-file.txt</a:t>
            </a:r>
          </a:p>
          <a:p>
            <a:pPr algn="just">
              <a:lnSpc>
                <a:spcPct val="90000"/>
              </a:lnSpc>
            </a:pP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a:t>
            </a:r>
            <a:r>
              <a:rPr lang="en-US" sz="10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1"/>
                </a:solidFill>
                <a:latin typeface="Source Sans Pro Light" panose="020B0403030403020204" pitchFamily="34" charset="0"/>
                <a:ea typeface="Source Sans Pro Light" panose="020B0403030403020204" pitchFamily="34" charset="0"/>
                <a:cs typeface="Calibri Light" panose="020F0302020204030204" pitchFamily="34" charset="0"/>
              </a:rPr>
              <a:t>-append path-to-my-historic-file.txt</a:t>
            </a: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appended file will be overwritten and it will contain the commands used to generate all the information of the intermediate matrix.</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2826106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49367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An appended intermediate matrix looks like:</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Append intermediate matrix</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pic>
        <p:nvPicPr>
          <p:cNvPr id="2" name="Picture 1">
            <a:extLst>
              <a:ext uri="{FF2B5EF4-FFF2-40B4-BE49-F238E27FC236}">
                <a16:creationId xmlns:a16="http://schemas.microsoft.com/office/drawing/2014/main" id="{B8979319-AF49-48C9-8626-68F3C7A7C262}"/>
              </a:ext>
            </a:extLst>
          </p:cNvPr>
          <p:cNvPicPr>
            <a:picLocks noChangeAspect="1"/>
          </p:cNvPicPr>
          <p:nvPr/>
        </p:nvPicPr>
        <p:blipFill>
          <a:blip r:embed="rId2"/>
          <a:stretch>
            <a:fillRect/>
          </a:stretch>
        </p:blipFill>
        <p:spPr>
          <a:xfrm>
            <a:off x="301720" y="3099800"/>
            <a:ext cx="8408480" cy="2102120"/>
          </a:xfrm>
          <a:prstGeom prst="rect">
            <a:avLst/>
          </a:prstGeom>
        </p:spPr>
      </p:pic>
      <p:sp>
        <p:nvSpPr>
          <p:cNvPr id="6" name="Rectangle 5">
            <a:extLst>
              <a:ext uri="{FF2B5EF4-FFF2-40B4-BE49-F238E27FC236}">
                <a16:creationId xmlns:a16="http://schemas.microsoft.com/office/drawing/2014/main" id="{D90C14BE-45CC-4198-9EEE-9633B4254E66}"/>
              </a:ext>
            </a:extLst>
          </p:cNvPr>
          <p:cNvSpPr/>
          <p:nvPr/>
        </p:nvSpPr>
        <p:spPr>
          <a:xfrm>
            <a:off x="325120" y="3089641"/>
            <a:ext cx="8492025" cy="499452"/>
          </a:xfrm>
          <a:prstGeom prst="rect">
            <a:avLst/>
          </a:prstGeom>
          <a:solidFill>
            <a:schemeClr val="accent2">
              <a:lumMod val="40000"/>
              <a:lumOff val="60000"/>
              <a:alpha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Bent-Up 6">
            <a:extLst>
              <a:ext uri="{FF2B5EF4-FFF2-40B4-BE49-F238E27FC236}">
                <a16:creationId xmlns:a16="http://schemas.microsoft.com/office/drawing/2014/main" id="{400F7DB0-BAF7-4CC4-9A4D-50550DDFC5B5}"/>
              </a:ext>
            </a:extLst>
          </p:cNvPr>
          <p:cNvSpPr/>
          <p:nvPr/>
        </p:nvSpPr>
        <p:spPr>
          <a:xfrm rot="5400000">
            <a:off x="613222" y="5353546"/>
            <a:ext cx="309882" cy="314512"/>
          </a:xfrm>
          <a:prstGeom prst="bentUp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stomShape 2">
            <a:extLst>
              <a:ext uri="{FF2B5EF4-FFF2-40B4-BE49-F238E27FC236}">
                <a16:creationId xmlns:a16="http://schemas.microsoft.com/office/drawing/2014/main" id="{4A4A1531-6F64-46AF-89AF-12E166995A22}"/>
              </a:ext>
            </a:extLst>
          </p:cNvPr>
          <p:cNvSpPr/>
          <p:nvPr/>
        </p:nvSpPr>
        <p:spPr>
          <a:xfrm>
            <a:off x="955898" y="5222240"/>
            <a:ext cx="6410101" cy="74384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This is an appended-like intermediate matrix coming from three different runs </a:t>
            </a:r>
          </a:p>
        </p:txBody>
      </p:sp>
    </p:spTree>
    <p:extLst>
      <p:ext uri="{BB962C8B-B14F-4D97-AF65-F5344CB8AC3E}">
        <p14:creationId xmlns:p14="http://schemas.microsoft.com/office/powerpoint/2010/main" val="2718501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other useful parameters</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2"/>
            <a:ext cx="8476520" cy="22514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Optional argument to specify the path where the user wants to store the final PBPM generated. Example:</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0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-path location-where-I-want-to-save-PBPM</a:t>
            </a:r>
          </a:p>
          <a:p>
            <a:pPr algn="just">
              <a:lnSpc>
                <a:spcPct val="90000"/>
              </a:lnSpc>
            </a:pPr>
            <a:endPar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When not specified, the final PBPMs will be stored in the </a:t>
            </a:r>
            <a:r>
              <a:rPr lang="en-US" sz="2000" b="1" spc="-1" dirty="0">
                <a:solidFill>
                  <a:schemeClr val="tx2"/>
                </a:solidFill>
                <a:latin typeface="Abadi Extra Light" panose="020B0604020202020204" pitchFamily="34" charset="0"/>
                <a:ea typeface="Tahoma"/>
                <a:cs typeface="Calibri Light" panose="020F0302020204030204" pitchFamily="34" charset="0"/>
              </a:rPr>
              <a:t>analysis</a:t>
            </a:r>
            <a:r>
              <a:rPr lang="en-US" sz="2000" spc="-1" dirty="0">
                <a:solidFill>
                  <a:schemeClr val="tx2"/>
                </a:solidFill>
                <a:latin typeface="Abadi Extra Light" panose="020B0604020202020204" pitchFamily="34" charset="0"/>
                <a:ea typeface="Tahoma"/>
                <a:cs typeface="Calibri Light" panose="020F0302020204030204" pitchFamily="34" charset="0"/>
              </a:rPr>
              <a:t> folder of the project.</a:t>
            </a:r>
          </a:p>
        </p:txBody>
      </p:sp>
      <p:sp>
        <p:nvSpPr>
          <p:cNvPr id="11" name="CustomShape 2">
            <a:extLst>
              <a:ext uri="{FF2B5EF4-FFF2-40B4-BE49-F238E27FC236}">
                <a16:creationId xmlns:a16="http://schemas.microsoft.com/office/drawing/2014/main" id="{A09836E9-1CA5-4502-BBFF-D90D9B024A2E}"/>
              </a:ext>
            </a:extLst>
          </p:cNvPr>
          <p:cNvSpPr/>
          <p:nvPr/>
        </p:nvSpPr>
        <p:spPr>
          <a:xfrm>
            <a:off x="250920" y="2096512"/>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nSpc>
                <a:spcPct val="90000"/>
              </a:lnSpc>
              <a:buFont typeface="Arial" panose="020B0604020202020204" pitchFamily="34" charset="0"/>
              <a:buChar char="•"/>
            </a:pPr>
            <a:r>
              <a:rPr lang="en-US" sz="2400" b="1" spc="-1" dirty="0">
                <a:solidFill>
                  <a:schemeClr val="accent1"/>
                </a:solidFill>
                <a:latin typeface="Abadi Extra Light" panose="020B0604020202020204" pitchFamily="34" charset="0"/>
                <a:ea typeface="Tahoma"/>
                <a:cs typeface="Calibri Light" panose="020F0302020204030204" pitchFamily="34" charset="0"/>
              </a:rPr>
              <a:t>Path to store final PBPM</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Tree>
    <p:extLst>
      <p:ext uri="{BB962C8B-B14F-4D97-AF65-F5344CB8AC3E}">
        <p14:creationId xmlns:p14="http://schemas.microsoft.com/office/powerpoint/2010/main" val="2886555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PBPM: choosing the </a:t>
            </a:r>
            <a:r>
              <a:rPr lang="en-US" sz="2400" b="1" spc="-1" dirty="0">
                <a:solidFill>
                  <a:schemeClr val="accent1"/>
                </a:solidFill>
                <a:latin typeface="Abadi Extra Light" panose="020B0604020202020204" pitchFamily="34" charset="0"/>
                <a:ea typeface="Tahoma"/>
                <a:cs typeface="Calibri Light" panose="020F0302020204030204" pitchFamily="34" charset="0"/>
              </a:rPr>
              <a:t>final PBPM</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544081"/>
            <a:ext cx="8476520" cy="345031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The argument </a:t>
            </a:r>
            <a:r>
              <a:rPr lang="en-US" sz="2000" b="1" spc="-1" dirty="0">
                <a:solidFill>
                  <a:schemeClr val="tx2"/>
                </a:solidFill>
                <a:latin typeface="Abadi Extra Light" panose="020B0604020202020204" pitchFamily="34" charset="0"/>
                <a:ea typeface="Tahoma"/>
                <a:cs typeface="Calibri Light" panose="020F0302020204030204" pitchFamily="34" charset="0"/>
              </a:rPr>
              <a:t>–m </a:t>
            </a:r>
            <a:r>
              <a:rPr lang="en-US" sz="2000" spc="-1" dirty="0">
                <a:solidFill>
                  <a:schemeClr val="tx2"/>
                </a:solidFill>
                <a:latin typeface="Abadi Extra Light" panose="020B0604020202020204" pitchFamily="34" charset="0"/>
                <a:ea typeface="Tahoma"/>
                <a:cs typeface="Calibri Light" panose="020F0302020204030204" pitchFamily="34" charset="0"/>
              </a:rPr>
              <a:t>(also </a:t>
            </a:r>
            <a:r>
              <a:rPr lang="en-US" sz="2000" b="1" spc="-1" dirty="0">
                <a:solidFill>
                  <a:schemeClr val="tx2"/>
                </a:solidFill>
                <a:latin typeface="Abadi Extra Light" panose="020B0604020202020204" pitchFamily="34" charset="0"/>
                <a:ea typeface="Tahoma"/>
                <a:cs typeface="Calibri Light" panose="020F0302020204030204" pitchFamily="34" charset="0"/>
              </a:rPr>
              <a:t>-</a:t>
            </a:r>
            <a:r>
              <a:rPr lang="en-US" sz="900" b="1" spc="-1" dirty="0">
                <a:solidFill>
                  <a:schemeClr val="tx2"/>
                </a:solidFill>
                <a:latin typeface="Abadi Extra Light" panose="020B0604020202020204" pitchFamily="34" charset="0"/>
                <a:ea typeface="Tahoma"/>
                <a:cs typeface="Calibri Light" panose="020F0302020204030204" pitchFamily="34" charset="0"/>
              </a:rPr>
              <a:t> </a:t>
            </a:r>
            <a:r>
              <a:rPr lang="en-US" sz="2000" b="1" spc="-1" dirty="0">
                <a:solidFill>
                  <a:schemeClr val="tx2"/>
                </a:solidFill>
                <a:latin typeface="Abadi Extra Light" panose="020B0604020202020204" pitchFamily="34" charset="0"/>
                <a:ea typeface="Tahoma"/>
                <a:cs typeface="Calibri Light" panose="020F0302020204030204" pitchFamily="34" charset="0"/>
              </a:rPr>
              <a:t>-matrix</a:t>
            </a:r>
            <a:r>
              <a:rPr lang="en-US" sz="2000" spc="-1" dirty="0">
                <a:solidFill>
                  <a:schemeClr val="tx2"/>
                </a:solidFill>
                <a:latin typeface="Abadi Extra Light" panose="020B0604020202020204" pitchFamily="34" charset="0"/>
                <a:ea typeface="Tahoma"/>
                <a:cs typeface="Calibri Light" panose="020F0302020204030204" pitchFamily="34" charset="0"/>
              </a:rPr>
              <a:t>)</a:t>
            </a:r>
            <a:r>
              <a:rPr lang="en-US" sz="2000" b="1"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a:solidFill>
                  <a:schemeClr val="tx2"/>
                </a:solidFill>
                <a:latin typeface="Abadi Extra Light" panose="020B0604020202020204" pitchFamily="34" charset="0"/>
                <a:ea typeface="Tahoma"/>
                <a:cs typeface="Calibri Light" panose="020F0302020204030204" pitchFamily="34" charset="0"/>
              </a:rPr>
              <a:t>will allow choosing the type of matrix that is desired. When not specified, by default, this parameter will extract a binary PBPM.</a:t>
            </a:r>
          </a:p>
          <a:p>
            <a:pPr algn="just">
              <a:lnSpc>
                <a:spcPct val="90000"/>
              </a:lnSpc>
            </a:pPr>
            <a:endParaRPr lang="en-US" sz="20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explicitly generate a </a:t>
            </a:r>
            <a:r>
              <a:rPr lang="en-US" sz="2000" b="1" spc="-1" dirty="0">
                <a:solidFill>
                  <a:schemeClr val="accent2"/>
                </a:solidFill>
                <a:latin typeface="Abadi Extra Light" panose="020B0604020202020204" pitchFamily="34" charset="0"/>
                <a:ea typeface="Tahoma"/>
                <a:cs typeface="Calibri Light" panose="020F0302020204030204" pitchFamily="34" charset="0"/>
              </a:rPr>
              <a:t>binary</a:t>
            </a:r>
            <a:r>
              <a:rPr lang="en-US" sz="2000" spc="-1" dirty="0">
                <a:solidFill>
                  <a:schemeClr val="tx2"/>
                </a:solidFill>
                <a:latin typeface="Abadi Extra Light" panose="020B0604020202020204" pitchFamily="34" charset="0"/>
                <a:ea typeface="Tahoma"/>
                <a:cs typeface="Calibri Light" panose="020F0302020204030204" pitchFamily="34" charset="0"/>
              </a:rPr>
              <a:t> matrix :</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2"/>
                </a:solidFill>
                <a:latin typeface="Source Sans Pro Light" panose="020B0403030403020204" pitchFamily="34" charset="0"/>
                <a:ea typeface="Source Sans Pro Light" panose="020B0403030403020204" pitchFamily="34" charset="0"/>
                <a:cs typeface="Calibri Light" panose="020F0302020204030204" pitchFamily="34" charset="0"/>
              </a:rPr>
              <a:t>-m b</a:t>
            </a:r>
          </a:p>
          <a:p>
            <a:pPr algn="just">
              <a:lnSpc>
                <a:spcPct val="90000"/>
              </a:lnSpc>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a:t>
            </a:r>
            <a:r>
              <a:rPr lang="en-US" sz="2000" b="1" spc="-1" dirty="0">
                <a:solidFill>
                  <a:schemeClr val="tx2"/>
                </a:solidFill>
                <a:latin typeface="Abadi Extra Light" panose="020B0604020202020204" pitchFamily="34" charset="0"/>
                <a:ea typeface="Tahoma"/>
                <a:cs typeface="Calibri Light" panose="020F0302020204030204" pitchFamily="34" charset="0"/>
              </a:rPr>
              <a:t>numerical</a:t>
            </a:r>
            <a:r>
              <a:rPr lang="en-US" sz="2000" spc="-1" dirty="0">
                <a:solidFill>
                  <a:schemeClr val="tx2"/>
                </a:solidFill>
                <a:latin typeface="Abadi Extra Light" panose="020B0604020202020204" pitchFamily="34" charset="0"/>
                <a:ea typeface="Tahoma"/>
                <a:cs typeface="Calibri Light" panose="020F0302020204030204" pitchFamily="34" charset="0"/>
              </a:rPr>
              <a:t> matrix (not normalized): </a:t>
            </a:r>
          </a:p>
          <a:p>
            <a:pPr marL="342900" indent="-342900" algn="just">
              <a:lnSpc>
                <a:spcPct val="90000"/>
              </a:lnSpc>
              <a:buFont typeface="Arial" panose="020B0604020202020204" pitchFamily="34" charset="0"/>
              <a:buChar char="•"/>
            </a:pPr>
            <a:endParaRPr lang="en-US" sz="105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-m n</a:t>
            </a:r>
          </a:p>
          <a:p>
            <a:pPr marL="342900" indent="-342900" algn="just">
              <a:lnSpc>
                <a:spcPct val="90000"/>
              </a:lnSpc>
              <a:buFont typeface="Arial" panose="020B0604020202020204" pitchFamily="34" charset="0"/>
              <a:buChar char="•"/>
            </a:pPr>
            <a:endParaRPr lang="en-US" sz="1100" spc="-1" dirty="0">
              <a:solidFill>
                <a:schemeClr val="tx2"/>
              </a:solidFill>
              <a:latin typeface="Abadi Extra Light" panose="020B0604020202020204" pitchFamily="34" charset="0"/>
              <a:ea typeface="Tahoma"/>
              <a:cs typeface="Calibri Light" panose="020F0302020204030204" pitchFamily="34" charset="0"/>
            </a:endParaRPr>
          </a:p>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Example to generate a </a:t>
            </a:r>
            <a:r>
              <a:rPr lang="en-US" sz="2000" b="1" spc="-1" dirty="0">
                <a:solidFill>
                  <a:schemeClr val="accent3"/>
                </a:solidFill>
                <a:latin typeface="Abadi Extra Light" panose="020B0604020202020204" pitchFamily="34" charset="0"/>
                <a:ea typeface="Tahoma"/>
                <a:cs typeface="Calibri Light" panose="020F0302020204030204" pitchFamily="34" charset="0"/>
              </a:rPr>
              <a:t>normalized numerical </a:t>
            </a:r>
            <a:r>
              <a:rPr lang="en-US" sz="2000" spc="-1" dirty="0">
                <a:solidFill>
                  <a:schemeClr val="tx2"/>
                </a:solidFill>
                <a:latin typeface="Abadi Extra Light" panose="020B0604020202020204" pitchFamily="34" charset="0"/>
                <a:ea typeface="Tahoma"/>
                <a:cs typeface="Calibri Light" panose="020F0302020204030204" pitchFamily="34" charset="0"/>
              </a:rPr>
              <a:t>matrix: </a:t>
            </a:r>
          </a:p>
          <a:p>
            <a:pPr marL="342900" indent="-342900" algn="just">
              <a:lnSpc>
                <a:spcPct val="90000"/>
              </a:lnSpc>
              <a:buFont typeface="Arial" panose="020B0604020202020204" pitchFamily="34" charset="0"/>
              <a:buChar char="•"/>
            </a:pPr>
            <a:endParaRPr lang="en-US" sz="1050" spc="-1" dirty="0">
              <a:solidFill>
                <a:schemeClr val="tx2"/>
              </a:solidFill>
              <a:latin typeface="Abadi Extra Light" panose="020B0604020202020204" pitchFamily="34" charset="0"/>
              <a:ea typeface="Tahoma"/>
              <a:cs typeface="Calibri Light" panose="020F0302020204030204" pitchFamily="34" charset="0"/>
            </a:endParaRP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 python3 main.py  ~/PBPM/data/raw/mutations-file.txt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~/PBPM/data/raw/pathways/ </a:t>
            </a:r>
          </a:p>
          <a:p>
            <a:pPr algn="just">
              <a:lnSpc>
                <a:spcPct val="90000"/>
              </a:lnSpc>
            </a:pPr>
            <a:r>
              <a:rPr lang="en-US" sz="1400" b="1" spc="-1" dirty="0">
                <a:solidFill>
                  <a:schemeClr val="bg2">
                    <a:lumMod val="75000"/>
                  </a:schemeClr>
                </a:solidFill>
                <a:latin typeface="Source Sans Pro Light" panose="020B0403030403020204" pitchFamily="34" charset="0"/>
                <a:ea typeface="Source Sans Pro Light" panose="020B0403030403020204" pitchFamily="34" charset="0"/>
                <a:cs typeface="Calibri Light" panose="020F0302020204030204" pitchFamily="34" charset="0"/>
              </a:rPr>
              <a:t>                                               </a:t>
            </a:r>
            <a:r>
              <a:rPr lang="en-US" sz="1400" b="1" spc="-1" dirty="0">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rPr>
              <a:t>-m </a:t>
            </a:r>
            <a:r>
              <a:rPr lang="en-US" sz="1400" b="1" spc="-1" dirty="0" err="1">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rPr>
              <a:t>nn</a:t>
            </a:r>
            <a:endParaRPr lang="en-US" sz="1400" b="1" spc="-1" dirty="0">
              <a:solidFill>
                <a:schemeClr val="accent3"/>
              </a:solidFill>
              <a:latin typeface="Source Sans Pro Light" panose="020B0403030403020204" pitchFamily="34" charset="0"/>
              <a:ea typeface="Source Sans Pro Light" panose="020B0403030403020204" pitchFamily="34" charset="0"/>
              <a:cs typeface="Calibri Light" panose="020F0302020204030204" pitchFamily="34" charset="0"/>
            </a:endParaRPr>
          </a:p>
          <a:p>
            <a:pPr marL="342900" indent="-342900" algn="just">
              <a:lnSpc>
                <a:spcPct val="90000"/>
              </a:lnSpc>
              <a:buFont typeface="Arial" panose="020B0604020202020204" pitchFamily="34" charset="0"/>
              <a:buChar char="•"/>
            </a:pPr>
            <a:endParaRPr lang="en-US" sz="2000" spc="-1" dirty="0">
              <a:solidFill>
                <a:schemeClr val="tx2"/>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1928505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binary PBPM</a:t>
            </a:r>
          </a:p>
        </p:txBody>
      </p:sp>
      <p:pic>
        <p:nvPicPr>
          <p:cNvPr id="2" name="Picture 1">
            <a:extLst>
              <a:ext uri="{FF2B5EF4-FFF2-40B4-BE49-F238E27FC236}">
                <a16:creationId xmlns:a16="http://schemas.microsoft.com/office/drawing/2014/main" id="{A57CF161-E770-4687-8DE2-2B61FC5C49CE}"/>
              </a:ext>
            </a:extLst>
          </p:cNvPr>
          <p:cNvPicPr>
            <a:picLocks noChangeAspect="1"/>
          </p:cNvPicPr>
          <p:nvPr/>
        </p:nvPicPr>
        <p:blipFill>
          <a:blip r:embed="rId2"/>
          <a:stretch>
            <a:fillRect/>
          </a:stretch>
        </p:blipFill>
        <p:spPr>
          <a:xfrm>
            <a:off x="381000" y="2615778"/>
            <a:ext cx="8382000" cy="2850653"/>
          </a:xfrm>
          <a:prstGeom prst="rect">
            <a:avLst/>
          </a:prstGeom>
        </p:spPr>
      </p:pic>
    </p:spTree>
    <p:extLst>
      <p:ext uri="{BB962C8B-B14F-4D97-AF65-F5344CB8AC3E}">
        <p14:creationId xmlns:p14="http://schemas.microsoft.com/office/powerpoint/2010/main" val="974376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How do PBPMs look like?</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numerical PBPM</a:t>
            </a:r>
          </a:p>
        </p:txBody>
      </p:sp>
      <p:pic>
        <p:nvPicPr>
          <p:cNvPr id="3" name="Picture 2">
            <a:extLst>
              <a:ext uri="{FF2B5EF4-FFF2-40B4-BE49-F238E27FC236}">
                <a16:creationId xmlns:a16="http://schemas.microsoft.com/office/drawing/2014/main" id="{F4E9A8ED-E977-471E-8352-314275341A8B}"/>
              </a:ext>
            </a:extLst>
          </p:cNvPr>
          <p:cNvPicPr>
            <a:picLocks noChangeAspect="1"/>
          </p:cNvPicPr>
          <p:nvPr/>
        </p:nvPicPr>
        <p:blipFill>
          <a:blip r:embed="rId2"/>
          <a:stretch>
            <a:fillRect/>
          </a:stretch>
        </p:blipFill>
        <p:spPr>
          <a:xfrm>
            <a:off x="409940" y="2471578"/>
            <a:ext cx="8158480" cy="1593750"/>
          </a:xfrm>
          <a:prstGeom prst="rect">
            <a:avLst/>
          </a:prstGeom>
        </p:spPr>
      </p:pic>
      <p:pic>
        <p:nvPicPr>
          <p:cNvPr id="6" name="Picture 5">
            <a:extLst>
              <a:ext uri="{FF2B5EF4-FFF2-40B4-BE49-F238E27FC236}">
                <a16:creationId xmlns:a16="http://schemas.microsoft.com/office/drawing/2014/main" id="{339E0CC0-ACCE-4164-ACD8-76DF445E606B}"/>
              </a:ext>
            </a:extLst>
          </p:cNvPr>
          <p:cNvPicPr>
            <a:picLocks noChangeAspect="1"/>
          </p:cNvPicPr>
          <p:nvPr/>
        </p:nvPicPr>
        <p:blipFill>
          <a:blip r:embed="rId3"/>
          <a:stretch>
            <a:fillRect/>
          </a:stretch>
        </p:blipFill>
        <p:spPr>
          <a:xfrm>
            <a:off x="409940" y="4512897"/>
            <a:ext cx="8158480" cy="1513633"/>
          </a:xfrm>
          <a:prstGeom prst="rect">
            <a:avLst/>
          </a:prstGeom>
        </p:spPr>
      </p:pic>
      <p:sp>
        <p:nvSpPr>
          <p:cNvPr id="9" name="CustomShape 2">
            <a:extLst>
              <a:ext uri="{FF2B5EF4-FFF2-40B4-BE49-F238E27FC236}">
                <a16:creationId xmlns:a16="http://schemas.microsoft.com/office/drawing/2014/main" id="{7A6DFAAA-5F6E-4BA6-80A7-056DCCE219CC}"/>
              </a:ext>
            </a:extLst>
          </p:cNvPr>
          <p:cNvSpPr/>
          <p:nvPr/>
        </p:nvSpPr>
        <p:spPr>
          <a:xfrm>
            <a:off x="250920" y="4065328"/>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marL="342900" indent="-342900" algn="just">
              <a:lnSpc>
                <a:spcPct val="90000"/>
              </a:lnSpc>
              <a:buFont typeface="Arial" panose="020B0604020202020204" pitchFamily="34" charset="0"/>
              <a:buChar char="•"/>
            </a:pPr>
            <a:r>
              <a:rPr lang="en-US" sz="2000" spc="-1" dirty="0">
                <a:solidFill>
                  <a:schemeClr val="tx2"/>
                </a:solidFill>
                <a:latin typeface="Abadi Extra Light" panose="020B0604020202020204" pitchFamily="34" charset="0"/>
                <a:ea typeface="Tahoma"/>
                <a:cs typeface="Calibri Light" panose="020F0302020204030204" pitchFamily="34" charset="0"/>
              </a:rPr>
              <a:t>Overview of a normalized PBPM</a:t>
            </a:r>
          </a:p>
        </p:txBody>
      </p:sp>
    </p:spTree>
    <p:extLst>
      <p:ext uri="{BB962C8B-B14F-4D97-AF65-F5344CB8AC3E}">
        <p14:creationId xmlns:p14="http://schemas.microsoft.com/office/powerpoint/2010/main" val="2490873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79A51B-BD72-4466-9EFD-46348358A61E}"/>
              </a:ext>
            </a:extLst>
          </p:cNvPr>
          <p:cNvPicPr>
            <a:picLocks noChangeAspect="1"/>
          </p:cNvPicPr>
          <p:nvPr/>
        </p:nvPicPr>
        <p:blipFill>
          <a:blip r:embed="rId2"/>
          <a:stretch>
            <a:fillRect/>
          </a:stretch>
        </p:blipFill>
        <p:spPr>
          <a:xfrm>
            <a:off x="526736" y="2509773"/>
            <a:ext cx="1461811" cy="3753299"/>
          </a:xfrm>
          <a:prstGeom prst="rect">
            <a:avLst/>
          </a:prstGeom>
        </p:spPr>
      </p:pic>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What is the project organization?</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It has the </a:t>
            </a:r>
            <a:r>
              <a:rPr lang="en-US" sz="2000" spc="-1" dirty="0" err="1">
                <a:solidFill>
                  <a:schemeClr val="tx2"/>
                </a:solidFill>
                <a:latin typeface="Abadi Extra Light" panose="020B0604020202020204" pitchFamily="34" charset="0"/>
                <a:ea typeface="Tahoma"/>
                <a:cs typeface="Calibri Light" panose="020F0302020204030204" pitchFamily="34" charset="0"/>
              </a:rPr>
              <a:t>Stalicla</a:t>
            </a:r>
            <a:r>
              <a:rPr lang="en-US" sz="2000" spc="-1" dirty="0">
                <a:solidFill>
                  <a:schemeClr val="tx2"/>
                </a:solidFill>
                <a:latin typeface="Abadi Extra Light" panose="020B0604020202020204" pitchFamily="34" charset="0"/>
                <a:ea typeface="Tahoma"/>
                <a:cs typeface="Calibri Light" panose="020F0302020204030204" pitchFamily="34" charset="0"/>
              </a:rPr>
              <a:t> </a:t>
            </a:r>
            <a:r>
              <a:rPr lang="en-US" sz="2000" spc="-1" dirty="0" err="1">
                <a:solidFill>
                  <a:schemeClr val="tx2"/>
                </a:solidFill>
                <a:latin typeface="Abadi Extra Light" panose="020B0604020202020204" pitchFamily="34" charset="0"/>
                <a:ea typeface="Tahoma"/>
                <a:cs typeface="Calibri Light" panose="020F0302020204030204" pitchFamily="34" charset="0"/>
              </a:rPr>
              <a:t>Cookiecutter</a:t>
            </a:r>
            <a:r>
              <a:rPr lang="en-US" sz="2000" spc="-1" dirty="0">
                <a:solidFill>
                  <a:schemeClr val="tx2"/>
                </a:solidFill>
                <a:latin typeface="Abadi Extra Light" panose="020B0604020202020204" pitchFamily="34" charset="0"/>
                <a:ea typeface="Tahoma"/>
                <a:cs typeface="Calibri Light" panose="020F0302020204030204" pitchFamily="34" charset="0"/>
              </a:rPr>
              <a:t> template for GitHub projects:</a:t>
            </a:r>
          </a:p>
        </p:txBody>
      </p:sp>
      <p:sp>
        <p:nvSpPr>
          <p:cNvPr id="9" name="CustomShape 2">
            <a:extLst>
              <a:ext uri="{FF2B5EF4-FFF2-40B4-BE49-F238E27FC236}">
                <a16:creationId xmlns:a16="http://schemas.microsoft.com/office/drawing/2014/main" id="{485909C8-91B2-4F8B-BB90-E426AFE47410}"/>
              </a:ext>
            </a:extLst>
          </p:cNvPr>
          <p:cNvSpPr/>
          <p:nvPr/>
        </p:nvSpPr>
        <p:spPr>
          <a:xfrm>
            <a:off x="2059667" y="2815409"/>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2">
                    <a:lumMod val="75000"/>
                  </a:schemeClr>
                </a:solidFill>
                <a:latin typeface="Abadi Extra Light" panose="020B0604020202020204" pitchFamily="34" charset="0"/>
                <a:ea typeface="Tahoma"/>
                <a:cs typeface="Calibri Light" panose="020F0302020204030204" pitchFamily="34" charset="0"/>
              </a:rPr>
              <a:t>Execution logs are stored at this level and also PBPMs when an alternative path is not specified</a:t>
            </a:r>
          </a:p>
        </p:txBody>
      </p:sp>
      <p:sp>
        <p:nvSpPr>
          <p:cNvPr id="10" name="Rectangle 9">
            <a:extLst>
              <a:ext uri="{FF2B5EF4-FFF2-40B4-BE49-F238E27FC236}">
                <a16:creationId xmlns:a16="http://schemas.microsoft.com/office/drawing/2014/main" id="{94F0236E-7146-4A86-BA37-6C82766650F0}"/>
              </a:ext>
            </a:extLst>
          </p:cNvPr>
          <p:cNvSpPr/>
          <p:nvPr/>
        </p:nvSpPr>
        <p:spPr>
          <a:xfrm>
            <a:off x="685483" y="2918914"/>
            <a:ext cx="1384344" cy="223520"/>
          </a:xfrm>
          <a:prstGeom prst="rect">
            <a:avLst/>
          </a:prstGeom>
          <a:noFill/>
          <a:ln>
            <a:solidFill>
              <a:schemeClr val="accent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CustomShape 2">
            <a:extLst>
              <a:ext uri="{FF2B5EF4-FFF2-40B4-BE49-F238E27FC236}">
                <a16:creationId xmlns:a16="http://schemas.microsoft.com/office/drawing/2014/main" id="{1EAC8FFD-320B-42EE-B88A-21772C87A711}"/>
              </a:ext>
            </a:extLst>
          </p:cNvPr>
          <p:cNvSpPr/>
          <p:nvPr/>
        </p:nvSpPr>
        <p:spPr>
          <a:xfrm>
            <a:off x="2059667" y="3814084"/>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solidFill>
                <a:latin typeface="Abadi Extra Light" panose="020B0604020202020204" pitchFamily="34" charset="0"/>
                <a:ea typeface="Tahoma"/>
                <a:cs typeface="Calibri Light" panose="020F0302020204030204" pitchFamily="34" charset="0"/>
              </a:rPr>
              <a:t>Specific libraries for the project can be found here</a:t>
            </a:r>
          </a:p>
        </p:txBody>
      </p:sp>
      <p:sp>
        <p:nvSpPr>
          <p:cNvPr id="12" name="Rectangle 11">
            <a:extLst>
              <a:ext uri="{FF2B5EF4-FFF2-40B4-BE49-F238E27FC236}">
                <a16:creationId xmlns:a16="http://schemas.microsoft.com/office/drawing/2014/main" id="{8959252F-04AF-44A6-8924-D7E88CC5283B}"/>
              </a:ext>
            </a:extLst>
          </p:cNvPr>
          <p:cNvSpPr/>
          <p:nvPr/>
        </p:nvSpPr>
        <p:spPr>
          <a:xfrm>
            <a:off x="685483" y="3917231"/>
            <a:ext cx="1384344" cy="223520"/>
          </a:xfrm>
          <a:prstGeom prst="rect">
            <a:avLst/>
          </a:prstGeom>
          <a:noFill/>
          <a:ln>
            <a:solidFill>
              <a:schemeClr val="accent1"/>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CustomShape 2">
            <a:extLst>
              <a:ext uri="{FF2B5EF4-FFF2-40B4-BE49-F238E27FC236}">
                <a16:creationId xmlns:a16="http://schemas.microsoft.com/office/drawing/2014/main" id="{3948A2C7-DF17-455D-A5A3-C6291E236147}"/>
              </a:ext>
            </a:extLst>
          </p:cNvPr>
          <p:cNvSpPr/>
          <p:nvPr/>
        </p:nvSpPr>
        <p:spPr>
          <a:xfrm>
            <a:off x="2069827" y="5631347"/>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spc="-1" dirty="0">
                <a:solidFill>
                  <a:schemeClr val="accent3"/>
                </a:solidFill>
                <a:latin typeface="Abadi Extra Light" panose="020B0604020202020204" pitchFamily="34" charset="0"/>
                <a:ea typeface="Tahoma"/>
                <a:cs typeface="Calibri Light" panose="020F0302020204030204" pitchFamily="34" charset="0"/>
              </a:rPr>
              <a:t>Source code for the project can be found here: </a:t>
            </a:r>
            <a:r>
              <a:rPr lang="en-US" sz="1600" b="1" spc="-1" dirty="0">
                <a:solidFill>
                  <a:schemeClr val="accent3"/>
                </a:solidFill>
                <a:latin typeface="Abadi Extra Light" panose="020B0604020202020204" pitchFamily="34" charset="0"/>
                <a:ea typeface="Tahoma"/>
                <a:cs typeface="Calibri Light" panose="020F0302020204030204" pitchFamily="34" charset="0"/>
              </a:rPr>
              <a:t>PBPM.py </a:t>
            </a:r>
            <a:r>
              <a:rPr lang="en-US" sz="1600" spc="-1" dirty="0">
                <a:solidFill>
                  <a:schemeClr val="accent3"/>
                </a:solidFill>
                <a:latin typeface="Abadi Extra Light" panose="020B0604020202020204" pitchFamily="34" charset="0"/>
                <a:ea typeface="Tahoma"/>
                <a:cs typeface="Calibri Light" panose="020F0302020204030204" pitchFamily="34" charset="0"/>
              </a:rPr>
              <a:t>and </a:t>
            </a:r>
            <a:r>
              <a:rPr lang="en-US" sz="1600" b="1" spc="-1" dirty="0">
                <a:solidFill>
                  <a:schemeClr val="accent3"/>
                </a:solidFill>
                <a:latin typeface="Abadi Extra Light" panose="020B0604020202020204" pitchFamily="34" charset="0"/>
                <a:ea typeface="Tahoma"/>
                <a:cs typeface="Calibri Light" panose="020F0302020204030204" pitchFamily="34" charset="0"/>
              </a:rPr>
              <a:t>main.py</a:t>
            </a:r>
          </a:p>
        </p:txBody>
      </p:sp>
      <p:sp>
        <p:nvSpPr>
          <p:cNvPr id="14" name="Rectangle 13">
            <a:extLst>
              <a:ext uri="{FF2B5EF4-FFF2-40B4-BE49-F238E27FC236}">
                <a16:creationId xmlns:a16="http://schemas.microsoft.com/office/drawing/2014/main" id="{2E631CFB-57AC-449E-A569-53ABDD525C03}"/>
              </a:ext>
            </a:extLst>
          </p:cNvPr>
          <p:cNvSpPr/>
          <p:nvPr/>
        </p:nvSpPr>
        <p:spPr>
          <a:xfrm>
            <a:off x="685483" y="5457349"/>
            <a:ext cx="1384344" cy="795567"/>
          </a:xfrm>
          <a:prstGeom prst="rect">
            <a:avLst/>
          </a:prstGeom>
          <a:noFill/>
          <a:ln>
            <a:solidFill>
              <a:schemeClr val="accent3"/>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CustomShape 2">
            <a:extLst>
              <a:ext uri="{FF2B5EF4-FFF2-40B4-BE49-F238E27FC236}">
                <a16:creationId xmlns:a16="http://schemas.microsoft.com/office/drawing/2014/main" id="{568A13B6-BC35-4E39-8DDC-60E19D6A6F1E}"/>
              </a:ext>
            </a:extLst>
          </p:cNvPr>
          <p:cNvSpPr/>
          <p:nvPr/>
        </p:nvSpPr>
        <p:spPr>
          <a:xfrm>
            <a:off x="2079987" y="2464621"/>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4"/>
                </a:solidFill>
                <a:latin typeface="Abadi Extra Light" panose="020B0604020202020204" pitchFamily="34" charset="0"/>
                <a:ea typeface="Tahoma"/>
                <a:cs typeface="Calibri Light" panose="020F0302020204030204" pitchFamily="34" charset="0"/>
              </a:rPr>
              <a:t>Available for the entire project settings</a:t>
            </a:r>
          </a:p>
        </p:txBody>
      </p:sp>
      <p:sp>
        <p:nvSpPr>
          <p:cNvPr id="16" name="Rectangle 15">
            <a:extLst>
              <a:ext uri="{FF2B5EF4-FFF2-40B4-BE49-F238E27FC236}">
                <a16:creationId xmlns:a16="http://schemas.microsoft.com/office/drawing/2014/main" id="{049E8BF5-AB3C-4A87-B3E3-CED4E4702740}"/>
              </a:ext>
            </a:extLst>
          </p:cNvPr>
          <p:cNvSpPr/>
          <p:nvPr/>
        </p:nvSpPr>
        <p:spPr>
          <a:xfrm>
            <a:off x="695643" y="2568126"/>
            <a:ext cx="1384344" cy="223520"/>
          </a:xfrm>
          <a:prstGeom prst="rect">
            <a:avLst/>
          </a:prstGeom>
          <a:noFill/>
          <a:ln>
            <a:solidFill>
              <a:schemeClr val="accent5"/>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CustomShape 2">
            <a:extLst>
              <a:ext uri="{FF2B5EF4-FFF2-40B4-BE49-F238E27FC236}">
                <a16:creationId xmlns:a16="http://schemas.microsoft.com/office/drawing/2014/main" id="{B93137E8-E9B7-4251-8222-1891090A0FE0}"/>
              </a:ext>
            </a:extLst>
          </p:cNvPr>
          <p:cNvSpPr/>
          <p:nvPr/>
        </p:nvSpPr>
        <p:spPr>
          <a:xfrm>
            <a:off x="2059667" y="4528593"/>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accent1">
                    <a:lumMod val="60000"/>
                    <a:lumOff val="40000"/>
                  </a:schemeClr>
                </a:solidFill>
                <a:latin typeface="Abadi Extra Light" panose="020B0604020202020204" pitchFamily="34" charset="0"/>
                <a:ea typeface="Tahoma"/>
                <a:cs typeface="Calibri Light" panose="020F0302020204030204" pitchFamily="34" charset="0"/>
              </a:rPr>
              <a:t>Where this presentation is</a:t>
            </a:r>
          </a:p>
        </p:txBody>
      </p:sp>
      <p:sp>
        <p:nvSpPr>
          <p:cNvPr id="18" name="Rectangle 17">
            <a:extLst>
              <a:ext uri="{FF2B5EF4-FFF2-40B4-BE49-F238E27FC236}">
                <a16:creationId xmlns:a16="http://schemas.microsoft.com/office/drawing/2014/main" id="{F0211045-82F1-4F88-A852-D8FC8C250B92}"/>
              </a:ext>
            </a:extLst>
          </p:cNvPr>
          <p:cNvSpPr/>
          <p:nvPr/>
        </p:nvSpPr>
        <p:spPr>
          <a:xfrm>
            <a:off x="675323" y="4621938"/>
            <a:ext cx="1384344" cy="223520"/>
          </a:xfrm>
          <a:prstGeom prst="rect">
            <a:avLst/>
          </a:prstGeom>
          <a:noFill/>
          <a:ln>
            <a:solidFill>
              <a:schemeClr val="accent1">
                <a:lumMod val="40000"/>
                <a:lumOff val="60000"/>
              </a:schemeClr>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CustomShape 2">
            <a:extLst>
              <a:ext uri="{FF2B5EF4-FFF2-40B4-BE49-F238E27FC236}">
                <a16:creationId xmlns:a16="http://schemas.microsoft.com/office/drawing/2014/main" id="{94D96B60-3AA2-4E44-994E-91CA21A688A8}"/>
              </a:ext>
            </a:extLst>
          </p:cNvPr>
          <p:cNvSpPr/>
          <p:nvPr/>
        </p:nvSpPr>
        <p:spPr>
          <a:xfrm>
            <a:off x="2059667" y="3316029"/>
            <a:ext cx="610616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1600" b="1" spc="-1" dirty="0">
                <a:solidFill>
                  <a:schemeClr val="tx2"/>
                </a:solidFill>
                <a:latin typeface="Abadi Extra Light" panose="020B0604020202020204" pitchFamily="34" charset="0"/>
                <a:ea typeface="Tahoma"/>
                <a:cs typeface="Calibri Light" panose="020F0302020204030204" pitchFamily="34" charset="0"/>
              </a:rPr>
              <a:t>Intermediate matrices are stored at this level</a:t>
            </a:r>
          </a:p>
        </p:txBody>
      </p:sp>
      <p:sp>
        <p:nvSpPr>
          <p:cNvPr id="20" name="Rectangle 19">
            <a:extLst>
              <a:ext uri="{FF2B5EF4-FFF2-40B4-BE49-F238E27FC236}">
                <a16:creationId xmlns:a16="http://schemas.microsoft.com/office/drawing/2014/main" id="{82FF3AE2-0295-43E7-BDA5-98A6428DDD93}"/>
              </a:ext>
            </a:extLst>
          </p:cNvPr>
          <p:cNvSpPr/>
          <p:nvPr/>
        </p:nvSpPr>
        <p:spPr>
          <a:xfrm>
            <a:off x="685483" y="3419534"/>
            <a:ext cx="1384344" cy="223520"/>
          </a:xfrm>
          <a:prstGeom prst="rect">
            <a:avLst/>
          </a:prstGeom>
          <a:noFill/>
          <a:ln>
            <a:solidFill>
              <a:schemeClr val="tx2"/>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98333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stomShape 2">
            <a:extLst>
              <a:ext uri="{FF2B5EF4-FFF2-40B4-BE49-F238E27FC236}">
                <a16:creationId xmlns:a16="http://schemas.microsoft.com/office/drawing/2014/main" id="{49E7E72C-58EB-4A00-8526-CA85934BCBB9}"/>
              </a:ext>
            </a:extLst>
          </p:cNvPr>
          <p:cNvSpPr/>
          <p:nvPr/>
        </p:nvSpPr>
        <p:spPr>
          <a:xfrm>
            <a:off x="250920" y="1576440"/>
            <a:ext cx="8476520" cy="44756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2400" b="1" strike="noStrike" spc="-1" dirty="0">
                <a:solidFill>
                  <a:schemeClr val="accent1"/>
                </a:solidFill>
                <a:latin typeface="Abadi Extra Light" panose="020B0604020202020204" pitchFamily="34" charset="0"/>
                <a:ea typeface="Tahoma"/>
                <a:cs typeface="Calibri Light" panose="020F0302020204030204" pitchFamily="34" charset="0"/>
              </a:rPr>
              <a:t>Where is this protocol stored?</a:t>
            </a:r>
            <a:endParaRPr lang="en-US" sz="2400" strike="noStrike" spc="-1" dirty="0">
              <a:solidFill>
                <a:schemeClr val="accent1"/>
              </a:solidFill>
              <a:latin typeface="Abadi Extra Light" panose="020B0604020202020204" pitchFamily="34" charset="0"/>
              <a:cs typeface="Calibri Light" panose="020F0302020204030204" pitchFamily="34" charset="0"/>
            </a:endParaRPr>
          </a:p>
        </p:txBody>
      </p:sp>
      <p:sp>
        <p:nvSpPr>
          <p:cNvPr id="4" name="CustomShape 2">
            <a:extLst>
              <a:ext uri="{FF2B5EF4-FFF2-40B4-BE49-F238E27FC236}">
                <a16:creationId xmlns:a16="http://schemas.microsoft.com/office/drawing/2014/main" id="{C96E61F9-A9F3-4AED-8993-6D2E3B462E15}"/>
              </a:ext>
            </a:extLst>
          </p:cNvPr>
          <p:cNvSpPr/>
          <p:nvPr/>
        </p:nvSpPr>
        <p:spPr>
          <a:xfrm>
            <a:off x="250920" y="2024009"/>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spc="-1" dirty="0">
                <a:solidFill>
                  <a:schemeClr val="tx2"/>
                </a:solidFill>
                <a:latin typeface="Abadi Extra Light" panose="020B0604020202020204" pitchFamily="34" charset="0"/>
                <a:ea typeface="Tahoma"/>
                <a:cs typeface="Calibri Light" panose="020F0302020204030204" pitchFamily="34" charset="0"/>
              </a:rPr>
              <a:t>Up to now, the PBPM repository is at my private GitHub:</a:t>
            </a:r>
          </a:p>
          <a:p>
            <a:pPr algn="just">
              <a:lnSpc>
                <a:spcPct val="90000"/>
              </a:lnSpc>
            </a:pPr>
            <a:r>
              <a:rPr lang="en-US" sz="2000" spc="-1" dirty="0">
                <a:solidFill>
                  <a:schemeClr val="accent1"/>
                </a:solidFill>
                <a:latin typeface="Abadi Extra Light" panose="020B0604020202020204" pitchFamily="34" charset="0"/>
                <a:ea typeface="Tahoma"/>
                <a:cs typeface="Calibri Light" panose="020F0302020204030204" pitchFamily="34" charset="0"/>
                <a:hlinkClick r:id="rId2">
                  <a:extLst>
                    <a:ext uri="{A12FA001-AC4F-418D-AE19-62706E023703}">
                      <ahyp:hlinkClr xmlns:ahyp="http://schemas.microsoft.com/office/drawing/2018/hyperlinkcolor" val="tx"/>
                    </a:ext>
                  </a:extLst>
                </a:hlinkClick>
              </a:rPr>
              <a:t>https://github.com/mgmartinezl/Stalicla-PBPM</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
        <p:nvSpPr>
          <p:cNvPr id="16" name="CustomShape 2">
            <a:extLst>
              <a:ext uri="{FF2B5EF4-FFF2-40B4-BE49-F238E27FC236}">
                <a16:creationId xmlns:a16="http://schemas.microsoft.com/office/drawing/2014/main" id="{17CC5912-53C1-4E76-B909-EC1582CFFF69}"/>
              </a:ext>
            </a:extLst>
          </p:cNvPr>
          <p:cNvSpPr/>
          <p:nvPr/>
        </p:nvSpPr>
        <p:spPr>
          <a:xfrm>
            <a:off x="250920" y="2804160"/>
            <a:ext cx="8476520" cy="78015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just">
              <a:lnSpc>
                <a:spcPct val="90000"/>
              </a:lnSpc>
            </a:pPr>
            <a:r>
              <a:rPr lang="en-US" sz="2000" u="sng" spc="-1" dirty="0">
                <a:solidFill>
                  <a:schemeClr val="tx2"/>
                </a:solidFill>
                <a:latin typeface="Abadi Extra Light" panose="020B0604020202020204" pitchFamily="34" charset="0"/>
                <a:ea typeface="Tahoma"/>
                <a:cs typeface="Calibri Light" panose="020F0302020204030204" pitchFamily="34" charset="0"/>
              </a:rPr>
              <a:t>PENDING task: </a:t>
            </a:r>
            <a:r>
              <a:rPr lang="en-US" sz="2000" spc="-1" dirty="0">
                <a:solidFill>
                  <a:schemeClr val="tx2"/>
                </a:solidFill>
                <a:latin typeface="Abadi Extra Light" panose="020B0604020202020204" pitchFamily="34" charset="0"/>
                <a:ea typeface="Tahoma"/>
                <a:cs typeface="Calibri Light" panose="020F0302020204030204" pitchFamily="34" charset="0"/>
              </a:rPr>
              <a:t>upload to the cluster and schedule some tests with final users.</a:t>
            </a:r>
            <a:endParaRPr lang="en-US" sz="2000" spc="-1" dirty="0">
              <a:solidFill>
                <a:schemeClr val="accent1"/>
              </a:solidFill>
              <a:latin typeface="Abadi Extra Light" panose="020B0604020202020204" pitchFamily="34" charset="0"/>
              <a:ea typeface="Tahoma"/>
              <a:cs typeface="Calibri Light" panose="020F0302020204030204" pitchFamily="34" charset="0"/>
            </a:endParaRPr>
          </a:p>
        </p:txBody>
      </p:sp>
    </p:spTree>
    <p:extLst>
      <p:ext uri="{BB962C8B-B14F-4D97-AF65-F5344CB8AC3E}">
        <p14:creationId xmlns:p14="http://schemas.microsoft.com/office/powerpoint/2010/main" val="2947677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D4D4F"/>
      </a:dk2>
      <a:lt2>
        <a:srgbClr val="AEABAB"/>
      </a:lt2>
      <a:accent1>
        <a:srgbClr val="00AEEF"/>
      </a:accent1>
      <a:accent2>
        <a:srgbClr val="FDB913"/>
      </a:accent2>
      <a:accent3>
        <a:srgbClr val="5AB0AB"/>
      </a:accent3>
      <a:accent4>
        <a:srgbClr val="757070"/>
      </a:accent4>
      <a:accent5>
        <a:srgbClr val="AEABAB"/>
      </a:accent5>
      <a:accent6>
        <a:srgbClr val="5CD2FF"/>
      </a:accent6>
      <a:hlink>
        <a:srgbClr val="5AB0AB"/>
      </a:hlink>
      <a:folHlink>
        <a:srgbClr val="00AEE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7801</TotalTime>
  <Words>1822</Words>
  <Application>Microsoft Office PowerPoint</Application>
  <PresentationFormat>On-screen Show (4:3)</PresentationFormat>
  <Paragraphs>322</Paragraphs>
  <Slides>26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Abadi Extra Light</vt:lpstr>
      <vt:lpstr>Arial</vt:lpstr>
      <vt:lpstr>Calibri</vt:lpstr>
      <vt:lpstr>Consolas</vt:lpstr>
      <vt:lpstr>Source Sans Pro Light</vt:lpstr>
      <vt:lpstr>Symbol</vt:lpstr>
      <vt:lpstr>Tahoma</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Beckie Best</dc:creator>
  <dc:description/>
  <cp:lastModifiedBy>Andres Felipe Gomez Lopera</cp:lastModifiedBy>
  <cp:revision>211</cp:revision>
  <cp:lastPrinted>2018-06-11T12:22:51Z</cp:lastPrinted>
  <dcterms:created xsi:type="dcterms:W3CDTF">2018-01-04T09:16:16Z</dcterms:created>
  <dcterms:modified xsi:type="dcterms:W3CDTF">2019-09-09T14:50:52Z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Microsoft</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vt:i4>
  </property>
</Properties>
</file>