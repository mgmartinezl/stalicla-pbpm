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29"/>
  </p:notesMasterIdLst>
  <p:sldIdLst>
    <p:sldId id="256" r:id="rId3"/>
    <p:sldId id="302" r:id="rId4"/>
    <p:sldId id="339" r:id="rId5"/>
    <p:sldId id="319" r:id="rId6"/>
    <p:sldId id="320" r:id="rId7"/>
    <p:sldId id="321" r:id="rId8"/>
    <p:sldId id="340" r:id="rId9"/>
    <p:sldId id="322" r:id="rId10"/>
    <p:sldId id="323" r:id="rId11"/>
    <p:sldId id="324" r:id="rId12"/>
    <p:sldId id="325" r:id="rId13"/>
    <p:sldId id="326" r:id="rId14"/>
    <p:sldId id="327" r:id="rId15"/>
    <p:sldId id="341" r:id="rId16"/>
    <p:sldId id="328" r:id="rId17"/>
    <p:sldId id="329" r:id="rId18"/>
    <p:sldId id="330" r:id="rId19"/>
    <p:sldId id="332" r:id="rId20"/>
    <p:sldId id="331" r:id="rId21"/>
    <p:sldId id="333" r:id="rId22"/>
    <p:sldId id="342" r:id="rId23"/>
    <p:sldId id="336" r:id="rId24"/>
    <p:sldId id="337" r:id="rId25"/>
    <p:sldId id="338" r:id="rId26"/>
    <p:sldId id="335" r:id="rId27"/>
    <p:sldId id="334" r:id="rId28"/>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817" autoAdjust="0"/>
  </p:normalViewPr>
  <p:slideViewPr>
    <p:cSldViewPr snapToGrid="0">
      <p:cViewPr>
        <p:scale>
          <a:sx n="63" d="100"/>
          <a:sy n="63" d="100"/>
        </p:scale>
        <p:origin x="85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B00FBA4-CB1D-4C58-B09A-B41F99C7A7E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15146AC3-6495-487A-A59A-8678BB69A317}">
      <dgm:prSet phldrT="[Text]" custT="1"/>
      <dgm:spPr/>
      <dgm:t>
        <a:bodyPr/>
        <a:lstStyle/>
        <a:p>
          <a:r>
            <a:rPr lang="en-US" sz="2000" dirty="0">
              <a:latin typeface="Abadi Extra Light" panose="020B0204020104020204" pitchFamily="34" charset="0"/>
            </a:rPr>
            <a:t>Mandatory parameters</a:t>
          </a:r>
        </a:p>
      </dgm:t>
    </dgm:pt>
    <dgm:pt modelId="{2FFA81AC-5AFC-42A4-B3A4-35184807FF28}" type="parTrans" cxnId="{0F5BC447-51E4-4EAD-B79D-DDA804D903B2}">
      <dgm:prSet/>
      <dgm:spPr/>
      <dgm:t>
        <a:bodyPr/>
        <a:lstStyle/>
        <a:p>
          <a:endParaRPr lang="en-US" sz="1050">
            <a:latin typeface="Abadi Extra Light" panose="020B0204020104020204" pitchFamily="34" charset="0"/>
          </a:endParaRPr>
        </a:p>
      </dgm:t>
    </dgm:pt>
    <dgm:pt modelId="{0CDE5A4E-018E-458F-867E-86CE575CE5A4}" type="sibTrans" cxnId="{0F5BC447-51E4-4EAD-B79D-DDA804D903B2}">
      <dgm:prSet/>
      <dgm:spPr/>
      <dgm:t>
        <a:bodyPr/>
        <a:lstStyle/>
        <a:p>
          <a:endParaRPr lang="en-US" sz="1050">
            <a:latin typeface="Abadi Extra Light" panose="020B0204020104020204" pitchFamily="34" charset="0"/>
          </a:endParaRPr>
        </a:p>
      </dgm:t>
    </dgm:pt>
    <dgm:pt modelId="{86085957-A16E-4C72-9138-6C9B64D9352A}">
      <dgm:prSet phldrT="[Text]" custT="1"/>
      <dgm:spPr/>
      <dgm:t>
        <a:bodyPr/>
        <a:lstStyle/>
        <a:p>
          <a:r>
            <a:rPr lang="en-US" sz="1600" dirty="0">
              <a:latin typeface="Abadi Extra Light" panose="020B0204020104020204" pitchFamily="34" charset="0"/>
            </a:rPr>
            <a:t>Input file containing patients and mutations.</a:t>
          </a:r>
        </a:p>
      </dgm:t>
    </dgm:pt>
    <dgm:pt modelId="{CED142A3-A150-4AD6-BF64-C2D0D9AB8325}" type="parTrans" cxnId="{0C49B6A7-A54D-4DD3-B5E6-54CF23DD5FA0}">
      <dgm:prSet/>
      <dgm:spPr/>
      <dgm:t>
        <a:bodyPr/>
        <a:lstStyle/>
        <a:p>
          <a:endParaRPr lang="en-US" sz="1050">
            <a:latin typeface="Abadi Extra Light" panose="020B0204020104020204" pitchFamily="34" charset="0"/>
          </a:endParaRPr>
        </a:p>
      </dgm:t>
    </dgm:pt>
    <dgm:pt modelId="{34E2DA64-A300-4B38-B3C1-837FD4B7034D}" type="sibTrans" cxnId="{0C49B6A7-A54D-4DD3-B5E6-54CF23DD5FA0}">
      <dgm:prSet/>
      <dgm:spPr/>
      <dgm:t>
        <a:bodyPr/>
        <a:lstStyle/>
        <a:p>
          <a:endParaRPr lang="en-US" sz="1050">
            <a:latin typeface="Abadi Extra Light" panose="020B0204020104020204" pitchFamily="34" charset="0"/>
          </a:endParaRPr>
        </a:p>
      </dgm:t>
    </dgm:pt>
    <dgm:pt modelId="{65AB574B-B228-4761-B809-DE494ECE921E}">
      <dgm:prSet phldrT="[Text]" custT="1"/>
      <dgm:spPr/>
      <dgm:t>
        <a:bodyPr/>
        <a:lstStyle/>
        <a:p>
          <a:r>
            <a:rPr lang="en-US" sz="2000" dirty="0">
              <a:latin typeface="Abadi Extra Light" panose="020B0204020104020204" pitchFamily="34" charset="0"/>
            </a:rPr>
            <a:t>Optional parameters: act as filters</a:t>
          </a:r>
        </a:p>
      </dgm:t>
    </dgm:pt>
    <dgm:pt modelId="{E1C34707-C964-4D09-88EC-5261896B78BB}" type="parTrans" cxnId="{5DFAC81D-9472-4D8B-A593-93EF2E4BF5D8}">
      <dgm:prSet/>
      <dgm:spPr/>
      <dgm:t>
        <a:bodyPr/>
        <a:lstStyle/>
        <a:p>
          <a:endParaRPr lang="en-US" sz="1050">
            <a:latin typeface="Abadi Extra Light" panose="020B0204020104020204" pitchFamily="34" charset="0"/>
          </a:endParaRPr>
        </a:p>
      </dgm:t>
    </dgm:pt>
    <dgm:pt modelId="{57E6AB5F-BA01-469E-AA83-47E50ED48A78}" type="sibTrans" cxnId="{5DFAC81D-9472-4D8B-A593-93EF2E4BF5D8}">
      <dgm:prSet/>
      <dgm:spPr/>
      <dgm:t>
        <a:bodyPr/>
        <a:lstStyle/>
        <a:p>
          <a:endParaRPr lang="en-US" sz="1050">
            <a:latin typeface="Abadi Extra Light" panose="020B0204020104020204" pitchFamily="34" charset="0"/>
          </a:endParaRPr>
        </a:p>
      </dgm:t>
    </dgm:pt>
    <dgm:pt modelId="{BE88318D-37D8-4165-83D7-19E82BA6BC0A}">
      <dgm:prSet phldrT="[Text]" custT="1"/>
      <dgm:spPr/>
      <dgm:t>
        <a:bodyPr/>
        <a:lstStyle/>
        <a:p>
          <a:r>
            <a:rPr lang="en-US" sz="1600" dirty="0">
              <a:latin typeface="Abadi Extra Light" panose="020B0204020104020204" pitchFamily="34" charset="0"/>
            </a:rPr>
            <a:t>Pathways.</a:t>
          </a:r>
        </a:p>
      </dgm:t>
    </dgm:pt>
    <dgm:pt modelId="{CB49A4FD-3CA0-42AB-8A4E-58240ECE6291}" type="parTrans" cxnId="{E667E63A-7501-4F3C-ABA4-D2E95172116C}">
      <dgm:prSet/>
      <dgm:spPr/>
      <dgm:t>
        <a:bodyPr/>
        <a:lstStyle/>
        <a:p>
          <a:endParaRPr lang="en-US" sz="1050">
            <a:latin typeface="Abadi Extra Light" panose="020B0204020104020204" pitchFamily="34" charset="0"/>
          </a:endParaRPr>
        </a:p>
      </dgm:t>
    </dgm:pt>
    <dgm:pt modelId="{46217F2B-685A-4707-9E2A-940DCE7E9185}" type="sibTrans" cxnId="{E667E63A-7501-4F3C-ABA4-D2E95172116C}">
      <dgm:prSet/>
      <dgm:spPr/>
      <dgm:t>
        <a:bodyPr/>
        <a:lstStyle/>
        <a:p>
          <a:endParaRPr lang="en-US" sz="1050">
            <a:latin typeface="Abadi Extra Light" panose="020B0204020104020204" pitchFamily="34" charset="0"/>
          </a:endParaRPr>
        </a:p>
      </dgm:t>
    </dgm:pt>
    <dgm:pt modelId="{F329B068-9BC4-4462-B9D5-9A619FF5230B}">
      <dgm:prSet phldrT="[Text]" custT="1"/>
      <dgm:spPr/>
      <dgm:t>
        <a:bodyPr/>
        <a:lstStyle/>
        <a:p>
          <a:r>
            <a:rPr lang="en-US" sz="1600" dirty="0">
              <a:latin typeface="Abadi Extra Light" panose="020B0204020104020204" pitchFamily="34" charset="0"/>
            </a:rPr>
            <a:t>Folder containing pathways and their genes.</a:t>
          </a:r>
        </a:p>
      </dgm:t>
    </dgm:pt>
    <dgm:pt modelId="{38D78629-776E-4003-A22F-FEAF89B391DA}" type="parTrans" cxnId="{306B0FB6-47B7-4746-B8FC-E7C1E70997A7}">
      <dgm:prSet/>
      <dgm:spPr/>
      <dgm:t>
        <a:bodyPr/>
        <a:lstStyle/>
        <a:p>
          <a:endParaRPr lang="en-US" sz="1600"/>
        </a:p>
      </dgm:t>
    </dgm:pt>
    <dgm:pt modelId="{13BD7148-BC80-4FB7-8095-67E29808C76F}" type="sibTrans" cxnId="{306B0FB6-47B7-4746-B8FC-E7C1E70997A7}">
      <dgm:prSet/>
      <dgm:spPr/>
      <dgm:t>
        <a:bodyPr/>
        <a:lstStyle/>
        <a:p>
          <a:endParaRPr lang="en-US" sz="1600"/>
        </a:p>
      </dgm:t>
    </dgm:pt>
    <dgm:pt modelId="{A9944A70-02D3-410C-928B-EFEB24C5B54F}">
      <dgm:prSet phldrT="[Text]" custT="1"/>
      <dgm:spPr/>
      <dgm:t>
        <a:bodyPr/>
        <a:lstStyle/>
        <a:p>
          <a:r>
            <a:rPr lang="en-US" sz="1600" dirty="0">
              <a:latin typeface="Abadi Extra Light" panose="020B0204020104020204" pitchFamily="34" charset="0"/>
            </a:rPr>
            <a:t>Genes.</a:t>
          </a:r>
        </a:p>
      </dgm:t>
    </dgm:pt>
    <dgm:pt modelId="{29FC8D18-3575-46F2-9A9B-44A4C5833570}" type="parTrans" cxnId="{E54EE72F-66E4-4A51-8AEA-E978E107ED7F}">
      <dgm:prSet/>
      <dgm:spPr/>
      <dgm:t>
        <a:bodyPr/>
        <a:lstStyle/>
        <a:p>
          <a:endParaRPr lang="en-US" sz="1600"/>
        </a:p>
      </dgm:t>
    </dgm:pt>
    <dgm:pt modelId="{5DD62C38-8697-4B64-B030-E488026965BA}" type="sibTrans" cxnId="{E54EE72F-66E4-4A51-8AEA-E978E107ED7F}">
      <dgm:prSet/>
      <dgm:spPr/>
      <dgm:t>
        <a:bodyPr/>
        <a:lstStyle/>
        <a:p>
          <a:endParaRPr lang="en-US" sz="1600"/>
        </a:p>
      </dgm:t>
    </dgm:pt>
    <dgm:pt modelId="{8273C375-AA08-4264-9971-EE51802074C9}">
      <dgm:prSet phldrT="[Text]" custT="1"/>
      <dgm:spPr/>
      <dgm:t>
        <a:bodyPr/>
        <a:lstStyle/>
        <a:p>
          <a:r>
            <a:rPr lang="en-US" sz="1600" dirty="0">
              <a:latin typeface="Abadi Extra Light" panose="020B0204020104020204" pitchFamily="34" charset="0"/>
            </a:rPr>
            <a:t>Patients.</a:t>
          </a:r>
        </a:p>
      </dgm:t>
    </dgm:pt>
    <dgm:pt modelId="{BF77A1B3-F659-459D-8E42-8736713E2575}" type="parTrans" cxnId="{8A8CB847-C81D-41CA-A49B-3BC617977930}">
      <dgm:prSet/>
      <dgm:spPr/>
      <dgm:t>
        <a:bodyPr/>
        <a:lstStyle/>
        <a:p>
          <a:endParaRPr lang="en-US" sz="1600"/>
        </a:p>
      </dgm:t>
    </dgm:pt>
    <dgm:pt modelId="{8D2C53B3-4A71-41FB-90AB-5E7D0AA9BEF6}" type="sibTrans" cxnId="{8A8CB847-C81D-41CA-A49B-3BC617977930}">
      <dgm:prSet/>
      <dgm:spPr/>
      <dgm:t>
        <a:bodyPr/>
        <a:lstStyle/>
        <a:p>
          <a:endParaRPr lang="en-US" sz="1600"/>
        </a:p>
      </dgm:t>
    </dgm:pt>
    <dgm:pt modelId="{723998F3-6070-48DD-8746-FDB1F9EAA5F7}">
      <dgm:prSet phldrT="[Text]" custT="1"/>
      <dgm:spPr/>
      <dgm:t>
        <a:bodyPr/>
        <a:lstStyle/>
        <a:p>
          <a:r>
            <a:rPr lang="en-US" sz="1600" dirty="0">
              <a:latin typeface="Abadi Extra Light" panose="020B0204020104020204" pitchFamily="34" charset="0"/>
            </a:rPr>
            <a:t>Consequences.</a:t>
          </a:r>
        </a:p>
      </dgm:t>
    </dgm:pt>
    <dgm:pt modelId="{60BD2AFD-0384-4FB6-ACDF-22ADDFCBAD2F}" type="parTrans" cxnId="{C41EE296-3872-4B88-A9C8-9986915DA2EE}">
      <dgm:prSet/>
      <dgm:spPr/>
      <dgm:t>
        <a:bodyPr/>
        <a:lstStyle/>
        <a:p>
          <a:endParaRPr lang="en-US" sz="1600"/>
        </a:p>
      </dgm:t>
    </dgm:pt>
    <dgm:pt modelId="{A4DBD70C-B827-43EF-9F8F-82786E3BCFE9}" type="sibTrans" cxnId="{C41EE296-3872-4B88-A9C8-9986915DA2EE}">
      <dgm:prSet/>
      <dgm:spPr/>
      <dgm:t>
        <a:bodyPr/>
        <a:lstStyle/>
        <a:p>
          <a:endParaRPr lang="en-US" sz="1600"/>
        </a:p>
      </dgm:t>
    </dgm:pt>
    <dgm:pt modelId="{B1F82956-5461-4365-AAFC-99EA45EF28FE}">
      <dgm:prSet phldrT="[Text]" custT="1"/>
      <dgm:spPr/>
      <dgm:t>
        <a:bodyPr/>
        <a:lstStyle/>
        <a:p>
          <a:r>
            <a:rPr lang="en-US" sz="1600" dirty="0" err="1">
              <a:latin typeface="Abadi Extra Light" panose="020B0204020104020204" pitchFamily="34" charset="0"/>
            </a:rPr>
            <a:t>pLI</a:t>
          </a:r>
          <a:r>
            <a:rPr lang="en-US" sz="1600" dirty="0">
              <a:latin typeface="Abadi Extra Light" panose="020B0204020104020204" pitchFamily="34" charset="0"/>
            </a:rPr>
            <a:t>.</a:t>
          </a:r>
        </a:p>
      </dgm:t>
    </dgm:pt>
    <dgm:pt modelId="{83860D20-98E3-4D1D-B564-E3767D1A4035}" type="parTrans" cxnId="{46E18510-445B-4774-AAC9-E0F6BD6B13B3}">
      <dgm:prSet/>
      <dgm:spPr/>
      <dgm:t>
        <a:bodyPr/>
        <a:lstStyle/>
        <a:p>
          <a:endParaRPr lang="en-US" sz="1600"/>
        </a:p>
      </dgm:t>
    </dgm:pt>
    <dgm:pt modelId="{0395FDF7-664A-4BE8-8EB4-C743C6622177}" type="sibTrans" cxnId="{46E18510-445B-4774-AAC9-E0F6BD6B13B3}">
      <dgm:prSet/>
      <dgm:spPr/>
      <dgm:t>
        <a:bodyPr/>
        <a:lstStyle/>
        <a:p>
          <a:endParaRPr lang="en-US" sz="1600"/>
        </a:p>
      </dgm:t>
    </dgm:pt>
    <dgm:pt modelId="{8F93982F-0AA5-4A48-B18B-AF5AAB830105}">
      <dgm:prSet phldrT="[Text]" custT="1"/>
      <dgm:spPr/>
      <dgm:t>
        <a:bodyPr/>
        <a:lstStyle/>
        <a:p>
          <a:r>
            <a:rPr lang="en-US" sz="1600" dirty="0">
              <a:latin typeface="Abadi Extra Light" panose="020B0204020104020204" pitchFamily="34" charset="0"/>
            </a:rPr>
            <a:t>PolyPhen2 prediction label.</a:t>
          </a:r>
        </a:p>
      </dgm:t>
    </dgm:pt>
    <dgm:pt modelId="{7593248A-90C2-4261-8818-D7ABDBF69308}" type="parTrans" cxnId="{7DF2D91B-D504-41EC-A405-1AE472B34366}">
      <dgm:prSet/>
      <dgm:spPr/>
      <dgm:t>
        <a:bodyPr/>
        <a:lstStyle/>
        <a:p>
          <a:endParaRPr lang="en-US" sz="1600"/>
        </a:p>
      </dgm:t>
    </dgm:pt>
    <dgm:pt modelId="{74390B85-E602-425D-A885-5377C4479CD5}" type="sibTrans" cxnId="{7DF2D91B-D504-41EC-A405-1AE472B34366}">
      <dgm:prSet/>
      <dgm:spPr/>
      <dgm:t>
        <a:bodyPr/>
        <a:lstStyle/>
        <a:p>
          <a:endParaRPr lang="en-US" sz="1600"/>
        </a:p>
      </dgm:t>
    </dgm:pt>
    <dgm:pt modelId="{059EDBCB-948C-4167-9E05-D7FA4430C710}">
      <dgm:prSet phldrT="[Text]" custT="1"/>
      <dgm:spPr/>
      <dgm:t>
        <a:bodyPr/>
        <a:lstStyle/>
        <a:p>
          <a:r>
            <a:rPr lang="en-US" sz="1600" dirty="0">
              <a:latin typeface="Abadi Extra Light" panose="020B0204020104020204" pitchFamily="34" charset="0"/>
            </a:rPr>
            <a:t>MPC.</a:t>
          </a:r>
        </a:p>
      </dgm:t>
    </dgm:pt>
    <dgm:pt modelId="{C30138CD-322E-4752-BF80-6BA24B2A04EE}" type="parTrans" cxnId="{BE1412A9-1119-4F21-B485-E7D97EB4536C}">
      <dgm:prSet/>
      <dgm:spPr/>
      <dgm:t>
        <a:bodyPr/>
        <a:lstStyle/>
        <a:p>
          <a:endParaRPr lang="en-US" sz="1600"/>
        </a:p>
      </dgm:t>
    </dgm:pt>
    <dgm:pt modelId="{3FB4102A-92D2-49B6-A11A-EDEBCABA80E8}" type="sibTrans" cxnId="{BE1412A9-1119-4F21-B485-E7D97EB4536C}">
      <dgm:prSet/>
      <dgm:spPr/>
      <dgm:t>
        <a:bodyPr/>
        <a:lstStyle/>
        <a:p>
          <a:endParaRPr lang="en-US" sz="1600"/>
        </a:p>
      </dgm:t>
    </dgm:pt>
    <dgm:pt modelId="{7B9225A7-FD91-4913-B81A-EDEBE91C28E3}">
      <dgm:prSet phldrT="[Text]" custT="1"/>
      <dgm:spPr/>
      <dgm:t>
        <a:bodyPr/>
        <a:lstStyle/>
        <a:p>
          <a:r>
            <a:rPr lang="en-US" sz="1600" dirty="0">
              <a:latin typeface="Abadi Extra Light" panose="020B0204020104020204" pitchFamily="34" charset="0"/>
            </a:rPr>
            <a:t>Adjusted consequence.</a:t>
          </a:r>
        </a:p>
      </dgm:t>
    </dgm:pt>
    <dgm:pt modelId="{ED0B2524-25E1-4155-AFE6-71980C6486C3}" type="parTrans" cxnId="{95E485D1-0FB9-4070-BAF8-BFE66F220D00}">
      <dgm:prSet/>
      <dgm:spPr/>
      <dgm:t>
        <a:bodyPr/>
        <a:lstStyle/>
        <a:p>
          <a:endParaRPr lang="en-US" sz="1600"/>
        </a:p>
      </dgm:t>
    </dgm:pt>
    <dgm:pt modelId="{F7EB1606-4867-4AC3-9E4B-E5F8C276A8C6}" type="sibTrans" cxnId="{95E485D1-0FB9-4070-BAF8-BFE66F220D00}">
      <dgm:prSet/>
      <dgm:spPr/>
      <dgm:t>
        <a:bodyPr/>
        <a:lstStyle/>
        <a:p>
          <a:endParaRPr lang="en-US" sz="1600"/>
        </a:p>
      </dgm:t>
    </dgm:pt>
    <dgm:pt modelId="{65CEB2A9-5BD6-4535-A528-21B33C174249}">
      <dgm:prSet phldrT="[Text]" custT="1"/>
      <dgm:spPr/>
      <dgm:t>
        <a:bodyPr/>
        <a:lstStyle/>
        <a:p>
          <a:r>
            <a:rPr lang="en-US" sz="1600" dirty="0">
              <a:latin typeface="Abadi Extra Light" panose="020B0204020104020204" pitchFamily="34" charset="0"/>
            </a:rPr>
            <a:t>Max control AF.</a:t>
          </a:r>
        </a:p>
      </dgm:t>
    </dgm:pt>
    <dgm:pt modelId="{6AA51B85-3061-4B8B-8CC3-7BD1525B3C9D}" type="parTrans" cxnId="{47F4F0A4-64CD-4B8B-B8B7-AC2A3915F493}">
      <dgm:prSet/>
      <dgm:spPr/>
      <dgm:t>
        <a:bodyPr/>
        <a:lstStyle/>
        <a:p>
          <a:endParaRPr lang="en-US" sz="1600"/>
        </a:p>
      </dgm:t>
    </dgm:pt>
    <dgm:pt modelId="{E9C6E380-18D9-4FD4-AD4E-13117399E6C6}" type="sibTrans" cxnId="{47F4F0A4-64CD-4B8B-B8B7-AC2A3915F493}">
      <dgm:prSet/>
      <dgm:spPr/>
      <dgm:t>
        <a:bodyPr/>
        <a:lstStyle/>
        <a:p>
          <a:endParaRPr lang="en-US" sz="1600"/>
        </a:p>
      </dgm:t>
    </dgm:pt>
    <dgm:pt modelId="{5CC1AF3F-F708-4AE0-B118-449B1AB2DDE3}">
      <dgm:prSet phldrT="[Text]" custT="1"/>
      <dgm:spPr/>
      <dgm:t>
        <a:bodyPr/>
        <a:lstStyle/>
        <a:p>
          <a:r>
            <a:rPr lang="en-US" sz="1600" dirty="0" err="1">
              <a:latin typeface="Abadi Extra Light" panose="020B0204020104020204" pitchFamily="34" charset="0"/>
            </a:rPr>
            <a:t>pRecessive</a:t>
          </a:r>
          <a:r>
            <a:rPr lang="en-US" sz="1600" dirty="0">
              <a:latin typeface="Abadi Extra Light" panose="020B0204020104020204" pitchFamily="34" charset="0"/>
            </a:rPr>
            <a:t>.</a:t>
          </a:r>
        </a:p>
      </dgm:t>
    </dgm:pt>
    <dgm:pt modelId="{738DBB76-52EB-434B-B2B5-89FA3B7B6C90}" type="parTrans" cxnId="{12039BB1-FCF7-4534-8232-0713D356DF6D}">
      <dgm:prSet/>
      <dgm:spPr/>
      <dgm:t>
        <a:bodyPr/>
        <a:lstStyle/>
        <a:p>
          <a:endParaRPr lang="en-US" sz="1600"/>
        </a:p>
      </dgm:t>
    </dgm:pt>
    <dgm:pt modelId="{4AB3CA75-F9B0-4354-8C11-7CA35DA74402}" type="sibTrans" cxnId="{12039BB1-FCF7-4534-8232-0713D356DF6D}">
      <dgm:prSet/>
      <dgm:spPr/>
      <dgm:t>
        <a:bodyPr/>
        <a:lstStyle/>
        <a:p>
          <a:endParaRPr lang="en-US" sz="1600"/>
        </a:p>
      </dgm:t>
    </dgm:pt>
    <dgm:pt modelId="{8CCB2EA1-111B-46B8-8079-7492E1B5542B}" type="pres">
      <dgm:prSet presAssocID="{2B00FBA4-CB1D-4C58-B09A-B41F99C7A7E0}" presName="linear" presStyleCnt="0">
        <dgm:presLayoutVars>
          <dgm:animLvl val="lvl"/>
          <dgm:resizeHandles val="exact"/>
        </dgm:presLayoutVars>
      </dgm:prSet>
      <dgm:spPr/>
    </dgm:pt>
    <dgm:pt modelId="{3F3C2C25-13E4-4654-B5C1-D27896EACFE2}" type="pres">
      <dgm:prSet presAssocID="{15146AC3-6495-487A-A59A-8678BB69A317}" presName="parentText" presStyleLbl="node1" presStyleIdx="0" presStyleCnt="2" custScaleY="57090">
        <dgm:presLayoutVars>
          <dgm:chMax val="0"/>
          <dgm:bulletEnabled val="1"/>
        </dgm:presLayoutVars>
      </dgm:prSet>
      <dgm:spPr/>
    </dgm:pt>
    <dgm:pt modelId="{133D3FF6-4C61-4E47-9673-BECA49670E51}" type="pres">
      <dgm:prSet presAssocID="{15146AC3-6495-487A-A59A-8678BB69A317}" presName="childText" presStyleLbl="revTx" presStyleIdx="0" presStyleCnt="2">
        <dgm:presLayoutVars>
          <dgm:bulletEnabled val="1"/>
        </dgm:presLayoutVars>
      </dgm:prSet>
      <dgm:spPr/>
    </dgm:pt>
    <dgm:pt modelId="{CA1DEA98-0227-4375-B7C1-4CDD8CECB021}" type="pres">
      <dgm:prSet presAssocID="{65AB574B-B228-4761-B809-DE494ECE921E}" presName="parentText" presStyleLbl="node1" presStyleIdx="1" presStyleCnt="2" custScaleY="55232">
        <dgm:presLayoutVars>
          <dgm:chMax val="0"/>
          <dgm:bulletEnabled val="1"/>
        </dgm:presLayoutVars>
      </dgm:prSet>
      <dgm:spPr/>
    </dgm:pt>
    <dgm:pt modelId="{031E98BD-2ED7-4F07-82B3-A3B4BCE7E46A}" type="pres">
      <dgm:prSet presAssocID="{65AB574B-B228-4761-B809-DE494ECE921E}" presName="childText" presStyleLbl="revTx" presStyleIdx="1" presStyleCnt="2">
        <dgm:presLayoutVars>
          <dgm:bulletEnabled val="1"/>
        </dgm:presLayoutVars>
      </dgm:prSet>
      <dgm:spPr/>
    </dgm:pt>
  </dgm:ptLst>
  <dgm:cxnLst>
    <dgm:cxn modelId="{70D20205-FDEA-48C5-BD73-E3F068BD306A}" type="presOf" srcId="{5CC1AF3F-F708-4AE0-B118-449B1AB2DDE3}" destId="{031E98BD-2ED7-4F07-82B3-A3B4BCE7E46A}" srcOrd="0" destOrd="5" presId="urn:microsoft.com/office/officeart/2005/8/layout/vList2"/>
    <dgm:cxn modelId="{A7ECFE09-ADE5-4537-BCB9-D84A0EE83820}" type="presOf" srcId="{8273C375-AA08-4264-9971-EE51802074C9}" destId="{031E98BD-2ED7-4F07-82B3-A3B4BCE7E46A}" srcOrd="0" destOrd="2" presId="urn:microsoft.com/office/officeart/2005/8/layout/vList2"/>
    <dgm:cxn modelId="{E07A700A-3804-4490-AE76-097DE8876F4D}" type="presOf" srcId="{65CEB2A9-5BD6-4535-A528-21B33C174249}" destId="{031E98BD-2ED7-4F07-82B3-A3B4BCE7E46A}" srcOrd="0" destOrd="6" presId="urn:microsoft.com/office/officeart/2005/8/layout/vList2"/>
    <dgm:cxn modelId="{46E18510-445B-4774-AAC9-E0F6BD6B13B3}" srcId="{65AB574B-B228-4761-B809-DE494ECE921E}" destId="{B1F82956-5461-4365-AAFC-99EA45EF28FE}" srcOrd="4" destOrd="0" parTransId="{83860D20-98E3-4D1D-B564-E3767D1A4035}" sibTransId="{0395FDF7-664A-4BE8-8EB4-C743C6622177}"/>
    <dgm:cxn modelId="{E804601A-D1FE-407F-A5F7-8D8F974EBCA7}" type="presOf" srcId="{059EDBCB-948C-4167-9E05-D7FA4430C710}" destId="{031E98BD-2ED7-4F07-82B3-A3B4BCE7E46A}" srcOrd="0" destOrd="8" presId="urn:microsoft.com/office/officeart/2005/8/layout/vList2"/>
    <dgm:cxn modelId="{7DF2D91B-D504-41EC-A405-1AE472B34366}" srcId="{65AB574B-B228-4761-B809-DE494ECE921E}" destId="{8F93982F-0AA5-4A48-B18B-AF5AAB830105}" srcOrd="7" destOrd="0" parTransId="{7593248A-90C2-4261-8818-D7ABDBF69308}" sibTransId="{74390B85-E602-425D-A885-5377C4479CD5}"/>
    <dgm:cxn modelId="{5DFAC81D-9472-4D8B-A593-93EF2E4BF5D8}" srcId="{2B00FBA4-CB1D-4C58-B09A-B41F99C7A7E0}" destId="{65AB574B-B228-4761-B809-DE494ECE921E}" srcOrd="1" destOrd="0" parTransId="{E1C34707-C964-4D09-88EC-5261896B78BB}" sibTransId="{57E6AB5F-BA01-469E-AA83-47E50ED48A78}"/>
    <dgm:cxn modelId="{7B596C27-5ADA-4587-BB88-56BD94602F59}" type="presOf" srcId="{65AB574B-B228-4761-B809-DE494ECE921E}" destId="{CA1DEA98-0227-4375-B7C1-4CDD8CECB021}" srcOrd="0" destOrd="0" presId="urn:microsoft.com/office/officeart/2005/8/layout/vList2"/>
    <dgm:cxn modelId="{E54EE72F-66E4-4A51-8AEA-E978E107ED7F}" srcId="{65AB574B-B228-4761-B809-DE494ECE921E}" destId="{A9944A70-02D3-410C-928B-EFEB24C5B54F}" srcOrd="1" destOrd="0" parTransId="{29FC8D18-3575-46F2-9A9B-44A4C5833570}" sibTransId="{5DD62C38-8697-4B64-B030-E488026965BA}"/>
    <dgm:cxn modelId="{E667E63A-7501-4F3C-ABA4-D2E95172116C}" srcId="{65AB574B-B228-4761-B809-DE494ECE921E}" destId="{BE88318D-37D8-4165-83D7-19E82BA6BC0A}" srcOrd="0" destOrd="0" parTransId="{CB49A4FD-3CA0-42AB-8A4E-58240ECE6291}" sibTransId="{46217F2B-685A-4707-9E2A-940DCE7E9185}"/>
    <dgm:cxn modelId="{8A8CB847-C81D-41CA-A49B-3BC617977930}" srcId="{65AB574B-B228-4761-B809-DE494ECE921E}" destId="{8273C375-AA08-4264-9971-EE51802074C9}" srcOrd="2" destOrd="0" parTransId="{BF77A1B3-F659-459D-8E42-8736713E2575}" sibTransId="{8D2C53B3-4A71-41FB-90AB-5E7D0AA9BEF6}"/>
    <dgm:cxn modelId="{0F5BC447-51E4-4EAD-B79D-DDA804D903B2}" srcId="{2B00FBA4-CB1D-4C58-B09A-B41F99C7A7E0}" destId="{15146AC3-6495-487A-A59A-8678BB69A317}" srcOrd="0" destOrd="0" parTransId="{2FFA81AC-5AFC-42A4-B3A4-35184807FF28}" sibTransId="{0CDE5A4E-018E-458F-867E-86CE575CE5A4}"/>
    <dgm:cxn modelId="{44CFDE47-FD69-49B2-8201-320F00EE300A}" type="presOf" srcId="{2B00FBA4-CB1D-4C58-B09A-B41F99C7A7E0}" destId="{8CCB2EA1-111B-46B8-8079-7492E1B5542B}" srcOrd="0" destOrd="0" presId="urn:microsoft.com/office/officeart/2005/8/layout/vList2"/>
    <dgm:cxn modelId="{776B586E-CF13-4546-A2C0-84CC4D390865}" type="presOf" srcId="{86085957-A16E-4C72-9138-6C9B64D9352A}" destId="{133D3FF6-4C61-4E47-9673-BECA49670E51}" srcOrd="0" destOrd="0" presId="urn:microsoft.com/office/officeart/2005/8/layout/vList2"/>
    <dgm:cxn modelId="{227DCC87-3609-415A-A229-897E65A8AF71}" type="presOf" srcId="{F329B068-9BC4-4462-B9D5-9A619FF5230B}" destId="{133D3FF6-4C61-4E47-9673-BECA49670E51}" srcOrd="0" destOrd="1" presId="urn:microsoft.com/office/officeart/2005/8/layout/vList2"/>
    <dgm:cxn modelId="{922F408F-926F-4A21-84F0-DB761FA85E53}" type="presOf" srcId="{8F93982F-0AA5-4A48-B18B-AF5AAB830105}" destId="{031E98BD-2ED7-4F07-82B3-A3B4BCE7E46A}" srcOrd="0" destOrd="7" presId="urn:microsoft.com/office/officeart/2005/8/layout/vList2"/>
    <dgm:cxn modelId="{C41EE296-3872-4B88-A9C8-9986915DA2EE}" srcId="{65AB574B-B228-4761-B809-DE494ECE921E}" destId="{723998F3-6070-48DD-8746-FDB1F9EAA5F7}" srcOrd="3" destOrd="0" parTransId="{60BD2AFD-0384-4FB6-ACDF-22ADDFCBAD2F}" sibTransId="{A4DBD70C-B827-43EF-9F8F-82786E3BCFE9}"/>
    <dgm:cxn modelId="{91DF299A-1729-4D19-92EC-294C6F396355}" type="presOf" srcId="{B1F82956-5461-4365-AAFC-99EA45EF28FE}" destId="{031E98BD-2ED7-4F07-82B3-A3B4BCE7E46A}" srcOrd="0" destOrd="4" presId="urn:microsoft.com/office/officeart/2005/8/layout/vList2"/>
    <dgm:cxn modelId="{B2FE969A-562E-44A5-8F9D-F29BDEECB6DC}" type="presOf" srcId="{BE88318D-37D8-4165-83D7-19E82BA6BC0A}" destId="{031E98BD-2ED7-4F07-82B3-A3B4BCE7E46A}" srcOrd="0" destOrd="0" presId="urn:microsoft.com/office/officeart/2005/8/layout/vList2"/>
    <dgm:cxn modelId="{47F4F0A4-64CD-4B8B-B8B7-AC2A3915F493}" srcId="{65AB574B-B228-4761-B809-DE494ECE921E}" destId="{65CEB2A9-5BD6-4535-A528-21B33C174249}" srcOrd="6" destOrd="0" parTransId="{6AA51B85-3061-4B8B-8CC3-7BD1525B3C9D}" sibTransId="{E9C6E380-18D9-4FD4-AD4E-13117399E6C6}"/>
    <dgm:cxn modelId="{0C49B6A7-A54D-4DD3-B5E6-54CF23DD5FA0}" srcId="{15146AC3-6495-487A-A59A-8678BB69A317}" destId="{86085957-A16E-4C72-9138-6C9B64D9352A}" srcOrd="0" destOrd="0" parTransId="{CED142A3-A150-4AD6-BF64-C2D0D9AB8325}" sibTransId="{34E2DA64-A300-4B38-B3C1-837FD4B7034D}"/>
    <dgm:cxn modelId="{BE1412A9-1119-4F21-B485-E7D97EB4536C}" srcId="{65AB574B-B228-4761-B809-DE494ECE921E}" destId="{059EDBCB-948C-4167-9E05-D7FA4430C710}" srcOrd="8" destOrd="0" parTransId="{C30138CD-322E-4752-BF80-6BA24B2A04EE}" sibTransId="{3FB4102A-92D2-49B6-A11A-EDEBCABA80E8}"/>
    <dgm:cxn modelId="{12039BB1-FCF7-4534-8232-0713D356DF6D}" srcId="{65AB574B-B228-4761-B809-DE494ECE921E}" destId="{5CC1AF3F-F708-4AE0-B118-449B1AB2DDE3}" srcOrd="5" destOrd="0" parTransId="{738DBB76-52EB-434B-B2B5-89FA3B7B6C90}" sibTransId="{4AB3CA75-F9B0-4354-8C11-7CA35DA74402}"/>
    <dgm:cxn modelId="{BDB0B6B5-0797-4743-9A13-174B6ECCC4F9}" type="presOf" srcId="{15146AC3-6495-487A-A59A-8678BB69A317}" destId="{3F3C2C25-13E4-4654-B5C1-D27896EACFE2}" srcOrd="0" destOrd="0" presId="urn:microsoft.com/office/officeart/2005/8/layout/vList2"/>
    <dgm:cxn modelId="{306B0FB6-47B7-4746-B8FC-E7C1E70997A7}" srcId="{15146AC3-6495-487A-A59A-8678BB69A317}" destId="{F329B068-9BC4-4462-B9D5-9A619FF5230B}" srcOrd="1" destOrd="0" parTransId="{38D78629-776E-4003-A22F-FEAF89B391DA}" sibTransId="{13BD7148-BC80-4FB7-8095-67E29808C76F}"/>
    <dgm:cxn modelId="{7C61CDC6-5FC6-4052-990B-51D7AC3358FB}" type="presOf" srcId="{723998F3-6070-48DD-8746-FDB1F9EAA5F7}" destId="{031E98BD-2ED7-4F07-82B3-A3B4BCE7E46A}" srcOrd="0" destOrd="3" presId="urn:microsoft.com/office/officeart/2005/8/layout/vList2"/>
    <dgm:cxn modelId="{95E485D1-0FB9-4070-BAF8-BFE66F220D00}" srcId="{65AB574B-B228-4761-B809-DE494ECE921E}" destId="{7B9225A7-FD91-4913-B81A-EDEBE91C28E3}" srcOrd="9" destOrd="0" parTransId="{ED0B2524-25E1-4155-AFE6-71980C6486C3}" sibTransId="{F7EB1606-4867-4AC3-9E4B-E5F8C276A8C6}"/>
    <dgm:cxn modelId="{B3A839ED-EB96-4088-8ABD-9E6808581660}" type="presOf" srcId="{A9944A70-02D3-410C-928B-EFEB24C5B54F}" destId="{031E98BD-2ED7-4F07-82B3-A3B4BCE7E46A}" srcOrd="0" destOrd="1" presId="urn:microsoft.com/office/officeart/2005/8/layout/vList2"/>
    <dgm:cxn modelId="{0DED66ED-72AC-463E-A3B3-2C7058AE774A}" type="presOf" srcId="{7B9225A7-FD91-4913-B81A-EDEBE91C28E3}" destId="{031E98BD-2ED7-4F07-82B3-A3B4BCE7E46A}" srcOrd="0" destOrd="9" presId="urn:microsoft.com/office/officeart/2005/8/layout/vList2"/>
    <dgm:cxn modelId="{FDB199B1-7E72-43AB-B9C2-F3D265C450B9}" type="presParOf" srcId="{8CCB2EA1-111B-46B8-8079-7492E1B5542B}" destId="{3F3C2C25-13E4-4654-B5C1-D27896EACFE2}" srcOrd="0" destOrd="0" presId="urn:microsoft.com/office/officeart/2005/8/layout/vList2"/>
    <dgm:cxn modelId="{2329F8B0-0E3C-4A8A-A2FC-EDA3AD5061BB}" type="presParOf" srcId="{8CCB2EA1-111B-46B8-8079-7492E1B5542B}" destId="{133D3FF6-4C61-4E47-9673-BECA49670E51}" srcOrd="1" destOrd="0" presId="urn:microsoft.com/office/officeart/2005/8/layout/vList2"/>
    <dgm:cxn modelId="{29134945-F12C-4B0A-927A-FE5B8314DD38}" type="presParOf" srcId="{8CCB2EA1-111B-46B8-8079-7492E1B5542B}" destId="{CA1DEA98-0227-4375-B7C1-4CDD8CECB021}" srcOrd="2" destOrd="0" presId="urn:microsoft.com/office/officeart/2005/8/layout/vList2"/>
    <dgm:cxn modelId="{C3CDAE7C-6E37-401D-AB71-D79FAAAE42C1}" type="presParOf" srcId="{8CCB2EA1-111B-46B8-8079-7492E1B5542B}" destId="{031E98BD-2ED7-4F07-82B3-A3B4BCE7E46A}"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3C2C25-13E4-4654-B5C1-D27896EACFE2}">
      <dsp:nvSpPr>
        <dsp:cNvPr id="0" name=""/>
        <dsp:cNvSpPr/>
      </dsp:nvSpPr>
      <dsp:spPr>
        <a:xfrm>
          <a:off x="0" y="22265"/>
          <a:ext cx="8097520" cy="43817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Abadi Extra Light" panose="020B0204020104020204" pitchFamily="34" charset="0"/>
            </a:rPr>
            <a:t>Mandatory parameters</a:t>
          </a:r>
        </a:p>
      </dsp:txBody>
      <dsp:txXfrm>
        <a:off x="21390" y="43655"/>
        <a:ext cx="8054740" cy="395397"/>
      </dsp:txXfrm>
    </dsp:sp>
    <dsp:sp modelId="{133D3FF6-4C61-4E47-9673-BECA49670E51}">
      <dsp:nvSpPr>
        <dsp:cNvPr id="0" name=""/>
        <dsp:cNvSpPr/>
      </dsp:nvSpPr>
      <dsp:spPr>
        <a:xfrm>
          <a:off x="0" y="460442"/>
          <a:ext cx="8097520" cy="6789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7096" tIns="20320" rIns="113792" bIns="20320" numCol="1" spcCol="1270" anchor="t" anchorCtr="0">
          <a:noAutofit/>
        </a:bodyPr>
        <a:lstStyle/>
        <a:p>
          <a:pPr marL="171450" lvl="1" indent="-171450" algn="l" defTabSz="711200">
            <a:lnSpc>
              <a:spcPct val="90000"/>
            </a:lnSpc>
            <a:spcBef>
              <a:spcPct val="0"/>
            </a:spcBef>
            <a:spcAft>
              <a:spcPct val="20000"/>
            </a:spcAft>
            <a:buChar char="•"/>
          </a:pPr>
          <a:r>
            <a:rPr lang="en-US" sz="1600" kern="1200" dirty="0">
              <a:latin typeface="Abadi Extra Light" panose="020B0204020104020204" pitchFamily="34" charset="0"/>
            </a:rPr>
            <a:t>Input file containing patients and mutations.</a:t>
          </a:r>
        </a:p>
        <a:p>
          <a:pPr marL="171450" lvl="1" indent="-171450" algn="l" defTabSz="711200">
            <a:lnSpc>
              <a:spcPct val="90000"/>
            </a:lnSpc>
            <a:spcBef>
              <a:spcPct val="0"/>
            </a:spcBef>
            <a:spcAft>
              <a:spcPct val="20000"/>
            </a:spcAft>
            <a:buChar char="•"/>
          </a:pPr>
          <a:r>
            <a:rPr lang="en-US" sz="1600" kern="1200" dirty="0">
              <a:latin typeface="Abadi Extra Light" panose="020B0204020104020204" pitchFamily="34" charset="0"/>
            </a:rPr>
            <a:t>Folder containing pathways and their genes.</a:t>
          </a:r>
        </a:p>
      </dsp:txBody>
      <dsp:txXfrm>
        <a:off x="0" y="460442"/>
        <a:ext cx="8097520" cy="678960"/>
      </dsp:txXfrm>
    </dsp:sp>
    <dsp:sp modelId="{CA1DEA98-0227-4375-B7C1-4CDD8CECB021}">
      <dsp:nvSpPr>
        <dsp:cNvPr id="0" name=""/>
        <dsp:cNvSpPr/>
      </dsp:nvSpPr>
      <dsp:spPr>
        <a:xfrm>
          <a:off x="0" y="1139402"/>
          <a:ext cx="8097520" cy="42391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Abadi Extra Light" panose="020B0204020104020204" pitchFamily="34" charset="0"/>
            </a:rPr>
            <a:t>Optional parameters: act as filters</a:t>
          </a:r>
        </a:p>
      </dsp:txBody>
      <dsp:txXfrm>
        <a:off x="20694" y="1160096"/>
        <a:ext cx="8056132" cy="382528"/>
      </dsp:txXfrm>
    </dsp:sp>
    <dsp:sp modelId="{031E98BD-2ED7-4F07-82B3-A3B4BCE7E46A}">
      <dsp:nvSpPr>
        <dsp:cNvPr id="0" name=""/>
        <dsp:cNvSpPr/>
      </dsp:nvSpPr>
      <dsp:spPr>
        <a:xfrm>
          <a:off x="0" y="1563318"/>
          <a:ext cx="8097520" cy="2588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7096" tIns="20320" rIns="113792" bIns="20320" numCol="1" spcCol="1270" anchor="t" anchorCtr="0">
          <a:noAutofit/>
        </a:bodyPr>
        <a:lstStyle/>
        <a:p>
          <a:pPr marL="171450" lvl="1" indent="-171450" algn="l" defTabSz="711200">
            <a:lnSpc>
              <a:spcPct val="90000"/>
            </a:lnSpc>
            <a:spcBef>
              <a:spcPct val="0"/>
            </a:spcBef>
            <a:spcAft>
              <a:spcPct val="20000"/>
            </a:spcAft>
            <a:buChar char="•"/>
          </a:pPr>
          <a:r>
            <a:rPr lang="en-US" sz="1600" kern="1200" dirty="0">
              <a:latin typeface="Abadi Extra Light" panose="020B0204020104020204" pitchFamily="34" charset="0"/>
            </a:rPr>
            <a:t>Pathways.</a:t>
          </a:r>
        </a:p>
        <a:p>
          <a:pPr marL="171450" lvl="1" indent="-171450" algn="l" defTabSz="711200">
            <a:lnSpc>
              <a:spcPct val="90000"/>
            </a:lnSpc>
            <a:spcBef>
              <a:spcPct val="0"/>
            </a:spcBef>
            <a:spcAft>
              <a:spcPct val="20000"/>
            </a:spcAft>
            <a:buChar char="•"/>
          </a:pPr>
          <a:r>
            <a:rPr lang="en-US" sz="1600" kern="1200" dirty="0">
              <a:latin typeface="Abadi Extra Light" panose="020B0204020104020204" pitchFamily="34" charset="0"/>
            </a:rPr>
            <a:t>Genes.</a:t>
          </a:r>
        </a:p>
        <a:p>
          <a:pPr marL="171450" lvl="1" indent="-171450" algn="l" defTabSz="711200">
            <a:lnSpc>
              <a:spcPct val="90000"/>
            </a:lnSpc>
            <a:spcBef>
              <a:spcPct val="0"/>
            </a:spcBef>
            <a:spcAft>
              <a:spcPct val="20000"/>
            </a:spcAft>
            <a:buChar char="•"/>
          </a:pPr>
          <a:r>
            <a:rPr lang="en-US" sz="1600" kern="1200" dirty="0">
              <a:latin typeface="Abadi Extra Light" panose="020B0204020104020204" pitchFamily="34" charset="0"/>
            </a:rPr>
            <a:t>Patients.</a:t>
          </a:r>
        </a:p>
        <a:p>
          <a:pPr marL="171450" lvl="1" indent="-171450" algn="l" defTabSz="711200">
            <a:lnSpc>
              <a:spcPct val="90000"/>
            </a:lnSpc>
            <a:spcBef>
              <a:spcPct val="0"/>
            </a:spcBef>
            <a:spcAft>
              <a:spcPct val="20000"/>
            </a:spcAft>
            <a:buChar char="•"/>
          </a:pPr>
          <a:r>
            <a:rPr lang="en-US" sz="1600" kern="1200" dirty="0">
              <a:latin typeface="Abadi Extra Light" panose="020B0204020104020204" pitchFamily="34" charset="0"/>
            </a:rPr>
            <a:t>Consequences.</a:t>
          </a:r>
        </a:p>
        <a:p>
          <a:pPr marL="171450" lvl="1" indent="-171450" algn="l" defTabSz="711200">
            <a:lnSpc>
              <a:spcPct val="90000"/>
            </a:lnSpc>
            <a:spcBef>
              <a:spcPct val="0"/>
            </a:spcBef>
            <a:spcAft>
              <a:spcPct val="20000"/>
            </a:spcAft>
            <a:buChar char="•"/>
          </a:pPr>
          <a:r>
            <a:rPr lang="en-US" sz="1600" kern="1200" dirty="0" err="1">
              <a:latin typeface="Abadi Extra Light" panose="020B0204020104020204" pitchFamily="34" charset="0"/>
            </a:rPr>
            <a:t>pLI</a:t>
          </a:r>
          <a:r>
            <a:rPr lang="en-US" sz="1600" kern="1200" dirty="0">
              <a:latin typeface="Abadi Extra Light" panose="020B0204020104020204" pitchFamily="34" charset="0"/>
            </a:rPr>
            <a:t>.</a:t>
          </a:r>
        </a:p>
        <a:p>
          <a:pPr marL="171450" lvl="1" indent="-171450" algn="l" defTabSz="711200">
            <a:lnSpc>
              <a:spcPct val="90000"/>
            </a:lnSpc>
            <a:spcBef>
              <a:spcPct val="0"/>
            </a:spcBef>
            <a:spcAft>
              <a:spcPct val="20000"/>
            </a:spcAft>
            <a:buChar char="•"/>
          </a:pPr>
          <a:r>
            <a:rPr lang="en-US" sz="1600" kern="1200" dirty="0" err="1">
              <a:latin typeface="Abadi Extra Light" panose="020B0204020104020204" pitchFamily="34" charset="0"/>
            </a:rPr>
            <a:t>pRecessive</a:t>
          </a:r>
          <a:r>
            <a:rPr lang="en-US" sz="1600" kern="1200" dirty="0">
              <a:latin typeface="Abadi Extra Light" panose="020B0204020104020204" pitchFamily="34" charset="0"/>
            </a:rPr>
            <a:t>.</a:t>
          </a:r>
        </a:p>
        <a:p>
          <a:pPr marL="171450" lvl="1" indent="-171450" algn="l" defTabSz="711200">
            <a:lnSpc>
              <a:spcPct val="90000"/>
            </a:lnSpc>
            <a:spcBef>
              <a:spcPct val="0"/>
            </a:spcBef>
            <a:spcAft>
              <a:spcPct val="20000"/>
            </a:spcAft>
            <a:buChar char="•"/>
          </a:pPr>
          <a:r>
            <a:rPr lang="en-US" sz="1600" kern="1200" dirty="0">
              <a:latin typeface="Abadi Extra Light" panose="020B0204020104020204" pitchFamily="34" charset="0"/>
            </a:rPr>
            <a:t>Max control AF.</a:t>
          </a:r>
        </a:p>
        <a:p>
          <a:pPr marL="171450" lvl="1" indent="-171450" algn="l" defTabSz="711200">
            <a:lnSpc>
              <a:spcPct val="90000"/>
            </a:lnSpc>
            <a:spcBef>
              <a:spcPct val="0"/>
            </a:spcBef>
            <a:spcAft>
              <a:spcPct val="20000"/>
            </a:spcAft>
            <a:buChar char="•"/>
          </a:pPr>
          <a:r>
            <a:rPr lang="en-US" sz="1600" kern="1200" dirty="0">
              <a:latin typeface="Abadi Extra Light" panose="020B0204020104020204" pitchFamily="34" charset="0"/>
            </a:rPr>
            <a:t>PolyPhen2 prediction label.</a:t>
          </a:r>
        </a:p>
        <a:p>
          <a:pPr marL="171450" lvl="1" indent="-171450" algn="l" defTabSz="711200">
            <a:lnSpc>
              <a:spcPct val="90000"/>
            </a:lnSpc>
            <a:spcBef>
              <a:spcPct val="0"/>
            </a:spcBef>
            <a:spcAft>
              <a:spcPct val="20000"/>
            </a:spcAft>
            <a:buChar char="•"/>
          </a:pPr>
          <a:r>
            <a:rPr lang="en-US" sz="1600" kern="1200" dirty="0">
              <a:latin typeface="Abadi Extra Light" panose="020B0204020104020204" pitchFamily="34" charset="0"/>
            </a:rPr>
            <a:t>MPC.</a:t>
          </a:r>
        </a:p>
        <a:p>
          <a:pPr marL="171450" lvl="1" indent="-171450" algn="l" defTabSz="711200">
            <a:lnSpc>
              <a:spcPct val="90000"/>
            </a:lnSpc>
            <a:spcBef>
              <a:spcPct val="0"/>
            </a:spcBef>
            <a:spcAft>
              <a:spcPct val="20000"/>
            </a:spcAft>
            <a:buChar char="•"/>
          </a:pPr>
          <a:r>
            <a:rPr lang="en-US" sz="1600" kern="1200" dirty="0">
              <a:latin typeface="Abadi Extra Light" panose="020B0204020104020204" pitchFamily="34" charset="0"/>
            </a:rPr>
            <a:t>Adjusted consequence.</a:t>
          </a:r>
        </a:p>
      </dsp:txBody>
      <dsp:txXfrm>
        <a:off x="0" y="1563318"/>
        <a:ext cx="8097520" cy="2588535"/>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3A641305-E248-4842-AEF6-36C2F2A111BC}" type="datetimeFigureOut">
              <a:rPr lang="en-US" smtClean="0"/>
              <a:t>9/3/2019</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0B20743B-7677-4FA6-A7F0-12EE4ABB5816}" type="slidenum">
              <a:rPr lang="en-US" smtClean="0"/>
              <a:t>‹#›</a:t>
            </a:fld>
            <a:endParaRPr lang="en-US"/>
          </a:p>
        </p:txBody>
      </p:sp>
    </p:spTree>
    <p:extLst>
      <p:ext uri="{BB962C8B-B14F-4D97-AF65-F5344CB8AC3E}">
        <p14:creationId xmlns:p14="http://schemas.microsoft.com/office/powerpoint/2010/main" val="16937433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8" name="PlaceHolder 2"/>
          <p:cNvSpPr>
            <a:spLocks noGrp="1"/>
          </p:cNvSpPr>
          <p:nvPr>
            <p:ph type="subTitle"/>
          </p:nvPr>
        </p:nvSpPr>
        <p:spPr>
          <a:xfrm>
            <a:off x="457200" y="1604520"/>
            <a:ext cx="8229240" cy="397728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10"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12"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latin typeface="Arial"/>
            </a:endParaRPr>
          </a:p>
        </p:txBody>
      </p:sp>
      <p:sp>
        <p:nvSpPr>
          <p:cNvPr id="13"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5" name="PlaceHolder 1"/>
          <p:cNvSpPr>
            <a:spLocks noGrp="1"/>
          </p:cNvSpPr>
          <p:nvPr>
            <p:ph type="subTitle"/>
          </p:nvPr>
        </p:nvSpPr>
        <p:spPr>
          <a:xfrm>
            <a:off x="457200" y="273600"/>
            <a:ext cx="8229240" cy="530784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17"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latin typeface="Arial"/>
            </a:endParaRPr>
          </a:p>
        </p:txBody>
      </p:sp>
      <p:sp>
        <p:nvSpPr>
          <p:cNvPr id="18"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latin typeface="Arial"/>
            </a:endParaRPr>
          </a:p>
        </p:txBody>
      </p:sp>
      <p:sp>
        <p:nvSpPr>
          <p:cNvPr id="19"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21"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latin typeface="Arial"/>
            </a:endParaRPr>
          </a:p>
        </p:txBody>
      </p:sp>
      <p:sp>
        <p:nvSpPr>
          <p:cNvPr id="22"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latin typeface="Arial"/>
            </a:endParaRPr>
          </a:p>
        </p:txBody>
      </p:sp>
      <p:sp>
        <p:nvSpPr>
          <p:cNvPr id="23"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2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latin typeface="Arial"/>
            </a:endParaRPr>
          </a:p>
        </p:txBody>
      </p:sp>
      <p:sp>
        <p:nvSpPr>
          <p:cNvPr id="2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latin typeface="Arial"/>
            </a:endParaRPr>
          </a:p>
        </p:txBody>
      </p:sp>
      <p:sp>
        <p:nvSpPr>
          <p:cNvPr id="27"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29"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latin typeface="Arial"/>
            </a:endParaRPr>
          </a:p>
        </p:txBody>
      </p:sp>
      <p:sp>
        <p:nvSpPr>
          <p:cNvPr id="30"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32"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latin typeface="Arial"/>
            </a:endParaRPr>
          </a:p>
        </p:txBody>
      </p:sp>
      <p:sp>
        <p:nvSpPr>
          <p:cNvPr id="33"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latin typeface="Arial"/>
            </a:endParaRPr>
          </a:p>
        </p:txBody>
      </p:sp>
      <p:sp>
        <p:nvSpPr>
          <p:cNvPr id="34"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latin typeface="Arial"/>
            </a:endParaRPr>
          </a:p>
        </p:txBody>
      </p:sp>
      <p:sp>
        <p:nvSpPr>
          <p:cNvPr id="35"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6"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37"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latin typeface="Arial"/>
            </a:endParaRPr>
          </a:p>
        </p:txBody>
      </p:sp>
      <p:sp>
        <p:nvSpPr>
          <p:cNvPr id="38"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latin typeface="Arial"/>
            </a:endParaRPr>
          </a:p>
        </p:txBody>
      </p:sp>
      <p:sp>
        <p:nvSpPr>
          <p:cNvPr id="39"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latin typeface="Arial"/>
            </a:endParaRPr>
          </a:p>
        </p:txBody>
      </p:sp>
      <p:sp>
        <p:nvSpPr>
          <p:cNvPr id="40"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latin typeface="Arial"/>
            </a:endParaRPr>
          </a:p>
        </p:txBody>
      </p:sp>
      <p:sp>
        <p:nvSpPr>
          <p:cNvPr id="41"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latin typeface="Arial"/>
            </a:endParaRPr>
          </a:p>
        </p:txBody>
      </p:sp>
      <p:sp>
        <p:nvSpPr>
          <p:cNvPr id="42"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3"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54" name="PlaceHolder 2"/>
          <p:cNvSpPr>
            <a:spLocks noGrp="1"/>
          </p:cNvSpPr>
          <p:nvPr>
            <p:ph type="subTitle"/>
          </p:nvPr>
        </p:nvSpPr>
        <p:spPr>
          <a:xfrm>
            <a:off x="457200" y="1604520"/>
            <a:ext cx="8229240" cy="397728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56"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58"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latin typeface="Arial"/>
            </a:endParaRPr>
          </a:p>
        </p:txBody>
      </p:sp>
      <p:sp>
        <p:nvSpPr>
          <p:cNvPr id="59"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0"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61" name="PlaceHolder 1"/>
          <p:cNvSpPr>
            <a:spLocks noGrp="1"/>
          </p:cNvSpPr>
          <p:nvPr>
            <p:ph type="subTitle"/>
          </p:nvPr>
        </p:nvSpPr>
        <p:spPr>
          <a:xfrm>
            <a:off x="457200" y="273600"/>
            <a:ext cx="8229240" cy="530784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63"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latin typeface="Arial"/>
            </a:endParaRPr>
          </a:p>
        </p:txBody>
      </p:sp>
      <p:sp>
        <p:nvSpPr>
          <p:cNvPr id="64"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latin typeface="Arial"/>
            </a:endParaRPr>
          </a:p>
        </p:txBody>
      </p:sp>
      <p:sp>
        <p:nvSpPr>
          <p:cNvPr id="65"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66"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67"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latin typeface="Arial"/>
            </a:endParaRPr>
          </a:p>
        </p:txBody>
      </p:sp>
      <p:sp>
        <p:nvSpPr>
          <p:cNvPr id="68"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latin typeface="Arial"/>
            </a:endParaRPr>
          </a:p>
        </p:txBody>
      </p:sp>
      <p:sp>
        <p:nvSpPr>
          <p:cNvPr id="69"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71"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latin typeface="Arial"/>
            </a:endParaRPr>
          </a:p>
        </p:txBody>
      </p:sp>
      <p:sp>
        <p:nvSpPr>
          <p:cNvPr id="72"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latin typeface="Arial"/>
            </a:endParaRPr>
          </a:p>
        </p:txBody>
      </p:sp>
      <p:sp>
        <p:nvSpPr>
          <p:cNvPr id="73"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74"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75"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latin typeface="Arial"/>
            </a:endParaRPr>
          </a:p>
        </p:txBody>
      </p:sp>
      <p:sp>
        <p:nvSpPr>
          <p:cNvPr id="76"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7"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7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latin typeface="Arial"/>
            </a:endParaRPr>
          </a:p>
        </p:txBody>
      </p:sp>
      <p:sp>
        <p:nvSpPr>
          <p:cNvPr id="7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latin typeface="Arial"/>
            </a:endParaRPr>
          </a:p>
        </p:txBody>
      </p:sp>
      <p:sp>
        <p:nvSpPr>
          <p:cNvPr id="80"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latin typeface="Arial"/>
            </a:endParaRPr>
          </a:p>
        </p:txBody>
      </p:sp>
      <p:sp>
        <p:nvSpPr>
          <p:cNvPr id="81"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82"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83"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latin typeface="Arial"/>
            </a:endParaRPr>
          </a:p>
        </p:txBody>
      </p:sp>
      <p:sp>
        <p:nvSpPr>
          <p:cNvPr id="84"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latin typeface="Arial"/>
            </a:endParaRPr>
          </a:p>
        </p:txBody>
      </p:sp>
      <p:sp>
        <p:nvSpPr>
          <p:cNvPr id="85"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latin typeface="Arial"/>
            </a:endParaRPr>
          </a:p>
        </p:txBody>
      </p:sp>
      <p:sp>
        <p:nvSpPr>
          <p:cNvPr id="86"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latin typeface="Arial"/>
            </a:endParaRPr>
          </a:p>
        </p:txBody>
      </p:sp>
      <p:sp>
        <p:nvSpPr>
          <p:cNvPr id="87"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latin typeface="Arial"/>
            </a:endParaRPr>
          </a:p>
        </p:txBody>
      </p:sp>
      <p:sp>
        <p:nvSpPr>
          <p:cNvPr id="88"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image" Target="../media/image3.pn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image" Target="../media/image5.png"/><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4.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7" name="Picture 12"/>
          <p:cNvPicPr/>
          <p:nvPr/>
        </p:nvPicPr>
        <p:blipFill>
          <a:blip r:embed="rId14"/>
          <a:srcRect l="19261" t="20543" r="23607" b="31256"/>
          <a:stretch/>
        </p:blipFill>
        <p:spPr>
          <a:xfrm>
            <a:off x="0" y="1507320"/>
            <a:ext cx="9142920" cy="5131800"/>
          </a:xfrm>
          <a:prstGeom prst="rect">
            <a:avLst/>
          </a:prstGeom>
          <a:ln>
            <a:noFill/>
          </a:ln>
        </p:spPr>
      </p:pic>
      <p:sp>
        <p:nvSpPr>
          <p:cNvPr id="8" name="Line 1"/>
          <p:cNvSpPr/>
          <p:nvPr/>
        </p:nvSpPr>
        <p:spPr>
          <a:xfrm>
            <a:off x="-11880" y="1388520"/>
            <a:ext cx="9155880" cy="360"/>
          </a:xfrm>
          <a:prstGeom prst="line">
            <a:avLst/>
          </a:prstGeom>
          <a:ln w="241200">
            <a:solidFill>
              <a:srgbClr val="00AAE9"/>
            </a:solidFill>
            <a:round/>
          </a:ln>
        </p:spPr>
        <p:style>
          <a:lnRef idx="1">
            <a:schemeClr val="accent1"/>
          </a:lnRef>
          <a:fillRef idx="0">
            <a:schemeClr val="accent1"/>
          </a:fillRef>
          <a:effectRef idx="0">
            <a:schemeClr val="accent1"/>
          </a:effectRef>
          <a:fontRef idx="minor"/>
        </p:style>
      </p:sp>
      <p:sp>
        <p:nvSpPr>
          <p:cNvPr id="2" name="Line 2"/>
          <p:cNvSpPr/>
          <p:nvPr/>
        </p:nvSpPr>
        <p:spPr>
          <a:xfrm>
            <a:off x="-11880" y="6748920"/>
            <a:ext cx="9155880" cy="360"/>
          </a:xfrm>
          <a:prstGeom prst="line">
            <a:avLst/>
          </a:prstGeom>
          <a:ln w="241200">
            <a:solidFill>
              <a:schemeClr val="accent2"/>
            </a:solidFill>
            <a:round/>
          </a:ln>
        </p:spPr>
        <p:style>
          <a:lnRef idx="1">
            <a:schemeClr val="accent1"/>
          </a:lnRef>
          <a:fillRef idx="0">
            <a:schemeClr val="accent1"/>
          </a:fillRef>
          <a:effectRef idx="0">
            <a:schemeClr val="accent1"/>
          </a:effectRef>
          <a:fontRef idx="minor"/>
        </p:style>
      </p:sp>
      <p:pic>
        <p:nvPicPr>
          <p:cNvPr id="3" name="Picture 11"/>
          <p:cNvPicPr/>
          <p:nvPr/>
        </p:nvPicPr>
        <p:blipFill>
          <a:blip r:embed="rId15"/>
          <a:stretch/>
        </p:blipFill>
        <p:spPr>
          <a:xfrm>
            <a:off x="285840" y="357480"/>
            <a:ext cx="2799360" cy="628200"/>
          </a:xfrm>
          <a:prstGeom prst="rect">
            <a:avLst/>
          </a:prstGeom>
          <a:ln>
            <a:noFill/>
          </a:ln>
        </p:spPr>
      </p:pic>
      <p:sp>
        <p:nvSpPr>
          <p:cNvPr id="4" name="PlaceHolder 3"/>
          <p:cNvSpPr>
            <a:spLocks noGrp="1"/>
          </p:cNvSpPr>
          <p:nvPr>
            <p:ph type="title"/>
          </p:nvPr>
        </p:nvSpPr>
        <p:spPr>
          <a:xfrm>
            <a:off x="457200" y="273600"/>
            <a:ext cx="8229240" cy="1144800"/>
          </a:xfrm>
          <a:prstGeom prst="rect">
            <a:avLst/>
          </a:prstGeom>
        </p:spPr>
        <p:txBody>
          <a:bodyPr lIns="0" tIns="0" rIns="0" bIns="0" anchor="ctr"/>
          <a:lstStyle/>
          <a:p>
            <a:pPr algn="ctr"/>
            <a:r>
              <a:rPr lang="en-US" sz="4400" b="0" strike="noStrike" spc="-1">
                <a:latin typeface="Arial"/>
              </a:rPr>
              <a:t>Click to edit the title text format</a:t>
            </a:r>
          </a:p>
        </p:txBody>
      </p:sp>
      <p:sp>
        <p:nvSpPr>
          <p:cNvPr id="5" name="PlaceHolder 4"/>
          <p:cNvSpPr>
            <a:spLocks noGrp="1"/>
          </p:cNvSpPr>
          <p:nvPr>
            <p:ph type="body"/>
          </p:nvPr>
        </p:nvSpPr>
        <p:spPr>
          <a:xfrm>
            <a:off x="457200" y="1604520"/>
            <a:ext cx="82292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pic>
        <p:nvPicPr>
          <p:cNvPr id="6" name="Picture 5"/>
          <p:cNvPicPr/>
          <p:nvPr/>
        </p:nvPicPr>
        <p:blipFill>
          <a:blip r:embed="rId16"/>
          <a:stretch/>
        </p:blipFill>
        <p:spPr>
          <a:xfrm>
            <a:off x="3295800" y="512640"/>
            <a:ext cx="544320" cy="329760"/>
          </a:xfrm>
          <a:prstGeom prst="rect">
            <a:avLst/>
          </a:prstGeom>
          <a:ln>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 name="Line 1"/>
          <p:cNvSpPr/>
          <p:nvPr/>
        </p:nvSpPr>
        <p:spPr>
          <a:xfrm>
            <a:off x="200160" y="6352560"/>
            <a:ext cx="8691120" cy="360"/>
          </a:xfrm>
          <a:prstGeom prst="line">
            <a:avLst/>
          </a:prstGeom>
          <a:ln>
            <a:solidFill>
              <a:schemeClr val="accent1"/>
            </a:solidFill>
            <a:round/>
          </a:ln>
        </p:spPr>
        <p:style>
          <a:lnRef idx="1">
            <a:schemeClr val="accent1"/>
          </a:lnRef>
          <a:fillRef idx="0">
            <a:schemeClr val="accent1"/>
          </a:fillRef>
          <a:effectRef idx="0">
            <a:schemeClr val="accent1"/>
          </a:effectRef>
          <a:fontRef idx="minor"/>
        </p:style>
      </p:sp>
      <p:sp>
        <p:nvSpPr>
          <p:cNvPr id="44" name="CustomShape 2"/>
          <p:cNvSpPr/>
          <p:nvPr/>
        </p:nvSpPr>
        <p:spPr>
          <a:xfrm>
            <a:off x="200520" y="6481080"/>
            <a:ext cx="7480080" cy="393480"/>
          </a:xfrm>
          <a:prstGeom prst="rect">
            <a:avLst/>
          </a:prstGeom>
          <a:noFill/>
          <a:ln>
            <a:noFill/>
          </a:ln>
        </p:spPr>
        <p:style>
          <a:lnRef idx="0">
            <a:scrgbClr r="0" g="0" b="0"/>
          </a:lnRef>
          <a:fillRef idx="0">
            <a:scrgbClr r="0" g="0" b="0"/>
          </a:fillRef>
          <a:effectRef idx="0">
            <a:scrgbClr r="0" g="0" b="0"/>
          </a:effectRef>
          <a:fontRef idx="minor"/>
        </p:style>
        <p:txBody>
          <a:bodyPr lIns="0" tIns="45000" rIns="90000" bIns="45000"/>
          <a:lstStyle/>
          <a:p>
            <a:pPr>
              <a:lnSpc>
                <a:spcPct val="100000"/>
              </a:lnSpc>
            </a:pPr>
            <a:r>
              <a:rPr lang="en-US" sz="1000" b="1" strike="noStrike" spc="-1">
                <a:solidFill>
                  <a:srgbClr val="00AEEF"/>
                </a:solidFill>
                <a:latin typeface="Tahoma"/>
                <a:ea typeface="Tahoma"/>
              </a:rPr>
              <a:t>CONFIDENTIAL</a:t>
            </a:r>
            <a:r>
              <a:rPr lang="en-US" sz="1000" b="0" strike="noStrike" spc="-1">
                <a:solidFill>
                  <a:srgbClr val="4D4D4F"/>
                </a:solidFill>
                <a:latin typeface="Tahoma"/>
                <a:ea typeface="Tahoma"/>
              </a:rPr>
              <a:t> </a:t>
            </a:r>
            <a:r>
              <a:rPr lang="en-US" sz="1000" b="0" strike="noStrike" spc="-1">
                <a:solidFill>
                  <a:srgbClr val="757070"/>
                </a:solidFill>
                <a:latin typeface="Tahoma"/>
                <a:ea typeface="Tahoma"/>
              </a:rPr>
              <a:t>STALICLA R&amp;D – Do not use, modify or transmit content without prior authorization  </a:t>
            </a:r>
            <a:endParaRPr lang="en-US" sz="1000" b="0" strike="noStrike" spc="-1">
              <a:latin typeface="Arial"/>
            </a:endParaRPr>
          </a:p>
        </p:txBody>
      </p:sp>
      <p:grpSp>
        <p:nvGrpSpPr>
          <p:cNvPr id="45" name="Group 3"/>
          <p:cNvGrpSpPr/>
          <p:nvPr/>
        </p:nvGrpSpPr>
        <p:grpSpPr>
          <a:xfrm>
            <a:off x="-7200" y="158040"/>
            <a:ext cx="9151200" cy="1213560"/>
            <a:chOff x="-7200" y="158040"/>
            <a:chExt cx="9151200" cy="1213560"/>
          </a:xfrm>
        </p:grpSpPr>
        <p:pic>
          <p:nvPicPr>
            <p:cNvPr id="46" name="Picture 29"/>
            <p:cNvPicPr/>
            <p:nvPr/>
          </p:nvPicPr>
          <p:blipFill>
            <a:blip r:embed="rId14"/>
            <a:srcRect t="20824" r="3163" b="28132"/>
            <a:stretch/>
          </p:blipFill>
          <p:spPr>
            <a:xfrm>
              <a:off x="-4320" y="712440"/>
              <a:ext cx="9147240" cy="646920"/>
            </a:xfrm>
            <a:prstGeom prst="rect">
              <a:avLst/>
            </a:prstGeom>
            <a:ln>
              <a:noFill/>
            </a:ln>
          </p:spPr>
        </p:pic>
        <p:sp>
          <p:nvSpPr>
            <p:cNvPr id="47" name="Line 4"/>
            <p:cNvSpPr/>
            <p:nvPr/>
          </p:nvSpPr>
          <p:spPr>
            <a:xfrm>
              <a:off x="-7200" y="704520"/>
              <a:ext cx="9151200" cy="360"/>
            </a:xfrm>
            <a:prstGeom prst="line">
              <a:avLst/>
            </a:prstGeom>
            <a:ln w="34920">
              <a:solidFill>
                <a:srgbClr val="00AAE9"/>
              </a:solidFill>
              <a:round/>
            </a:ln>
          </p:spPr>
          <p:style>
            <a:lnRef idx="1">
              <a:schemeClr val="accent1"/>
            </a:lnRef>
            <a:fillRef idx="0">
              <a:schemeClr val="accent1"/>
            </a:fillRef>
            <a:effectRef idx="0">
              <a:schemeClr val="accent1"/>
            </a:effectRef>
            <a:fontRef idx="minor"/>
          </p:style>
        </p:sp>
        <p:sp>
          <p:nvSpPr>
            <p:cNvPr id="48" name="Line 5"/>
            <p:cNvSpPr/>
            <p:nvPr/>
          </p:nvSpPr>
          <p:spPr>
            <a:xfrm>
              <a:off x="-7200" y="1371240"/>
              <a:ext cx="9151200" cy="360"/>
            </a:xfrm>
            <a:prstGeom prst="line">
              <a:avLst/>
            </a:prstGeom>
            <a:ln w="34920">
              <a:solidFill>
                <a:schemeClr val="accent2"/>
              </a:solidFill>
              <a:round/>
            </a:ln>
          </p:spPr>
          <p:style>
            <a:lnRef idx="1">
              <a:schemeClr val="accent1"/>
            </a:lnRef>
            <a:fillRef idx="0">
              <a:schemeClr val="accent1"/>
            </a:fillRef>
            <a:effectRef idx="0">
              <a:schemeClr val="accent1"/>
            </a:effectRef>
            <a:fontRef idx="minor"/>
          </p:style>
        </p:sp>
        <p:pic>
          <p:nvPicPr>
            <p:cNvPr id="49" name="Picture 32"/>
            <p:cNvPicPr/>
            <p:nvPr/>
          </p:nvPicPr>
          <p:blipFill>
            <a:blip r:embed="rId15"/>
            <a:stretch/>
          </p:blipFill>
          <p:spPr>
            <a:xfrm>
              <a:off x="274680" y="158040"/>
              <a:ext cx="1650600" cy="370080"/>
            </a:xfrm>
            <a:prstGeom prst="rect">
              <a:avLst/>
            </a:prstGeom>
            <a:ln>
              <a:noFill/>
            </a:ln>
          </p:spPr>
        </p:pic>
      </p:grpSp>
      <p:pic>
        <p:nvPicPr>
          <p:cNvPr id="50" name="Picture 49"/>
          <p:cNvPicPr/>
          <p:nvPr/>
        </p:nvPicPr>
        <p:blipFill>
          <a:blip r:embed="rId16"/>
          <a:stretch/>
        </p:blipFill>
        <p:spPr>
          <a:xfrm>
            <a:off x="2047680" y="216360"/>
            <a:ext cx="421200" cy="255240"/>
          </a:xfrm>
          <a:prstGeom prst="rect">
            <a:avLst/>
          </a:prstGeom>
          <a:ln>
            <a:noFill/>
          </a:ln>
        </p:spPr>
      </p:pic>
      <p:sp>
        <p:nvSpPr>
          <p:cNvPr id="51" name="PlaceHolder 6"/>
          <p:cNvSpPr>
            <a:spLocks noGrp="1"/>
          </p:cNvSpPr>
          <p:nvPr>
            <p:ph type="title"/>
          </p:nvPr>
        </p:nvSpPr>
        <p:spPr>
          <a:xfrm>
            <a:off x="457200" y="273600"/>
            <a:ext cx="8229240" cy="1144800"/>
          </a:xfrm>
          <a:prstGeom prst="rect">
            <a:avLst/>
          </a:prstGeom>
        </p:spPr>
        <p:txBody>
          <a:bodyPr lIns="0" tIns="0" rIns="0" bIns="0" anchor="ctr"/>
          <a:lstStyle/>
          <a:p>
            <a:pPr algn="ctr"/>
            <a:r>
              <a:rPr lang="en-US" sz="4400" b="0" strike="noStrike" spc="-1">
                <a:latin typeface="Arial"/>
              </a:rPr>
              <a:t>Click to edit the title text format</a:t>
            </a:r>
          </a:p>
        </p:txBody>
      </p:sp>
      <p:sp>
        <p:nvSpPr>
          <p:cNvPr id="52" name="PlaceHolder 7"/>
          <p:cNvSpPr>
            <a:spLocks noGrp="1"/>
          </p:cNvSpPr>
          <p:nvPr>
            <p:ph type="body"/>
          </p:nvPr>
        </p:nvSpPr>
        <p:spPr>
          <a:xfrm>
            <a:off x="457200" y="1604520"/>
            <a:ext cx="82292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2" Type="http://schemas.openxmlformats.org/officeDocument/2006/relationships/hyperlink" Target="https://github.com/mgmartinezl/Stalicla-PBPM" TargetMode="Externa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CustomShape 1"/>
          <p:cNvSpPr/>
          <p:nvPr/>
        </p:nvSpPr>
        <p:spPr>
          <a:xfrm>
            <a:off x="4561840" y="2828160"/>
            <a:ext cx="3459599" cy="650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r">
              <a:lnSpc>
                <a:spcPct val="90000"/>
              </a:lnSpc>
            </a:pPr>
            <a:r>
              <a:rPr lang="en-US" sz="3200" b="1" strike="noStrike" spc="-1" dirty="0">
                <a:solidFill>
                  <a:srgbClr val="FFFFFF"/>
                </a:solidFill>
                <a:latin typeface="Abadi Extra Light" panose="020B0604020202020204" pitchFamily="34" charset="0"/>
                <a:ea typeface="Tahoma"/>
              </a:rPr>
              <a:t>Overview of the PBPM protocol</a:t>
            </a:r>
          </a:p>
          <a:p>
            <a:pPr algn="r">
              <a:lnSpc>
                <a:spcPct val="90000"/>
              </a:lnSpc>
            </a:pPr>
            <a:endParaRPr lang="en-US" sz="3200" b="1" spc="-1" dirty="0">
              <a:solidFill>
                <a:srgbClr val="FFFFFF"/>
              </a:solidFill>
              <a:latin typeface="Abadi Extra Light" panose="020B0604020202020204" pitchFamily="34" charset="0"/>
              <a:ea typeface="Tahoma"/>
            </a:endParaRPr>
          </a:p>
          <a:p>
            <a:pPr algn="r">
              <a:lnSpc>
                <a:spcPct val="90000"/>
              </a:lnSpc>
            </a:pPr>
            <a:endParaRPr lang="en-US" sz="3200" b="1" spc="-1" dirty="0">
              <a:solidFill>
                <a:srgbClr val="FFFFFF"/>
              </a:solidFill>
              <a:latin typeface="Abadi Extra Light" panose="020B0604020202020204" pitchFamily="34" charset="0"/>
              <a:ea typeface="Tahoma"/>
            </a:endParaRPr>
          </a:p>
          <a:p>
            <a:pPr algn="r">
              <a:lnSpc>
                <a:spcPct val="90000"/>
              </a:lnSpc>
            </a:pPr>
            <a:r>
              <a:rPr lang="en-US" sz="2400" b="1" spc="-1" dirty="0">
                <a:solidFill>
                  <a:srgbClr val="FFFFFF"/>
                </a:solidFill>
                <a:latin typeface="Abadi Extra Light" panose="020B0604020202020204" pitchFamily="34" charset="0"/>
                <a:ea typeface="Tahoma"/>
              </a:rPr>
              <a:t>Gabriela Martínez</a:t>
            </a:r>
          </a:p>
          <a:p>
            <a:pPr algn="r">
              <a:lnSpc>
                <a:spcPct val="90000"/>
              </a:lnSpc>
            </a:pPr>
            <a:r>
              <a:rPr lang="en-US" sz="2400" spc="-1" dirty="0">
                <a:solidFill>
                  <a:srgbClr val="FFFFFF"/>
                </a:solidFill>
                <a:latin typeface="Abadi Extra Light" panose="020B0604020202020204" pitchFamily="34" charset="0"/>
                <a:ea typeface="Tahoma"/>
              </a:rPr>
              <a:t>September 2019</a:t>
            </a:r>
            <a:br>
              <a:rPr dirty="0">
                <a:latin typeface="Abadi Extra Light" panose="020B0604020202020204" pitchFamily="34" charset="0"/>
              </a:rPr>
            </a:br>
            <a:endParaRPr lang="en-US" sz="3200" b="0" strike="noStrike" spc="-1" dirty="0">
              <a:latin typeface="Abadi Extra Light" panose="020B0604020202020204" pitchFamily="34" charset="0"/>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stomShape 2">
            <a:extLst>
              <a:ext uri="{FF2B5EF4-FFF2-40B4-BE49-F238E27FC236}">
                <a16:creationId xmlns:a16="http://schemas.microsoft.com/office/drawing/2014/main" id="{49E7E72C-58EB-4A00-8526-CA85934BCBB9}"/>
              </a:ext>
            </a:extLst>
          </p:cNvPr>
          <p:cNvSpPr/>
          <p:nvPr/>
        </p:nvSpPr>
        <p:spPr>
          <a:xfrm>
            <a:off x="250920" y="157644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The PBPM protocol</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9" name="CustomShape 2">
            <a:extLst>
              <a:ext uri="{FF2B5EF4-FFF2-40B4-BE49-F238E27FC236}">
                <a16:creationId xmlns:a16="http://schemas.microsoft.com/office/drawing/2014/main" id="{E02F744F-5BBC-48CD-BB68-2132C42DA5E2}"/>
              </a:ext>
            </a:extLst>
          </p:cNvPr>
          <p:cNvSpPr/>
          <p:nvPr/>
        </p:nvSpPr>
        <p:spPr>
          <a:xfrm>
            <a:off x="250920" y="2024009"/>
            <a:ext cx="8476520" cy="3685911"/>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trike="noStrike" spc="-1" dirty="0">
                <a:solidFill>
                  <a:schemeClr val="tx2"/>
                </a:solidFill>
                <a:latin typeface="Abadi Extra Light" panose="020B0604020202020204" pitchFamily="34" charset="0"/>
                <a:ea typeface="Tahoma"/>
                <a:cs typeface="Calibri Light" panose="020F0302020204030204" pitchFamily="34" charset="0"/>
              </a:rPr>
              <a:t>A command line inter</a:t>
            </a:r>
            <a:r>
              <a:rPr lang="en-US" sz="2000" spc="-1" dirty="0">
                <a:solidFill>
                  <a:schemeClr val="tx2"/>
                </a:solidFill>
                <a:latin typeface="Abadi Extra Light" panose="020B0604020202020204" pitchFamily="34" charset="0"/>
                <a:ea typeface="Tahoma"/>
                <a:cs typeface="Calibri Light" panose="020F0302020204030204" pitchFamily="34" charset="0"/>
              </a:rPr>
              <a:t>face program built in Python 3 to generate Patient by Disrupted Pathways Matrices (PBPMs). It generates three types of matrices:</a:t>
            </a: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marL="342900" indent="-342900" algn="just">
              <a:lnSpc>
                <a:spcPct val="90000"/>
              </a:lnSpc>
              <a:buFont typeface="Arial" panose="020B0604020202020204" pitchFamily="34" charset="0"/>
              <a:buChar char="•"/>
            </a:pPr>
            <a:r>
              <a:rPr lang="en-US" sz="2000" b="1" spc="-1" dirty="0">
                <a:solidFill>
                  <a:schemeClr val="tx2"/>
                </a:solidFill>
                <a:latin typeface="Abadi Extra Light" panose="020B0604020202020204" pitchFamily="34" charset="0"/>
                <a:ea typeface="Tahoma"/>
                <a:cs typeface="Calibri Light" panose="020F0302020204030204" pitchFamily="34" charset="0"/>
              </a:rPr>
              <a:t>Binary PBPM: </a:t>
            </a:r>
            <a:r>
              <a:rPr lang="en-US" sz="2000" spc="-1" dirty="0">
                <a:solidFill>
                  <a:schemeClr val="tx2"/>
                </a:solidFill>
                <a:latin typeface="Abadi Extra Light" panose="020B0604020202020204" pitchFamily="34" charset="0"/>
                <a:ea typeface="Tahoma"/>
                <a:cs typeface="Calibri Light" panose="020F0302020204030204" pitchFamily="34" charset="0"/>
              </a:rPr>
              <a:t>unique patient identifiers as rows and pathways as columns. Values are binary (1 or 0) indicators for each column when a mutation was found for any gene in that pathway for a patient.</a:t>
            </a:r>
          </a:p>
          <a:p>
            <a:pPr marL="342900" indent="-342900" algn="just">
              <a:lnSpc>
                <a:spcPct val="90000"/>
              </a:lnSpc>
              <a:buFont typeface="Arial" panose="020B0604020202020204" pitchFamily="34" charset="0"/>
              <a:buChar char="•"/>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marL="342900" indent="-342900" algn="just">
              <a:lnSpc>
                <a:spcPct val="90000"/>
              </a:lnSpc>
              <a:buFont typeface="Arial" panose="020B0604020202020204" pitchFamily="34" charset="0"/>
              <a:buChar char="•"/>
            </a:pPr>
            <a:r>
              <a:rPr lang="en-US" sz="2000" b="1" spc="-1" dirty="0">
                <a:solidFill>
                  <a:schemeClr val="tx2"/>
                </a:solidFill>
                <a:latin typeface="Abadi Extra Light" panose="020B0604020202020204" pitchFamily="34" charset="0"/>
                <a:ea typeface="Tahoma"/>
                <a:cs typeface="Calibri Light" panose="020F0302020204030204" pitchFamily="34" charset="0"/>
              </a:rPr>
              <a:t>Numerical PBPM: </a:t>
            </a:r>
            <a:r>
              <a:rPr lang="en-US" sz="2000" spc="-1" dirty="0">
                <a:solidFill>
                  <a:schemeClr val="tx2"/>
                </a:solidFill>
                <a:latin typeface="Abadi Extra Light" panose="020B0604020202020204" pitchFamily="34" charset="0"/>
                <a:ea typeface="Tahoma"/>
                <a:cs typeface="Calibri Light" panose="020F0302020204030204" pitchFamily="34" charset="0"/>
              </a:rPr>
              <a:t>unique patient identifiers as rows and pathways as columns. Values are the number of mutations found for each pathway and patient.</a:t>
            </a:r>
          </a:p>
          <a:p>
            <a:pPr marL="342900" indent="-342900" algn="just">
              <a:lnSpc>
                <a:spcPct val="90000"/>
              </a:lnSpc>
              <a:buFont typeface="Arial" panose="020B0604020202020204" pitchFamily="34" charset="0"/>
              <a:buChar char="•"/>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marL="342900" indent="-342900" algn="just">
              <a:lnSpc>
                <a:spcPct val="90000"/>
              </a:lnSpc>
              <a:buFont typeface="Arial" panose="020B0604020202020204" pitchFamily="34" charset="0"/>
              <a:buChar char="•"/>
            </a:pPr>
            <a:r>
              <a:rPr lang="en-US" sz="2000" b="1" spc="-1" dirty="0">
                <a:solidFill>
                  <a:schemeClr val="tx2"/>
                </a:solidFill>
                <a:latin typeface="Abadi Extra Light" panose="020B0604020202020204" pitchFamily="34" charset="0"/>
                <a:ea typeface="Tahoma"/>
                <a:cs typeface="Calibri Light" panose="020F0302020204030204" pitchFamily="34" charset="0"/>
              </a:rPr>
              <a:t>Normalized numerical PBPM: </a:t>
            </a:r>
            <a:r>
              <a:rPr lang="en-US" sz="2000" spc="-1" dirty="0">
                <a:solidFill>
                  <a:schemeClr val="tx2"/>
                </a:solidFill>
                <a:latin typeface="Abadi Extra Light" panose="020B0604020202020204" pitchFamily="34" charset="0"/>
                <a:ea typeface="Tahoma"/>
                <a:cs typeface="Calibri Light" panose="020F0302020204030204" pitchFamily="34" charset="0"/>
              </a:rPr>
              <a:t>unique patient identifiers as rows and pathways as columns. Values are the number of mutations found for each pathway and patient, normalized considering the number of genes of each pathway.</a:t>
            </a:r>
          </a:p>
        </p:txBody>
      </p:sp>
    </p:spTree>
    <p:extLst>
      <p:ext uri="{BB962C8B-B14F-4D97-AF65-F5344CB8AC3E}">
        <p14:creationId xmlns:p14="http://schemas.microsoft.com/office/powerpoint/2010/main" val="7804791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stomShape 2">
            <a:extLst>
              <a:ext uri="{FF2B5EF4-FFF2-40B4-BE49-F238E27FC236}">
                <a16:creationId xmlns:a16="http://schemas.microsoft.com/office/drawing/2014/main" id="{49E7E72C-58EB-4A00-8526-CA85934BCBB9}"/>
              </a:ext>
            </a:extLst>
          </p:cNvPr>
          <p:cNvSpPr/>
          <p:nvPr/>
        </p:nvSpPr>
        <p:spPr>
          <a:xfrm>
            <a:off x="250920" y="157644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How to execute this protocol?</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4" name="CustomShape 2">
            <a:extLst>
              <a:ext uri="{FF2B5EF4-FFF2-40B4-BE49-F238E27FC236}">
                <a16:creationId xmlns:a16="http://schemas.microsoft.com/office/drawing/2014/main" id="{C96E61F9-A9F3-4AED-8993-6D2E3B462E15}"/>
              </a:ext>
            </a:extLst>
          </p:cNvPr>
          <p:cNvSpPr/>
          <p:nvPr/>
        </p:nvSpPr>
        <p:spPr>
          <a:xfrm>
            <a:off x="250920" y="1930929"/>
            <a:ext cx="2624360" cy="3350631"/>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r">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This module is written in Python 3 and uses up-to-date libraries for this version as well. </a:t>
            </a:r>
          </a:p>
          <a:p>
            <a:pPr algn="r">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r">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To run the main module in a Linux environment, simply open a new terminal and call the script together with the arguments it accepts:</a:t>
            </a:r>
            <a:endParaRPr lang="en-US" sz="2000" spc="-1" dirty="0">
              <a:solidFill>
                <a:schemeClr val="accent1"/>
              </a:solidFill>
              <a:latin typeface="Abadi Extra Light" panose="020B0604020202020204" pitchFamily="34" charset="0"/>
              <a:ea typeface="Tahoma"/>
              <a:cs typeface="Calibri Light" panose="020F0302020204030204" pitchFamily="34" charset="0"/>
            </a:endParaRPr>
          </a:p>
        </p:txBody>
      </p:sp>
      <p:pic>
        <p:nvPicPr>
          <p:cNvPr id="3" name="Picture 2">
            <a:extLst>
              <a:ext uri="{FF2B5EF4-FFF2-40B4-BE49-F238E27FC236}">
                <a16:creationId xmlns:a16="http://schemas.microsoft.com/office/drawing/2014/main" id="{09398169-602B-49AF-A55E-7953C39E3A73}"/>
              </a:ext>
            </a:extLst>
          </p:cNvPr>
          <p:cNvPicPr>
            <a:picLocks noChangeAspect="1"/>
          </p:cNvPicPr>
          <p:nvPr/>
        </p:nvPicPr>
        <p:blipFill>
          <a:blip r:embed="rId2"/>
          <a:stretch>
            <a:fillRect/>
          </a:stretch>
        </p:blipFill>
        <p:spPr>
          <a:xfrm>
            <a:off x="2991485" y="2145929"/>
            <a:ext cx="5959475" cy="4051368"/>
          </a:xfrm>
          <a:prstGeom prst="rect">
            <a:avLst/>
          </a:prstGeom>
        </p:spPr>
      </p:pic>
    </p:spTree>
    <p:extLst>
      <p:ext uri="{BB962C8B-B14F-4D97-AF65-F5344CB8AC3E}">
        <p14:creationId xmlns:p14="http://schemas.microsoft.com/office/powerpoint/2010/main" val="3110999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28FEF70-E7FD-4B4E-994A-B37726FD216B}"/>
              </a:ext>
            </a:extLst>
          </p:cNvPr>
          <p:cNvSpPr/>
          <p:nvPr/>
        </p:nvSpPr>
        <p:spPr>
          <a:xfrm>
            <a:off x="762000" y="3657600"/>
            <a:ext cx="2895600" cy="1026160"/>
          </a:xfrm>
          <a:prstGeom prst="rect">
            <a:avLst/>
          </a:prstGeom>
          <a:solidFill>
            <a:schemeClr val="accent6">
              <a:lumMod val="20000"/>
              <a:lumOff val="80000"/>
            </a:schemeClr>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ight Brace 2">
            <a:extLst>
              <a:ext uri="{FF2B5EF4-FFF2-40B4-BE49-F238E27FC236}">
                <a16:creationId xmlns:a16="http://schemas.microsoft.com/office/drawing/2014/main" id="{C37089EA-4BD2-45FA-AAFD-D188603CB342}"/>
              </a:ext>
            </a:extLst>
          </p:cNvPr>
          <p:cNvSpPr/>
          <p:nvPr/>
        </p:nvSpPr>
        <p:spPr>
          <a:xfrm>
            <a:off x="3718560" y="3657600"/>
            <a:ext cx="355600" cy="1026160"/>
          </a:xfrm>
          <a:prstGeom prst="rightBrace">
            <a:avLst>
              <a:gd name="adj1" fmla="val 65854"/>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CustomShape 2">
            <a:extLst>
              <a:ext uri="{FF2B5EF4-FFF2-40B4-BE49-F238E27FC236}">
                <a16:creationId xmlns:a16="http://schemas.microsoft.com/office/drawing/2014/main" id="{49E7E72C-58EB-4A00-8526-CA85934BCBB9}"/>
              </a:ext>
            </a:extLst>
          </p:cNvPr>
          <p:cNvSpPr/>
          <p:nvPr/>
        </p:nvSpPr>
        <p:spPr>
          <a:xfrm>
            <a:off x="250920" y="157644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PBPM protocol arguments</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7" name="CustomShape 2">
            <a:extLst>
              <a:ext uri="{FF2B5EF4-FFF2-40B4-BE49-F238E27FC236}">
                <a16:creationId xmlns:a16="http://schemas.microsoft.com/office/drawing/2014/main" id="{FD41FB29-01BB-4BE2-A880-062C8C985758}"/>
              </a:ext>
            </a:extLst>
          </p:cNvPr>
          <p:cNvSpPr/>
          <p:nvPr/>
        </p:nvSpPr>
        <p:spPr>
          <a:xfrm>
            <a:off x="4135120" y="3798755"/>
            <a:ext cx="3133360" cy="74384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1600" b="1" spc="-1" dirty="0">
                <a:solidFill>
                  <a:schemeClr val="tx2"/>
                </a:solidFill>
                <a:latin typeface="Abadi Extra Light" panose="020B0604020202020204" pitchFamily="34" charset="0"/>
                <a:ea typeface="Tahoma"/>
                <a:cs typeface="Calibri Light" panose="020F0302020204030204" pitchFamily="34" charset="0"/>
              </a:rPr>
              <a:t>The protocol accepts a explicit subset of them and also external files</a:t>
            </a:r>
          </a:p>
        </p:txBody>
      </p:sp>
      <p:sp>
        <p:nvSpPr>
          <p:cNvPr id="5" name="Rectangle 4">
            <a:extLst>
              <a:ext uri="{FF2B5EF4-FFF2-40B4-BE49-F238E27FC236}">
                <a16:creationId xmlns:a16="http://schemas.microsoft.com/office/drawing/2014/main" id="{6C970AE1-7AB1-4B87-A8C5-80B353FE4FD7}"/>
              </a:ext>
            </a:extLst>
          </p:cNvPr>
          <p:cNvSpPr/>
          <p:nvPr/>
        </p:nvSpPr>
        <p:spPr>
          <a:xfrm>
            <a:off x="4712700" y="6041991"/>
            <a:ext cx="4572000" cy="276999"/>
          </a:xfrm>
          <a:prstGeom prst="rect">
            <a:avLst/>
          </a:prstGeom>
        </p:spPr>
        <p:txBody>
          <a:bodyPr>
            <a:spAutoFit/>
          </a:bodyPr>
          <a:lstStyle/>
          <a:p>
            <a:r>
              <a:rPr lang="en-US" sz="1200" b="1" dirty="0">
                <a:solidFill>
                  <a:srgbClr val="24292E"/>
                </a:solidFill>
                <a:latin typeface="Abadi Extra Light" panose="020B0204020104020204" pitchFamily="34" charset="0"/>
              </a:rPr>
              <a:t>Note:</a:t>
            </a:r>
            <a:r>
              <a:rPr lang="en-US" sz="1200" dirty="0">
                <a:solidFill>
                  <a:srgbClr val="24292E"/>
                </a:solidFill>
                <a:latin typeface="Abadi Extra Light" panose="020B0204020104020204" pitchFamily="34" charset="0"/>
              </a:rPr>
              <a:t> help() is available for all the parameters via the command line.</a:t>
            </a:r>
            <a:endParaRPr lang="en-US" sz="1200" dirty="0">
              <a:latin typeface="Abadi Extra Light" panose="020B0204020104020204" pitchFamily="34" charset="0"/>
            </a:endParaRPr>
          </a:p>
        </p:txBody>
      </p:sp>
      <p:graphicFrame>
        <p:nvGraphicFramePr>
          <p:cNvPr id="2" name="Diagram 1">
            <a:extLst>
              <a:ext uri="{FF2B5EF4-FFF2-40B4-BE49-F238E27FC236}">
                <a16:creationId xmlns:a16="http://schemas.microsoft.com/office/drawing/2014/main" id="{A2B350E0-EB28-4401-9D2E-617711966083}"/>
              </a:ext>
            </a:extLst>
          </p:cNvPr>
          <p:cNvGraphicFramePr/>
          <p:nvPr>
            <p:extLst>
              <p:ext uri="{D42A27DB-BD31-4B8C-83A1-F6EECF244321}">
                <p14:modId xmlns:p14="http://schemas.microsoft.com/office/powerpoint/2010/main" val="1486010139"/>
              </p:ext>
            </p:extLst>
          </p:nvPr>
        </p:nvGraphicFramePr>
        <p:xfrm>
          <a:off x="523240" y="2084440"/>
          <a:ext cx="8097520" cy="417411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755063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stomShape 2">
            <a:extLst>
              <a:ext uri="{FF2B5EF4-FFF2-40B4-BE49-F238E27FC236}">
                <a16:creationId xmlns:a16="http://schemas.microsoft.com/office/drawing/2014/main" id="{49E7E72C-58EB-4A00-8526-CA85934BCBB9}"/>
              </a:ext>
            </a:extLst>
          </p:cNvPr>
          <p:cNvSpPr/>
          <p:nvPr/>
        </p:nvSpPr>
        <p:spPr>
          <a:xfrm>
            <a:off x="250920" y="157644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PBPM mandatory parameters: input file</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4" name="CustomShape 2">
            <a:extLst>
              <a:ext uri="{FF2B5EF4-FFF2-40B4-BE49-F238E27FC236}">
                <a16:creationId xmlns:a16="http://schemas.microsoft.com/office/drawing/2014/main" id="{C96E61F9-A9F3-4AED-8993-6D2E3B462E15}"/>
              </a:ext>
            </a:extLst>
          </p:cNvPr>
          <p:cNvSpPr/>
          <p:nvPr/>
        </p:nvSpPr>
        <p:spPr>
          <a:xfrm>
            <a:off x="250920" y="2024009"/>
            <a:ext cx="8476520" cy="668391"/>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trike="noStrike" spc="-1" dirty="0">
                <a:solidFill>
                  <a:schemeClr val="tx2"/>
                </a:solidFill>
                <a:latin typeface="Abadi Extra Light" panose="020B0604020202020204" pitchFamily="34" charset="0"/>
                <a:ea typeface="Tahoma"/>
                <a:cs typeface="Calibri Light" panose="020F0302020204030204" pitchFamily="34" charset="0"/>
              </a:rPr>
              <a:t>The input file containing patients and mutations has the following columns*. Moreover, o</a:t>
            </a:r>
            <a:r>
              <a:rPr lang="en-US" sz="2000" spc="-1" dirty="0">
                <a:solidFill>
                  <a:schemeClr val="tx2"/>
                </a:solidFill>
                <a:latin typeface="Abadi Extra Light" panose="020B0604020202020204" pitchFamily="34" charset="0"/>
                <a:ea typeface="Tahoma"/>
                <a:cs typeface="Calibri Light" panose="020F0302020204030204" pitchFamily="34" charset="0"/>
              </a:rPr>
              <a:t>nly observations with a valid </a:t>
            </a:r>
            <a:r>
              <a:rPr lang="en-US" sz="2000" b="1" spc="-1" dirty="0" err="1">
                <a:solidFill>
                  <a:schemeClr val="tx2"/>
                </a:solidFill>
                <a:latin typeface="Abadi Extra Light" panose="020B0604020202020204" pitchFamily="34" charset="0"/>
                <a:ea typeface="Tahoma"/>
                <a:cs typeface="Calibri Light" panose="020F0302020204030204" pitchFamily="34" charset="0"/>
              </a:rPr>
              <a:t>HGNC_symbol</a:t>
            </a:r>
            <a:r>
              <a:rPr lang="en-US" sz="2000" b="1" spc="-1" dirty="0">
                <a:solidFill>
                  <a:schemeClr val="tx2"/>
                </a:solidFill>
                <a:latin typeface="Abadi Extra Light" panose="020B0604020202020204" pitchFamily="34" charset="0"/>
                <a:ea typeface="Tahoma"/>
                <a:cs typeface="Calibri Light" panose="020F0302020204030204" pitchFamily="34" charset="0"/>
              </a:rPr>
              <a:t> </a:t>
            </a:r>
            <a:r>
              <a:rPr lang="en-US" sz="2000" spc="-1" dirty="0">
                <a:solidFill>
                  <a:schemeClr val="tx2"/>
                </a:solidFill>
                <a:latin typeface="Abadi Extra Light" panose="020B0604020202020204" pitchFamily="34" charset="0"/>
                <a:ea typeface="Tahoma"/>
                <a:cs typeface="Calibri Light" panose="020F0302020204030204" pitchFamily="34" charset="0"/>
              </a:rPr>
              <a:t>will be considered.</a:t>
            </a:r>
          </a:p>
        </p:txBody>
      </p:sp>
      <p:graphicFrame>
        <p:nvGraphicFramePr>
          <p:cNvPr id="5" name="Table 4">
            <a:extLst>
              <a:ext uri="{FF2B5EF4-FFF2-40B4-BE49-F238E27FC236}">
                <a16:creationId xmlns:a16="http://schemas.microsoft.com/office/drawing/2014/main" id="{F2400F9B-05E2-4D91-996C-C20E3D9D5109}"/>
              </a:ext>
            </a:extLst>
          </p:cNvPr>
          <p:cNvGraphicFramePr>
            <a:graphicFrameLocks noGrp="1"/>
          </p:cNvGraphicFramePr>
          <p:nvPr>
            <p:extLst>
              <p:ext uri="{D42A27DB-BD31-4B8C-83A1-F6EECF244321}">
                <p14:modId xmlns:p14="http://schemas.microsoft.com/office/powerpoint/2010/main" val="1911367147"/>
              </p:ext>
            </p:extLst>
          </p:nvPr>
        </p:nvGraphicFramePr>
        <p:xfrm>
          <a:off x="333741" y="2878507"/>
          <a:ext cx="8393699" cy="2849880"/>
        </p:xfrm>
        <a:graphic>
          <a:graphicData uri="http://schemas.openxmlformats.org/drawingml/2006/table">
            <a:tbl>
              <a:tblPr firstRow="1" bandRow="1">
                <a:tableStyleId>{69012ECD-51FC-41F1-AA8D-1B2483CD663E}</a:tableStyleId>
              </a:tblPr>
              <a:tblGrid>
                <a:gridCol w="637647">
                  <a:extLst>
                    <a:ext uri="{9D8B030D-6E8A-4147-A177-3AD203B41FA5}">
                      <a16:colId xmlns:a16="http://schemas.microsoft.com/office/drawing/2014/main" val="566549421"/>
                    </a:ext>
                  </a:extLst>
                </a:gridCol>
                <a:gridCol w="783555">
                  <a:extLst>
                    <a:ext uri="{9D8B030D-6E8A-4147-A177-3AD203B41FA5}">
                      <a16:colId xmlns:a16="http://schemas.microsoft.com/office/drawing/2014/main" val="4270458755"/>
                    </a:ext>
                  </a:extLst>
                </a:gridCol>
                <a:gridCol w="374743">
                  <a:extLst>
                    <a:ext uri="{9D8B030D-6E8A-4147-A177-3AD203B41FA5}">
                      <a16:colId xmlns:a16="http://schemas.microsoft.com/office/drawing/2014/main" val="4148601070"/>
                    </a:ext>
                  </a:extLst>
                </a:gridCol>
                <a:gridCol w="987959">
                  <a:extLst>
                    <a:ext uri="{9D8B030D-6E8A-4147-A177-3AD203B41FA5}">
                      <a16:colId xmlns:a16="http://schemas.microsoft.com/office/drawing/2014/main" val="3977579580"/>
                    </a:ext>
                  </a:extLst>
                </a:gridCol>
                <a:gridCol w="1283212">
                  <a:extLst>
                    <a:ext uri="{9D8B030D-6E8A-4147-A177-3AD203B41FA5}">
                      <a16:colId xmlns:a16="http://schemas.microsoft.com/office/drawing/2014/main" val="460646814"/>
                    </a:ext>
                  </a:extLst>
                </a:gridCol>
                <a:gridCol w="1283212">
                  <a:extLst>
                    <a:ext uri="{9D8B030D-6E8A-4147-A177-3AD203B41FA5}">
                      <a16:colId xmlns:a16="http://schemas.microsoft.com/office/drawing/2014/main" val="2338258831"/>
                    </a:ext>
                  </a:extLst>
                </a:gridCol>
                <a:gridCol w="1374059">
                  <a:extLst>
                    <a:ext uri="{9D8B030D-6E8A-4147-A177-3AD203B41FA5}">
                      <a16:colId xmlns:a16="http://schemas.microsoft.com/office/drawing/2014/main" val="2298311088"/>
                    </a:ext>
                  </a:extLst>
                </a:gridCol>
                <a:gridCol w="352032">
                  <a:extLst>
                    <a:ext uri="{9D8B030D-6E8A-4147-A177-3AD203B41FA5}">
                      <a16:colId xmlns:a16="http://schemas.microsoft.com/office/drawing/2014/main" val="1457784495"/>
                    </a:ext>
                  </a:extLst>
                </a:gridCol>
                <a:gridCol w="658640">
                  <a:extLst>
                    <a:ext uri="{9D8B030D-6E8A-4147-A177-3AD203B41FA5}">
                      <a16:colId xmlns:a16="http://schemas.microsoft.com/office/drawing/2014/main" val="3670079129"/>
                    </a:ext>
                  </a:extLst>
                </a:gridCol>
                <a:gridCol w="658640">
                  <a:extLst>
                    <a:ext uri="{9D8B030D-6E8A-4147-A177-3AD203B41FA5}">
                      <a16:colId xmlns:a16="http://schemas.microsoft.com/office/drawing/2014/main" val="2039950121"/>
                    </a:ext>
                  </a:extLst>
                </a:gridCol>
              </a:tblGrid>
              <a:tr h="523240">
                <a:tc>
                  <a:txBody>
                    <a:bodyPr/>
                    <a:lstStyle/>
                    <a:p>
                      <a:pPr algn="ctr"/>
                      <a:r>
                        <a:rPr lang="en-US" sz="1200" dirty="0" err="1">
                          <a:latin typeface="Abadi Extra Light" panose="020B0204020104020204" pitchFamily="34" charset="0"/>
                        </a:rPr>
                        <a:t>Chr</a:t>
                      </a:r>
                      <a:endParaRPr lang="en-US" sz="1200" dirty="0">
                        <a:latin typeface="Abadi Extra Light" panose="020B0204020104020204" pitchFamily="34" charset="0"/>
                      </a:endParaRPr>
                    </a:p>
                  </a:txBody>
                  <a:tcPr anchor="ctr"/>
                </a:tc>
                <a:tc>
                  <a:txBody>
                    <a:bodyPr/>
                    <a:lstStyle/>
                    <a:p>
                      <a:pPr algn="ctr"/>
                      <a:r>
                        <a:rPr lang="en-US" sz="1200" dirty="0">
                          <a:latin typeface="Abadi Extra Light" panose="020B0204020104020204" pitchFamily="34" charset="0"/>
                        </a:rPr>
                        <a:t>Position</a:t>
                      </a:r>
                    </a:p>
                  </a:txBody>
                  <a:tcPr anchor="ctr"/>
                </a:tc>
                <a:tc>
                  <a:txBody>
                    <a:bodyPr/>
                    <a:lstStyle/>
                    <a:p>
                      <a:pPr algn="ctr"/>
                      <a:r>
                        <a:rPr lang="en-US" sz="1200" dirty="0">
                          <a:latin typeface="Abadi Extra Light" panose="020B0204020104020204" pitchFamily="34" charset="0"/>
                        </a:rPr>
                        <a:t>…</a:t>
                      </a:r>
                    </a:p>
                  </a:txBody>
                  <a:tcPr anchor="ctr"/>
                </a:tc>
                <a:tc>
                  <a:txBody>
                    <a:bodyPr/>
                    <a:lstStyle/>
                    <a:p>
                      <a:pPr algn="ctr"/>
                      <a:r>
                        <a:rPr lang="en-US" sz="1200" dirty="0" err="1">
                          <a:latin typeface="Abadi Extra Light" panose="020B0204020104020204" pitchFamily="34" charset="0"/>
                        </a:rPr>
                        <a:t>child_id</a:t>
                      </a:r>
                      <a:endParaRPr lang="en-US" sz="1200" dirty="0">
                        <a:latin typeface="Abadi Extra Light" panose="020B020402010402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latin typeface="Abadi Extra Light" panose="020B0204020104020204" pitchFamily="34" charset="0"/>
                        </a:rPr>
                        <a:t>consequence</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err="1">
                          <a:latin typeface="Abadi Extra Light" panose="020B0204020104020204" pitchFamily="34" charset="0"/>
                        </a:rPr>
                        <a:t>HGNC_symbol</a:t>
                      </a:r>
                      <a:endParaRPr lang="en-US" sz="1200" dirty="0">
                        <a:latin typeface="Abadi Extra Light" panose="020B0204020104020204" pitchFamily="34" charset="0"/>
                      </a:endParaRPr>
                    </a:p>
                  </a:txBody>
                  <a:tcPr anchor="ctr"/>
                </a:tc>
                <a:tc>
                  <a:txBody>
                    <a:bodyPr/>
                    <a:lstStyle/>
                    <a:p>
                      <a:pPr algn="ctr"/>
                      <a:r>
                        <a:rPr lang="en-US" sz="1200" dirty="0" err="1">
                          <a:latin typeface="Abadi Extra Light" panose="020B0204020104020204" pitchFamily="34" charset="0"/>
                        </a:rPr>
                        <a:t>constraint_score</a:t>
                      </a:r>
                      <a:endParaRPr lang="en-US" sz="1200" dirty="0">
                        <a:latin typeface="Abadi Extra Light" panose="020B0204020104020204" pitchFamily="34" charset="0"/>
                      </a:endParaRPr>
                    </a:p>
                  </a:txBody>
                  <a:tcPr anchor="ctr"/>
                </a:tc>
                <a:tc>
                  <a:txBody>
                    <a:bodyPr/>
                    <a:lstStyle/>
                    <a:p>
                      <a:pPr algn="ctr"/>
                      <a:r>
                        <a:rPr lang="en-US" sz="1200" dirty="0">
                          <a:latin typeface="Abadi Extra Light" panose="020B0204020104020204" pitchFamily="34" charset="0"/>
                        </a:rPr>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err="1">
                          <a:latin typeface="Abadi Extra Light" panose="020B0204020104020204" pitchFamily="34" charset="0"/>
                        </a:rPr>
                        <a:t>pLI</a:t>
                      </a:r>
                      <a:endParaRPr lang="en-US" sz="1200" dirty="0">
                        <a:latin typeface="Abadi Extra Light" panose="020B020402010402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latin typeface="Abadi Extra Light" panose="020B0204020104020204" pitchFamily="34" charset="0"/>
                        </a:rPr>
                        <a:t>MPC</a:t>
                      </a:r>
                    </a:p>
                  </a:txBody>
                  <a:tcPr anchor="ctr"/>
                </a:tc>
                <a:extLst>
                  <a:ext uri="{0D108BD9-81ED-4DB2-BD59-A6C34878D82A}">
                    <a16:rowId xmlns:a16="http://schemas.microsoft.com/office/drawing/2014/main" val="1039042550"/>
                  </a:ext>
                </a:extLst>
              </a:tr>
              <a:tr h="467360">
                <a:tc>
                  <a:txBody>
                    <a:bodyPr/>
                    <a:lstStyle/>
                    <a:p>
                      <a:pPr algn="ctr"/>
                      <a:r>
                        <a:rPr lang="en-US" sz="1200" dirty="0">
                          <a:latin typeface="Abadi Extra Light" panose="020B0204020104020204" pitchFamily="34" charset="0"/>
                        </a:rPr>
                        <a:t>11</a:t>
                      </a:r>
                    </a:p>
                  </a:txBody>
                  <a:tcPr anchor="ctr"/>
                </a:tc>
                <a:tc>
                  <a:txBody>
                    <a:bodyPr/>
                    <a:lstStyle/>
                    <a:p>
                      <a:pPr algn="ctr"/>
                      <a:r>
                        <a:rPr lang="en-US" sz="1200" dirty="0">
                          <a:latin typeface="Abadi Extra Light" panose="020B0204020104020204" pitchFamily="34" charset="0"/>
                        </a:rPr>
                        <a:t>881802</a:t>
                      </a:r>
                    </a:p>
                  </a:txBody>
                  <a:tcPr anchor="ctr"/>
                </a:tc>
                <a:tc>
                  <a:txBody>
                    <a:bodyPr/>
                    <a:lstStyle/>
                    <a:p>
                      <a:pPr algn="ctr"/>
                      <a:endParaRPr lang="en-US" sz="1200" dirty="0">
                        <a:latin typeface="Abadi Extra Light" panose="020B0204020104020204" pitchFamily="34" charset="0"/>
                      </a:endParaRPr>
                    </a:p>
                  </a:txBody>
                  <a:tcPr anchor="ctr"/>
                </a:tc>
                <a:tc>
                  <a:txBody>
                    <a:bodyPr/>
                    <a:lstStyle/>
                    <a:p>
                      <a:pPr algn="ctr"/>
                      <a:r>
                        <a:rPr lang="en-US" sz="1200" dirty="0">
                          <a:latin typeface="Abadi Extra Light" panose="020B0204020104020204" pitchFamily="34" charset="0"/>
                        </a:rPr>
                        <a:t>Patient_10</a:t>
                      </a:r>
                    </a:p>
                  </a:txBody>
                  <a:tcPr anchor="ctr"/>
                </a:tc>
                <a:tc>
                  <a:txBody>
                    <a:bodyPr/>
                    <a:lstStyle/>
                    <a:p>
                      <a:pPr algn="ctr"/>
                      <a:r>
                        <a:rPr lang="en-US" sz="1200" dirty="0" err="1">
                          <a:latin typeface="Abadi Extra Light" panose="020B0204020104020204" pitchFamily="34" charset="0"/>
                        </a:rPr>
                        <a:t>missense_variant</a:t>
                      </a:r>
                      <a:endParaRPr lang="en-US" sz="1200" dirty="0">
                        <a:latin typeface="Abadi Extra Light" panose="020B0204020104020204" pitchFamily="34" charset="0"/>
                      </a:endParaRPr>
                    </a:p>
                  </a:txBody>
                  <a:tcPr anchor="ctr"/>
                </a:tc>
                <a:tc>
                  <a:txBody>
                    <a:bodyPr/>
                    <a:lstStyle/>
                    <a:p>
                      <a:pPr algn="ctr"/>
                      <a:r>
                        <a:rPr lang="en-US" sz="1200" dirty="0">
                          <a:latin typeface="Abadi Extra Light" panose="020B0204020104020204" pitchFamily="34" charset="0"/>
                        </a:rPr>
                        <a:t>V595I</a:t>
                      </a:r>
                    </a:p>
                  </a:txBody>
                  <a:tcPr anchor="ctr"/>
                </a:tc>
                <a:tc>
                  <a:txBody>
                    <a:bodyPr/>
                    <a:lstStyle/>
                    <a:p>
                      <a:pPr algn="ctr"/>
                      <a:r>
                        <a:rPr lang="en-US" sz="1200" dirty="0">
                          <a:latin typeface="Abadi Extra Light" panose="020B0204020104020204" pitchFamily="34" charset="0"/>
                        </a:rPr>
                        <a:t>0.018</a:t>
                      </a:r>
                    </a:p>
                  </a:txBody>
                  <a:tcPr anchor="ctr"/>
                </a:tc>
                <a:tc>
                  <a:txBody>
                    <a:bodyPr/>
                    <a:lstStyle/>
                    <a:p>
                      <a:pPr algn="ctr"/>
                      <a:endParaRPr lang="en-US" sz="1200" dirty="0">
                        <a:latin typeface="Abadi Extra Light" panose="020B0204020104020204" pitchFamily="34" charset="0"/>
                      </a:endParaRPr>
                    </a:p>
                  </a:txBody>
                  <a:tcPr anchor="ctr"/>
                </a:tc>
                <a:tc>
                  <a:txBody>
                    <a:bodyPr/>
                    <a:lstStyle/>
                    <a:p>
                      <a:pPr algn="ctr"/>
                      <a:r>
                        <a:rPr lang="en-US" sz="1200" dirty="0">
                          <a:latin typeface="Abadi Extra Light" panose="020B0204020104020204" pitchFamily="34" charset="0"/>
                        </a:rPr>
                        <a:t>0.14</a:t>
                      </a:r>
                    </a:p>
                  </a:txBody>
                  <a:tcPr anchor="ctr"/>
                </a:tc>
                <a:tc>
                  <a:txBody>
                    <a:bodyPr/>
                    <a:lstStyle/>
                    <a:p>
                      <a:pPr algn="ctr"/>
                      <a:r>
                        <a:rPr lang="en-US" sz="1200" dirty="0">
                          <a:latin typeface="Abadi Extra Light" panose="020B0204020104020204" pitchFamily="34" charset="0"/>
                        </a:rPr>
                        <a:t>1.7</a:t>
                      </a:r>
                    </a:p>
                  </a:txBody>
                  <a:tcPr anchor="ctr"/>
                </a:tc>
                <a:extLst>
                  <a:ext uri="{0D108BD9-81ED-4DB2-BD59-A6C34878D82A}">
                    <a16:rowId xmlns:a16="http://schemas.microsoft.com/office/drawing/2014/main" val="3447875338"/>
                  </a:ext>
                </a:extLst>
              </a:tr>
              <a:tr h="467360">
                <a:tc>
                  <a:txBody>
                    <a:bodyPr/>
                    <a:lstStyle/>
                    <a:p>
                      <a:pPr algn="ctr"/>
                      <a:r>
                        <a:rPr lang="en-US" sz="1200" dirty="0">
                          <a:latin typeface="Abadi Extra Light" panose="020B0204020104020204" pitchFamily="34" charset="0"/>
                        </a:rPr>
                        <a:t>12</a:t>
                      </a:r>
                    </a:p>
                  </a:txBody>
                  <a:tcPr anchor="ctr">
                    <a:solidFill>
                      <a:schemeClr val="accent6">
                        <a:lumMod val="40000"/>
                        <a:lumOff val="60000"/>
                      </a:schemeClr>
                    </a:solidFill>
                  </a:tcPr>
                </a:tc>
                <a:tc>
                  <a:txBody>
                    <a:bodyPr/>
                    <a:lstStyle/>
                    <a:p>
                      <a:pPr algn="ctr"/>
                      <a:r>
                        <a:rPr lang="en-US" sz="1200" dirty="0">
                          <a:latin typeface="Abadi Extra Light" panose="020B0204020104020204" pitchFamily="34" charset="0"/>
                        </a:rPr>
                        <a:t>686702</a:t>
                      </a:r>
                    </a:p>
                  </a:txBody>
                  <a:tcPr anchor="ctr">
                    <a:solidFill>
                      <a:schemeClr val="accent6">
                        <a:lumMod val="40000"/>
                        <a:lumOff val="60000"/>
                      </a:schemeClr>
                    </a:solidFill>
                  </a:tcPr>
                </a:tc>
                <a:tc>
                  <a:txBody>
                    <a:bodyPr/>
                    <a:lstStyle/>
                    <a:p>
                      <a:pPr algn="ctr"/>
                      <a:endParaRPr lang="en-US" sz="1200" dirty="0">
                        <a:latin typeface="Abadi Extra Light" panose="020B0204020104020204" pitchFamily="34" charset="0"/>
                      </a:endParaRPr>
                    </a:p>
                  </a:txBody>
                  <a:tcPr anchor="ctr">
                    <a:solidFill>
                      <a:schemeClr val="accent6">
                        <a:lumMod val="40000"/>
                        <a:lumOff val="60000"/>
                      </a:schemeClr>
                    </a:solidFill>
                  </a:tcPr>
                </a:tc>
                <a:tc>
                  <a:txBody>
                    <a:bodyPr/>
                    <a:lstStyle/>
                    <a:p>
                      <a:pPr algn="ctr"/>
                      <a:r>
                        <a:rPr lang="en-US" sz="1200" dirty="0">
                          <a:latin typeface="Abadi Extra Light" panose="020B0204020104020204" pitchFamily="34" charset="0"/>
                        </a:rPr>
                        <a:t>Patient_19</a:t>
                      </a:r>
                    </a:p>
                  </a:txBody>
                  <a:tcPr anchor="ctr">
                    <a:solidFill>
                      <a:schemeClr val="accent6">
                        <a:lumMod val="40000"/>
                        <a:lumOff val="60000"/>
                      </a:schemeClr>
                    </a:solidFill>
                  </a:tcPr>
                </a:tc>
                <a:tc>
                  <a:txBody>
                    <a:bodyPr/>
                    <a:lstStyle/>
                    <a:p>
                      <a:pPr algn="ctr"/>
                      <a:r>
                        <a:rPr lang="en-US" sz="1200" dirty="0">
                          <a:latin typeface="Abadi Extra Light" panose="020B0204020104020204" pitchFamily="34" charset="0"/>
                        </a:rPr>
                        <a:t>Near_3splice</a:t>
                      </a:r>
                    </a:p>
                  </a:txBody>
                  <a:tcPr anchor="ctr">
                    <a:solidFill>
                      <a:schemeClr val="accent6">
                        <a:lumMod val="40000"/>
                        <a:lumOff val="60000"/>
                      </a:schemeClr>
                    </a:solidFill>
                  </a:tcPr>
                </a:tc>
                <a:tc>
                  <a:txBody>
                    <a:bodyPr/>
                    <a:lstStyle/>
                    <a:p>
                      <a:pPr algn="ctr"/>
                      <a:r>
                        <a:rPr lang="en-US" sz="1200" dirty="0">
                          <a:latin typeface="Abadi Extra Light" panose="020B0204020104020204" pitchFamily="34" charset="0"/>
                        </a:rPr>
                        <a:t>NA</a:t>
                      </a:r>
                    </a:p>
                  </a:txBody>
                  <a:tcPr anchor="ctr">
                    <a:solidFill>
                      <a:schemeClr val="accent6">
                        <a:lumMod val="40000"/>
                        <a:lumOff val="60000"/>
                      </a:schemeClr>
                    </a:solidFill>
                  </a:tcPr>
                </a:tc>
                <a:tc>
                  <a:txBody>
                    <a:bodyPr/>
                    <a:lstStyle/>
                    <a:p>
                      <a:pPr algn="ctr"/>
                      <a:r>
                        <a:rPr lang="en-US" sz="1200" dirty="0">
                          <a:latin typeface="Abadi Extra Light" panose="020B0204020104020204" pitchFamily="34" charset="0"/>
                        </a:rPr>
                        <a:t>0.651</a:t>
                      </a:r>
                    </a:p>
                  </a:txBody>
                  <a:tcPr anchor="ctr">
                    <a:solidFill>
                      <a:schemeClr val="accent6">
                        <a:lumMod val="40000"/>
                        <a:lumOff val="60000"/>
                      </a:schemeClr>
                    </a:solidFill>
                  </a:tcPr>
                </a:tc>
                <a:tc>
                  <a:txBody>
                    <a:bodyPr/>
                    <a:lstStyle/>
                    <a:p>
                      <a:pPr algn="ctr"/>
                      <a:endParaRPr lang="en-US" sz="1200">
                        <a:latin typeface="Abadi Extra Light" panose="020B0204020104020204" pitchFamily="34" charset="0"/>
                      </a:endParaRPr>
                    </a:p>
                  </a:txBody>
                  <a:tcPr anchor="ctr">
                    <a:solidFill>
                      <a:schemeClr val="accent6">
                        <a:lumMod val="40000"/>
                        <a:lumOff val="60000"/>
                      </a:schemeClr>
                    </a:solidFill>
                  </a:tcPr>
                </a:tc>
                <a:tc>
                  <a:txBody>
                    <a:bodyPr/>
                    <a:lstStyle/>
                    <a:p>
                      <a:pPr algn="ctr"/>
                      <a:r>
                        <a:rPr lang="en-US" sz="1200" dirty="0">
                          <a:latin typeface="Abadi Extra Light" panose="020B0204020104020204" pitchFamily="34" charset="0"/>
                        </a:rPr>
                        <a:t>0.21</a:t>
                      </a:r>
                    </a:p>
                  </a:txBody>
                  <a:tcPr anchor="ctr">
                    <a:solidFill>
                      <a:schemeClr val="accent6">
                        <a:lumMod val="40000"/>
                        <a:lumOff val="60000"/>
                      </a:schemeClr>
                    </a:solidFill>
                  </a:tcPr>
                </a:tc>
                <a:tc>
                  <a:txBody>
                    <a:bodyPr/>
                    <a:lstStyle/>
                    <a:p>
                      <a:pPr algn="ctr"/>
                      <a:r>
                        <a:rPr lang="en-US" sz="1200" dirty="0">
                          <a:latin typeface="Abadi Extra Light" panose="020B0204020104020204" pitchFamily="34" charset="0"/>
                        </a:rPr>
                        <a:t>NA</a:t>
                      </a:r>
                    </a:p>
                  </a:txBody>
                  <a:tcPr anchor="ctr">
                    <a:solidFill>
                      <a:schemeClr val="accent6">
                        <a:lumMod val="40000"/>
                        <a:lumOff val="60000"/>
                      </a:schemeClr>
                    </a:solidFill>
                  </a:tcPr>
                </a:tc>
                <a:extLst>
                  <a:ext uri="{0D108BD9-81ED-4DB2-BD59-A6C34878D82A}">
                    <a16:rowId xmlns:a16="http://schemas.microsoft.com/office/drawing/2014/main" val="2986409613"/>
                  </a:ext>
                </a:extLst>
              </a:tr>
              <a:tr h="477520">
                <a:tc>
                  <a:txBody>
                    <a:bodyPr/>
                    <a:lstStyle/>
                    <a:p>
                      <a:pPr algn="ctr"/>
                      <a:r>
                        <a:rPr lang="en-US" sz="1200" dirty="0">
                          <a:latin typeface="Abadi Extra Light" panose="020B0204020104020204" pitchFamily="34" charset="0"/>
                        </a:rPr>
                        <a:t>3</a:t>
                      </a:r>
                    </a:p>
                  </a:txBody>
                  <a:tcPr anchor="ctr">
                    <a:solidFill>
                      <a:schemeClr val="accent6">
                        <a:lumMod val="40000"/>
                        <a:lumOff val="60000"/>
                      </a:schemeClr>
                    </a:solidFill>
                  </a:tcPr>
                </a:tc>
                <a:tc>
                  <a:txBody>
                    <a:bodyPr/>
                    <a:lstStyle/>
                    <a:p>
                      <a:pPr algn="ctr"/>
                      <a:r>
                        <a:rPr lang="en-US" sz="1200" dirty="0">
                          <a:latin typeface="Abadi Extra Light" panose="020B0204020104020204" pitchFamily="34" charset="0"/>
                        </a:rPr>
                        <a:t>981711</a:t>
                      </a:r>
                    </a:p>
                  </a:txBody>
                  <a:tcPr anchor="ctr">
                    <a:solidFill>
                      <a:schemeClr val="accent6">
                        <a:lumMod val="40000"/>
                        <a:lumOff val="60000"/>
                      </a:schemeClr>
                    </a:solidFill>
                  </a:tcPr>
                </a:tc>
                <a:tc>
                  <a:txBody>
                    <a:bodyPr/>
                    <a:lstStyle/>
                    <a:p>
                      <a:pPr algn="ctr"/>
                      <a:endParaRPr lang="en-US" sz="1200" dirty="0">
                        <a:latin typeface="Abadi Extra Light" panose="020B0204020104020204" pitchFamily="34" charset="0"/>
                      </a:endParaRPr>
                    </a:p>
                  </a:txBody>
                  <a:tcPr anchor="ctr">
                    <a:solidFill>
                      <a:schemeClr val="accent6">
                        <a:lumMod val="40000"/>
                        <a:lumOff val="60000"/>
                      </a:schemeClr>
                    </a:solidFill>
                  </a:tcPr>
                </a:tc>
                <a:tc>
                  <a:txBody>
                    <a:bodyPr/>
                    <a:lstStyle/>
                    <a:p>
                      <a:pPr algn="ctr"/>
                      <a:r>
                        <a:rPr lang="en-US" sz="1200" dirty="0">
                          <a:latin typeface="Abadi Extra Light" panose="020B0204020104020204" pitchFamily="34" charset="0"/>
                        </a:rPr>
                        <a:t>Patient_21</a:t>
                      </a:r>
                    </a:p>
                  </a:txBody>
                  <a:tcPr anchor="ctr">
                    <a:solidFill>
                      <a:schemeClr val="accent6">
                        <a:lumMod val="40000"/>
                        <a:lumOff val="60000"/>
                      </a:schemeClr>
                    </a:solidFill>
                  </a:tcPr>
                </a:tc>
                <a:tc>
                  <a:txBody>
                    <a:bodyPr/>
                    <a:lstStyle/>
                    <a:p>
                      <a:pPr algn="ctr"/>
                      <a:r>
                        <a:rPr lang="en-US" sz="1200" dirty="0">
                          <a:latin typeface="Abadi Extra Light" panose="020B0204020104020204" pitchFamily="34" charset="0"/>
                        </a:rPr>
                        <a:t>Intron</a:t>
                      </a:r>
                    </a:p>
                  </a:txBody>
                  <a:tcPr anchor="ctr">
                    <a:solidFill>
                      <a:schemeClr val="accent6">
                        <a:lumMod val="40000"/>
                        <a:lumOff val="60000"/>
                      </a:schemeClr>
                    </a:solidFill>
                  </a:tcPr>
                </a:tc>
                <a:tc>
                  <a:txBody>
                    <a:bodyPr/>
                    <a:lstStyle/>
                    <a:p>
                      <a:pPr algn="ctr"/>
                      <a:r>
                        <a:rPr lang="en-US" sz="1200" dirty="0">
                          <a:latin typeface="Abadi Extra Light" panose="020B0204020104020204" pitchFamily="34" charset="0"/>
                        </a:rPr>
                        <a:t>NA</a:t>
                      </a:r>
                    </a:p>
                  </a:txBody>
                  <a:tcPr anchor="ctr">
                    <a:solidFill>
                      <a:schemeClr val="accent6">
                        <a:lumMod val="40000"/>
                        <a:lumOff val="60000"/>
                      </a:schemeClr>
                    </a:solidFill>
                  </a:tcPr>
                </a:tc>
                <a:tc>
                  <a:txBody>
                    <a:bodyPr/>
                    <a:lstStyle/>
                    <a:p>
                      <a:pPr algn="ctr"/>
                      <a:r>
                        <a:rPr lang="en-US" sz="1200" dirty="0">
                          <a:latin typeface="Abadi Extra Light" panose="020B0204020104020204" pitchFamily="34" charset="0"/>
                        </a:rPr>
                        <a:t>0.006</a:t>
                      </a:r>
                    </a:p>
                  </a:txBody>
                  <a:tcPr anchor="ctr">
                    <a:solidFill>
                      <a:schemeClr val="accent6">
                        <a:lumMod val="40000"/>
                        <a:lumOff val="60000"/>
                      </a:schemeClr>
                    </a:solidFill>
                  </a:tcPr>
                </a:tc>
                <a:tc>
                  <a:txBody>
                    <a:bodyPr/>
                    <a:lstStyle/>
                    <a:p>
                      <a:pPr algn="ctr"/>
                      <a:endParaRPr lang="en-US" sz="1200" dirty="0">
                        <a:latin typeface="Abadi Extra Light" panose="020B0204020104020204" pitchFamily="34" charset="0"/>
                      </a:endParaRPr>
                    </a:p>
                  </a:txBody>
                  <a:tcPr anchor="ctr">
                    <a:solidFill>
                      <a:schemeClr val="accent6">
                        <a:lumMod val="40000"/>
                        <a:lumOff val="60000"/>
                      </a:schemeClr>
                    </a:solidFill>
                  </a:tcPr>
                </a:tc>
                <a:tc>
                  <a:txBody>
                    <a:bodyPr/>
                    <a:lstStyle/>
                    <a:p>
                      <a:pPr algn="ctr"/>
                      <a:r>
                        <a:rPr lang="en-US" sz="1200" dirty="0">
                          <a:latin typeface="Abadi Extra Light" panose="020B0204020104020204" pitchFamily="34" charset="0"/>
                        </a:rPr>
                        <a:t>0.35</a:t>
                      </a:r>
                    </a:p>
                  </a:txBody>
                  <a:tcPr anchor="ctr">
                    <a:solidFill>
                      <a:schemeClr val="accent6">
                        <a:lumMod val="40000"/>
                        <a:lumOff val="60000"/>
                      </a:schemeClr>
                    </a:solidFill>
                  </a:tcPr>
                </a:tc>
                <a:tc>
                  <a:txBody>
                    <a:bodyPr/>
                    <a:lstStyle/>
                    <a:p>
                      <a:pPr algn="ctr"/>
                      <a:r>
                        <a:rPr lang="en-US" sz="1200" dirty="0">
                          <a:latin typeface="Abadi Extra Light" panose="020B0204020104020204" pitchFamily="34" charset="0"/>
                        </a:rPr>
                        <a:t>NA</a:t>
                      </a:r>
                    </a:p>
                  </a:txBody>
                  <a:tcPr anchor="ctr">
                    <a:solidFill>
                      <a:schemeClr val="accent6">
                        <a:lumMod val="40000"/>
                        <a:lumOff val="60000"/>
                      </a:schemeClr>
                    </a:solidFill>
                  </a:tcPr>
                </a:tc>
                <a:extLst>
                  <a:ext uri="{0D108BD9-81ED-4DB2-BD59-A6C34878D82A}">
                    <a16:rowId xmlns:a16="http://schemas.microsoft.com/office/drawing/2014/main" val="1146648037"/>
                  </a:ext>
                </a:extLst>
              </a:tr>
              <a:tr h="487680">
                <a:tc>
                  <a:txBody>
                    <a:bodyPr/>
                    <a:lstStyle/>
                    <a:p>
                      <a:pPr algn="ctr"/>
                      <a:r>
                        <a:rPr lang="en-US" sz="1200" dirty="0">
                          <a:latin typeface="Abadi Extra Light" panose="020B0204020104020204" pitchFamily="34" charset="0"/>
                        </a:rPr>
                        <a:t>15</a:t>
                      </a:r>
                    </a:p>
                  </a:txBody>
                  <a:tcPr anchor="ctr"/>
                </a:tc>
                <a:tc>
                  <a:txBody>
                    <a:bodyPr/>
                    <a:lstStyle/>
                    <a:p>
                      <a:pPr algn="ctr"/>
                      <a:r>
                        <a:rPr lang="en-US" sz="1200" dirty="0">
                          <a:latin typeface="Abadi Extra Light" panose="020B0204020104020204" pitchFamily="34" charset="0"/>
                        </a:rPr>
                        <a:t>1121834</a:t>
                      </a:r>
                    </a:p>
                  </a:txBody>
                  <a:tcPr anchor="ctr"/>
                </a:tc>
                <a:tc>
                  <a:txBody>
                    <a:bodyPr/>
                    <a:lstStyle/>
                    <a:p>
                      <a:pPr algn="ctr"/>
                      <a:endParaRPr lang="en-US" sz="1200" dirty="0">
                        <a:latin typeface="Abadi Extra Light" panose="020B0204020104020204" pitchFamily="34" charset="0"/>
                      </a:endParaRPr>
                    </a:p>
                  </a:txBody>
                  <a:tcPr anchor="ctr"/>
                </a:tc>
                <a:tc>
                  <a:txBody>
                    <a:bodyPr/>
                    <a:lstStyle/>
                    <a:p>
                      <a:pPr algn="ctr"/>
                      <a:r>
                        <a:rPr lang="en-US" sz="1200" dirty="0">
                          <a:latin typeface="Abadi Extra Light" panose="020B0204020104020204" pitchFamily="34" charset="0"/>
                        </a:rPr>
                        <a:t>Patient_31</a:t>
                      </a:r>
                    </a:p>
                  </a:txBody>
                  <a:tcPr anchor="ctr"/>
                </a:tc>
                <a:tc>
                  <a:txBody>
                    <a:bodyPr/>
                    <a:lstStyle/>
                    <a:p>
                      <a:pPr algn="ctr"/>
                      <a:r>
                        <a:rPr lang="en-US" sz="1200" dirty="0">
                          <a:latin typeface="Abadi Extra Light" panose="020B0204020104020204" pitchFamily="34" charset="0"/>
                        </a:rPr>
                        <a:t>Silent</a:t>
                      </a:r>
                    </a:p>
                  </a:txBody>
                  <a:tcPr anchor="ctr"/>
                </a:tc>
                <a:tc>
                  <a:txBody>
                    <a:bodyPr/>
                    <a:lstStyle/>
                    <a:p>
                      <a:pPr algn="ctr"/>
                      <a:r>
                        <a:rPr lang="en-US" sz="1200" dirty="0">
                          <a:latin typeface="Abadi Extra Light" panose="020B0204020104020204" pitchFamily="34" charset="0"/>
                        </a:rPr>
                        <a:t>R589R</a:t>
                      </a:r>
                    </a:p>
                  </a:txBody>
                  <a:tcPr anchor="ctr"/>
                </a:tc>
                <a:tc>
                  <a:txBody>
                    <a:bodyPr/>
                    <a:lstStyle/>
                    <a:p>
                      <a:pPr algn="ctr"/>
                      <a:r>
                        <a:rPr lang="en-US" sz="1200" dirty="0">
                          <a:latin typeface="Abadi Extra Light" panose="020B0204020104020204" pitchFamily="34" charset="0"/>
                        </a:rPr>
                        <a:t>0.124</a:t>
                      </a:r>
                    </a:p>
                  </a:txBody>
                  <a:tcPr anchor="ctr"/>
                </a:tc>
                <a:tc>
                  <a:txBody>
                    <a:bodyPr/>
                    <a:lstStyle/>
                    <a:p>
                      <a:pPr algn="ctr"/>
                      <a:endParaRPr lang="en-US" sz="1200" dirty="0">
                        <a:latin typeface="Abadi Extra Light" panose="020B0204020104020204" pitchFamily="34" charset="0"/>
                      </a:endParaRPr>
                    </a:p>
                  </a:txBody>
                  <a:tcPr anchor="ctr"/>
                </a:tc>
                <a:tc>
                  <a:txBody>
                    <a:bodyPr/>
                    <a:lstStyle/>
                    <a:p>
                      <a:pPr algn="ctr"/>
                      <a:r>
                        <a:rPr lang="en-US" sz="1200" dirty="0">
                          <a:latin typeface="Abadi Extra Light" panose="020B0204020104020204" pitchFamily="34" charset="0"/>
                        </a:rPr>
                        <a:t>0.05</a:t>
                      </a:r>
                    </a:p>
                  </a:txBody>
                  <a:tcPr anchor="ctr"/>
                </a:tc>
                <a:tc>
                  <a:txBody>
                    <a:bodyPr/>
                    <a:lstStyle/>
                    <a:p>
                      <a:pPr algn="ctr"/>
                      <a:r>
                        <a:rPr lang="en-US" sz="1200" dirty="0">
                          <a:latin typeface="Abadi Extra Light" panose="020B0204020104020204" pitchFamily="34" charset="0"/>
                        </a:rPr>
                        <a:t>NA</a:t>
                      </a:r>
                    </a:p>
                  </a:txBody>
                  <a:tcPr anchor="ctr"/>
                </a:tc>
                <a:extLst>
                  <a:ext uri="{0D108BD9-81ED-4DB2-BD59-A6C34878D82A}">
                    <a16:rowId xmlns:a16="http://schemas.microsoft.com/office/drawing/2014/main" val="3169565482"/>
                  </a:ext>
                </a:extLst>
              </a:tr>
              <a:tr h="426720">
                <a:tc>
                  <a:txBody>
                    <a:bodyPr/>
                    <a:lstStyle/>
                    <a:p>
                      <a:pPr algn="ctr"/>
                      <a:r>
                        <a:rPr lang="en-US" sz="1200" dirty="0">
                          <a:latin typeface="Abadi Extra Light" panose="020B0204020104020204" pitchFamily="34" charset="0"/>
                        </a:rPr>
                        <a:t>20</a:t>
                      </a:r>
                    </a:p>
                  </a:txBody>
                  <a:tcPr anchor="ctr"/>
                </a:tc>
                <a:tc>
                  <a:txBody>
                    <a:bodyPr/>
                    <a:lstStyle/>
                    <a:p>
                      <a:pPr algn="ctr"/>
                      <a:r>
                        <a:rPr lang="en-US" sz="1200" dirty="0">
                          <a:latin typeface="Abadi Extra Light" panose="020B0204020104020204" pitchFamily="34" charset="0"/>
                        </a:rPr>
                        <a:t>541255</a:t>
                      </a:r>
                    </a:p>
                  </a:txBody>
                  <a:tcPr anchor="ctr"/>
                </a:tc>
                <a:tc>
                  <a:txBody>
                    <a:bodyPr/>
                    <a:lstStyle/>
                    <a:p>
                      <a:pPr algn="ctr"/>
                      <a:endParaRPr lang="en-US" sz="1200" dirty="0">
                        <a:latin typeface="Abadi Extra Light" panose="020B0204020104020204" pitchFamily="34" charset="0"/>
                      </a:endParaRPr>
                    </a:p>
                  </a:txBody>
                  <a:tcPr anchor="ctr"/>
                </a:tc>
                <a:tc>
                  <a:txBody>
                    <a:bodyPr/>
                    <a:lstStyle/>
                    <a:p>
                      <a:pPr algn="ctr"/>
                      <a:r>
                        <a:rPr lang="en-US" sz="1200" dirty="0">
                          <a:latin typeface="Abadi Extra Light" panose="020B0204020104020204" pitchFamily="34" charset="0"/>
                        </a:rPr>
                        <a:t>Patient_98</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err="1">
                          <a:latin typeface="Abadi Extra Light" panose="020B0204020104020204" pitchFamily="34" charset="0"/>
                        </a:rPr>
                        <a:t>missense_variant</a:t>
                      </a:r>
                      <a:endParaRPr lang="en-US" sz="1200" dirty="0">
                        <a:latin typeface="Abadi Extra Light" panose="020B0204020104020204" pitchFamily="34" charset="0"/>
                      </a:endParaRPr>
                    </a:p>
                  </a:txBody>
                  <a:tcPr anchor="ctr"/>
                </a:tc>
                <a:tc>
                  <a:txBody>
                    <a:bodyPr/>
                    <a:lstStyle/>
                    <a:p>
                      <a:pPr algn="ctr"/>
                      <a:r>
                        <a:rPr lang="en-US" sz="1200" dirty="0">
                          <a:latin typeface="Abadi Extra Light" panose="020B0204020104020204" pitchFamily="34" charset="0"/>
                        </a:rPr>
                        <a:t>L239P</a:t>
                      </a:r>
                    </a:p>
                  </a:txBody>
                  <a:tcPr anchor="ctr"/>
                </a:tc>
                <a:tc>
                  <a:txBody>
                    <a:bodyPr/>
                    <a:lstStyle/>
                    <a:p>
                      <a:pPr algn="ctr"/>
                      <a:r>
                        <a:rPr lang="en-US" sz="1200" dirty="0">
                          <a:latin typeface="Abadi Extra Light" panose="020B0204020104020204" pitchFamily="34" charset="0"/>
                        </a:rPr>
                        <a:t>0.032</a:t>
                      </a:r>
                    </a:p>
                  </a:txBody>
                  <a:tcPr anchor="ctr"/>
                </a:tc>
                <a:tc>
                  <a:txBody>
                    <a:bodyPr/>
                    <a:lstStyle/>
                    <a:p>
                      <a:pPr algn="ctr"/>
                      <a:endParaRPr lang="en-US" sz="1200" dirty="0">
                        <a:latin typeface="Abadi Extra Light" panose="020B0204020104020204" pitchFamily="34" charset="0"/>
                      </a:endParaRPr>
                    </a:p>
                  </a:txBody>
                  <a:tcPr anchor="ctr"/>
                </a:tc>
                <a:tc>
                  <a:txBody>
                    <a:bodyPr/>
                    <a:lstStyle/>
                    <a:p>
                      <a:pPr algn="ctr"/>
                      <a:r>
                        <a:rPr lang="en-US" sz="1200" dirty="0">
                          <a:latin typeface="Abadi Extra Light" panose="020B0204020104020204" pitchFamily="34" charset="0"/>
                        </a:rPr>
                        <a:t>0.12</a:t>
                      </a:r>
                    </a:p>
                  </a:txBody>
                  <a:tcPr anchor="ctr"/>
                </a:tc>
                <a:tc>
                  <a:txBody>
                    <a:bodyPr/>
                    <a:lstStyle/>
                    <a:p>
                      <a:pPr algn="ctr"/>
                      <a:r>
                        <a:rPr lang="en-US" sz="1200" dirty="0">
                          <a:latin typeface="Abadi Extra Light" panose="020B0204020104020204" pitchFamily="34" charset="0"/>
                        </a:rPr>
                        <a:t>3.5</a:t>
                      </a:r>
                    </a:p>
                  </a:txBody>
                  <a:tcPr anchor="ctr"/>
                </a:tc>
                <a:extLst>
                  <a:ext uri="{0D108BD9-81ED-4DB2-BD59-A6C34878D82A}">
                    <a16:rowId xmlns:a16="http://schemas.microsoft.com/office/drawing/2014/main" val="3400704830"/>
                  </a:ext>
                </a:extLst>
              </a:tr>
            </a:tbl>
          </a:graphicData>
        </a:graphic>
      </p:graphicFrame>
      <p:sp>
        <p:nvSpPr>
          <p:cNvPr id="6" name="CustomShape 2">
            <a:extLst>
              <a:ext uri="{FF2B5EF4-FFF2-40B4-BE49-F238E27FC236}">
                <a16:creationId xmlns:a16="http://schemas.microsoft.com/office/drawing/2014/main" id="{FEF86476-B539-4D76-A7B1-278DAAD7170F}"/>
              </a:ext>
            </a:extLst>
          </p:cNvPr>
          <p:cNvSpPr/>
          <p:nvPr/>
        </p:nvSpPr>
        <p:spPr>
          <a:xfrm>
            <a:off x="129000" y="5979902"/>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1200" spc="-1" dirty="0">
                <a:solidFill>
                  <a:schemeClr val="tx2"/>
                </a:solidFill>
                <a:latin typeface="Abadi Extra Light" panose="020B0604020202020204" pitchFamily="34" charset="0"/>
                <a:ea typeface="Tahoma"/>
                <a:cs typeface="Calibri Light" panose="020F0302020204030204" pitchFamily="34" charset="0"/>
              </a:rPr>
              <a:t>*and many more. This is not exhaustive.</a:t>
            </a:r>
          </a:p>
        </p:txBody>
      </p:sp>
    </p:spTree>
    <p:extLst>
      <p:ext uri="{BB962C8B-B14F-4D97-AF65-F5344CB8AC3E}">
        <p14:creationId xmlns:p14="http://schemas.microsoft.com/office/powerpoint/2010/main" val="25385477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stomShape 2">
            <a:extLst>
              <a:ext uri="{FF2B5EF4-FFF2-40B4-BE49-F238E27FC236}">
                <a16:creationId xmlns:a16="http://schemas.microsoft.com/office/drawing/2014/main" id="{49E7E72C-58EB-4A00-8526-CA85934BCBB9}"/>
              </a:ext>
            </a:extLst>
          </p:cNvPr>
          <p:cNvSpPr/>
          <p:nvPr/>
        </p:nvSpPr>
        <p:spPr>
          <a:xfrm>
            <a:off x="250920" y="157644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PBPM mandatory parameters: pathways folder</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4" name="CustomShape 2">
            <a:extLst>
              <a:ext uri="{FF2B5EF4-FFF2-40B4-BE49-F238E27FC236}">
                <a16:creationId xmlns:a16="http://schemas.microsoft.com/office/drawing/2014/main" id="{C96E61F9-A9F3-4AED-8993-6D2E3B462E15}"/>
              </a:ext>
            </a:extLst>
          </p:cNvPr>
          <p:cNvSpPr/>
          <p:nvPr/>
        </p:nvSpPr>
        <p:spPr>
          <a:xfrm>
            <a:off x="250920" y="2024009"/>
            <a:ext cx="8476520" cy="597271"/>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The sample folder to build the PBPM protocol contained 80 pathways, for which the files ended with </a:t>
            </a:r>
            <a:r>
              <a:rPr lang="en-US" sz="2000" b="1" spc="-1" dirty="0">
                <a:solidFill>
                  <a:schemeClr val="tx2"/>
                </a:solidFill>
                <a:latin typeface="Abadi Extra Light" panose="020B0604020202020204" pitchFamily="34" charset="0"/>
                <a:ea typeface="Tahoma"/>
                <a:cs typeface="Calibri Light" panose="020F0302020204030204" pitchFamily="34" charset="0"/>
              </a:rPr>
              <a:t>“_</a:t>
            </a:r>
            <a:r>
              <a:rPr lang="en-US" sz="2000" b="1" spc="-1" dirty="0" err="1">
                <a:solidFill>
                  <a:schemeClr val="tx2"/>
                </a:solidFill>
                <a:latin typeface="Abadi Extra Light" panose="020B0604020202020204" pitchFamily="34" charset="0"/>
                <a:ea typeface="Tahoma"/>
                <a:cs typeface="Calibri Light" panose="020F0302020204030204" pitchFamily="34" charset="0"/>
              </a:rPr>
              <a:t>gene_annotations</a:t>
            </a:r>
            <a:r>
              <a:rPr lang="en-US" sz="2000" b="1" spc="-1" dirty="0">
                <a:solidFill>
                  <a:schemeClr val="tx2"/>
                </a:solidFill>
                <a:latin typeface="Abadi Extra Light" panose="020B0604020202020204" pitchFamily="34" charset="0"/>
                <a:ea typeface="Tahoma"/>
                <a:cs typeface="Calibri Light" panose="020F0302020204030204" pitchFamily="34" charset="0"/>
              </a:rPr>
              <a:t>” </a:t>
            </a:r>
            <a:r>
              <a:rPr lang="en-US" sz="2000" spc="-1" dirty="0">
                <a:solidFill>
                  <a:schemeClr val="tx2"/>
                </a:solidFill>
                <a:latin typeface="Abadi Extra Light" panose="020B0604020202020204" pitchFamily="34" charset="0"/>
                <a:ea typeface="Tahoma"/>
                <a:cs typeface="Calibri Light" panose="020F0302020204030204" pitchFamily="34" charset="0"/>
              </a:rPr>
              <a:t>were considered </a:t>
            </a:r>
          </a:p>
        </p:txBody>
      </p:sp>
      <p:sp>
        <p:nvSpPr>
          <p:cNvPr id="6" name="CustomShape 2">
            <a:extLst>
              <a:ext uri="{FF2B5EF4-FFF2-40B4-BE49-F238E27FC236}">
                <a16:creationId xmlns:a16="http://schemas.microsoft.com/office/drawing/2014/main" id="{FEF86476-B539-4D76-A7B1-278DAAD7170F}"/>
              </a:ext>
            </a:extLst>
          </p:cNvPr>
          <p:cNvSpPr/>
          <p:nvPr/>
        </p:nvSpPr>
        <p:spPr>
          <a:xfrm>
            <a:off x="416560" y="2621280"/>
            <a:ext cx="3487960" cy="74384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1600" b="1" spc="-1" dirty="0">
                <a:solidFill>
                  <a:schemeClr val="accent1"/>
                </a:solidFill>
                <a:latin typeface="Abadi Extra Light" panose="020B0604020202020204" pitchFamily="34" charset="0"/>
                <a:ea typeface="Tahoma"/>
                <a:cs typeface="Calibri Light" panose="020F0302020204030204" pitchFamily="34" charset="0"/>
              </a:rPr>
              <a:t>Folder structure</a:t>
            </a:r>
          </a:p>
        </p:txBody>
      </p:sp>
      <p:pic>
        <p:nvPicPr>
          <p:cNvPr id="2" name="Picture 1">
            <a:extLst>
              <a:ext uri="{FF2B5EF4-FFF2-40B4-BE49-F238E27FC236}">
                <a16:creationId xmlns:a16="http://schemas.microsoft.com/office/drawing/2014/main" id="{C1205647-F7CB-47FC-BDF1-0C340F4742C2}"/>
              </a:ext>
            </a:extLst>
          </p:cNvPr>
          <p:cNvPicPr>
            <a:picLocks noChangeAspect="1"/>
          </p:cNvPicPr>
          <p:nvPr/>
        </p:nvPicPr>
        <p:blipFill>
          <a:blip r:embed="rId2"/>
          <a:stretch>
            <a:fillRect/>
          </a:stretch>
        </p:blipFill>
        <p:spPr>
          <a:xfrm>
            <a:off x="932632" y="3182991"/>
            <a:ext cx="2761064" cy="2902849"/>
          </a:xfrm>
          <a:prstGeom prst="rect">
            <a:avLst/>
          </a:prstGeom>
        </p:spPr>
      </p:pic>
      <p:sp>
        <p:nvSpPr>
          <p:cNvPr id="3" name="Arrow: Bent-Up 2">
            <a:extLst>
              <a:ext uri="{FF2B5EF4-FFF2-40B4-BE49-F238E27FC236}">
                <a16:creationId xmlns:a16="http://schemas.microsoft.com/office/drawing/2014/main" id="{B71BC966-EF6F-4F5C-B7D7-C0224706441D}"/>
              </a:ext>
            </a:extLst>
          </p:cNvPr>
          <p:cNvSpPr/>
          <p:nvPr/>
        </p:nvSpPr>
        <p:spPr>
          <a:xfrm rot="5400000">
            <a:off x="694871" y="3180676"/>
            <a:ext cx="309882" cy="314512"/>
          </a:xfrm>
          <a:prstGeom prst="bentUpArrow">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9" name="Table 8">
            <a:extLst>
              <a:ext uri="{FF2B5EF4-FFF2-40B4-BE49-F238E27FC236}">
                <a16:creationId xmlns:a16="http://schemas.microsoft.com/office/drawing/2014/main" id="{519A2CB0-B130-4B51-A023-C21C970B1477}"/>
              </a:ext>
            </a:extLst>
          </p:cNvPr>
          <p:cNvGraphicFramePr>
            <a:graphicFrameLocks noGrp="1"/>
          </p:cNvGraphicFramePr>
          <p:nvPr>
            <p:extLst>
              <p:ext uri="{D42A27DB-BD31-4B8C-83A1-F6EECF244321}">
                <p14:modId xmlns:p14="http://schemas.microsoft.com/office/powerpoint/2010/main" val="2297765367"/>
              </p:ext>
            </p:extLst>
          </p:nvPr>
        </p:nvGraphicFramePr>
        <p:xfrm>
          <a:off x="4564418" y="3375288"/>
          <a:ext cx="2272891" cy="2148467"/>
        </p:xfrm>
        <a:graphic>
          <a:graphicData uri="http://schemas.openxmlformats.org/drawingml/2006/table">
            <a:tbl>
              <a:tblPr firstRow="1" bandRow="1">
                <a:tableStyleId>{69012ECD-51FC-41F1-AA8D-1B2483CD663E}</a:tableStyleId>
              </a:tblPr>
              <a:tblGrid>
                <a:gridCol w="871908">
                  <a:extLst>
                    <a:ext uri="{9D8B030D-6E8A-4147-A177-3AD203B41FA5}">
                      <a16:colId xmlns:a16="http://schemas.microsoft.com/office/drawing/2014/main" val="566549421"/>
                    </a:ext>
                  </a:extLst>
                </a:gridCol>
                <a:gridCol w="1048951">
                  <a:extLst>
                    <a:ext uri="{9D8B030D-6E8A-4147-A177-3AD203B41FA5}">
                      <a16:colId xmlns:a16="http://schemas.microsoft.com/office/drawing/2014/main" val="2338258831"/>
                    </a:ext>
                  </a:extLst>
                </a:gridCol>
                <a:gridCol w="352032">
                  <a:extLst>
                    <a:ext uri="{9D8B030D-6E8A-4147-A177-3AD203B41FA5}">
                      <a16:colId xmlns:a16="http://schemas.microsoft.com/office/drawing/2014/main" val="1457784495"/>
                    </a:ext>
                  </a:extLst>
                </a:gridCol>
              </a:tblGrid>
              <a:tr h="394460">
                <a:tc>
                  <a:txBody>
                    <a:bodyPr/>
                    <a:lstStyle/>
                    <a:p>
                      <a:pPr algn="ctr"/>
                      <a:r>
                        <a:rPr lang="en-US" sz="1200" dirty="0">
                          <a:latin typeface="Abadi Extra Light" panose="020B0204020104020204" pitchFamily="34" charset="0"/>
                        </a:rPr>
                        <a:t>Pathway_1</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err="1">
                          <a:latin typeface="Abadi Extra Light" panose="020B0204020104020204" pitchFamily="34" charset="0"/>
                        </a:rPr>
                        <a:t>HGNC_symbol</a:t>
                      </a:r>
                      <a:endParaRPr lang="en-US" sz="1200" dirty="0">
                        <a:latin typeface="Abadi Extra Light" panose="020B0204020104020204" pitchFamily="34" charset="0"/>
                      </a:endParaRPr>
                    </a:p>
                  </a:txBody>
                  <a:tcPr anchor="ctr"/>
                </a:tc>
                <a:tc>
                  <a:txBody>
                    <a:bodyPr/>
                    <a:lstStyle/>
                    <a:p>
                      <a:pPr algn="ctr"/>
                      <a:r>
                        <a:rPr lang="en-US" sz="1200" dirty="0">
                          <a:latin typeface="Abadi Extra Light" panose="020B0204020104020204" pitchFamily="34" charset="0"/>
                        </a:rPr>
                        <a:t>…</a:t>
                      </a:r>
                    </a:p>
                  </a:txBody>
                  <a:tcPr anchor="ctr"/>
                </a:tc>
                <a:extLst>
                  <a:ext uri="{0D108BD9-81ED-4DB2-BD59-A6C34878D82A}">
                    <a16:rowId xmlns:a16="http://schemas.microsoft.com/office/drawing/2014/main" val="1039042550"/>
                  </a:ext>
                </a:extLst>
              </a:tr>
              <a:tr h="352333">
                <a:tc>
                  <a:txBody>
                    <a:bodyPr/>
                    <a:lstStyle/>
                    <a:p>
                      <a:pPr algn="ctr"/>
                      <a:r>
                        <a:rPr lang="en-US" sz="1200" dirty="0">
                          <a:latin typeface="Abadi Extra Light" panose="020B0204020104020204" pitchFamily="34" charset="0"/>
                        </a:rPr>
                        <a:t>SCN4A</a:t>
                      </a:r>
                    </a:p>
                  </a:txBody>
                  <a:tcPr anchor="ctr">
                    <a:noFill/>
                  </a:tcPr>
                </a:tc>
                <a:tc>
                  <a:txBody>
                    <a:bodyPr/>
                    <a:lstStyle/>
                    <a:p>
                      <a:pPr algn="ctr"/>
                      <a:r>
                        <a:rPr lang="en-US" sz="1200" dirty="0">
                          <a:latin typeface="Abadi Extra Light" panose="020B0204020104020204" pitchFamily="34" charset="0"/>
                        </a:rPr>
                        <a:t>SCN4A</a:t>
                      </a:r>
                    </a:p>
                  </a:txBody>
                  <a:tcPr anchor="ctr">
                    <a:noFill/>
                  </a:tcPr>
                </a:tc>
                <a:tc>
                  <a:txBody>
                    <a:bodyPr/>
                    <a:lstStyle/>
                    <a:p>
                      <a:pPr algn="ctr"/>
                      <a:endParaRPr lang="en-US" sz="1200" dirty="0">
                        <a:latin typeface="Abadi Extra Light" panose="020B0204020104020204" pitchFamily="34" charset="0"/>
                      </a:endParaRPr>
                    </a:p>
                  </a:txBody>
                  <a:tcPr anchor="ctr">
                    <a:noFill/>
                  </a:tcPr>
                </a:tc>
                <a:extLst>
                  <a:ext uri="{0D108BD9-81ED-4DB2-BD59-A6C34878D82A}">
                    <a16:rowId xmlns:a16="http://schemas.microsoft.com/office/drawing/2014/main" val="3447875338"/>
                  </a:ext>
                </a:extLst>
              </a:tr>
              <a:tr h="352333">
                <a:tc>
                  <a:txBody>
                    <a:bodyPr/>
                    <a:lstStyle/>
                    <a:p>
                      <a:pPr algn="ctr"/>
                      <a:r>
                        <a:rPr lang="en-US" sz="1200" dirty="0">
                          <a:latin typeface="Abadi Extra Light" panose="020B0204020104020204" pitchFamily="34" charset="0"/>
                        </a:rPr>
                        <a:t>ANK1</a:t>
                      </a:r>
                    </a:p>
                  </a:txBody>
                  <a:tcPr anchor="ctr">
                    <a:noFill/>
                  </a:tcPr>
                </a:tc>
                <a:tc>
                  <a:txBody>
                    <a:bodyPr/>
                    <a:lstStyle/>
                    <a:p>
                      <a:pPr algn="ctr"/>
                      <a:r>
                        <a:rPr lang="en-US" sz="1200" dirty="0">
                          <a:latin typeface="Abadi Extra Light" panose="020B0204020104020204" pitchFamily="34" charset="0"/>
                        </a:rPr>
                        <a:t>ANK1</a:t>
                      </a:r>
                    </a:p>
                  </a:txBody>
                  <a:tcPr anchor="ctr">
                    <a:noFill/>
                  </a:tcPr>
                </a:tc>
                <a:tc>
                  <a:txBody>
                    <a:bodyPr/>
                    <a:lstStyle/>
                    <a:p>
                      <a:pPr algn="ctr"/>
                      <a:endParaRPr lang="en-US" sz="1200">
                        <a:latin typeface="Abadi Extra Light" panose="020B0204020104020204" pitchFamily="34" charset="0"/>
                      </a:endParaRPr>
                    </a:p>
                  </a:txBody>
                  <a:tcPr anchor="ctr">
                    <a:noFill/>
                  </a:tcPr>
                </a:tc>
                <a:extLst>
                  <a:ext uri="{0D108BD9-81ED-4DB2-BD59-A6C34878D82A}">
                    <a16:rowId xmlns:a16="http://schemas.microsoft.com/office/drawing/2014/main" val="2986409613"/>
                  </a:ext>
                </a:extLst>
              </a:tr>
              <a:tr h="359993">
                <a:tc>
                  <a:txBody>
                    <a:bodyPr/>
                    <a:lstStyle/>
                    <a:p>
                      <a:pPr algn="ctr"/>
                      <a:r>
                        <a:rPr lang="en-US" sz="1200" dirty="0">
                          <a:latin typeface="Abadi Extra Light" panose="020B0204020104020204" pitchFamily="34" charset="0"/>
                        </a:rPr>
                        <a:t>SPTB</a:t>
                      </a:r>
                    </a:p>
                  </a:txBody>
                  <a:tcPr anchor="ctr">
                    <a:noFill/>
                  </a:tcPr>
                </a:tc>
                <a:tc>
                  <a:txBody>
                    <a:bodyPr/>
                    <a:lstStyle/>
                    <a:p>
                      <a:pPr algn="ctr"/>
                      <a:r>
                        <a:rPr lang="en-US" sz="1200" dirty="0">
                          <a:latin typeface="Abadi Extra Light" panose="020B0204020104020204" pitchFamily="34" charset="0"/>
                        </a:rPr>
                        <a:t>SPTB</a:t>
                      </a:r>
                    </a:p>
                  </a:txBody>
                  <a:tcPr anchor="ctr">
                    <a:noFill/>
                  </a:tcPr>
                </a:tc>
                <a:tc>
                  <a:txBody>
                    <a:bodyPr/>
                    <a:lstStyle/>
                    <a:p>
                      <a:pPr algn="ctr"/>
                      <a:endParaRPr lang="en-US" sz="1200" dirty="0">
                        <a:latin typeface="Abadi Extra Light" panose="020B0204020104020204" pitchFamily="34" charset="0"/>
                      </a:endParaRPr>
                    </a:p>
                  </a:txBody>
                  <a:tcPr anchor="ctr">
                    <a:noFill/>
                  </a:tcPr>
                </a:tc>
                <a:extLst>
                  <a:ext uri="{0D108BD9-81ED-4DB2-BD59-A6C34878D82A}">
                    <a16:rowId xmlns:a16="http://schemas.microsoft.com/office/drawing/2014/main" val="1146648037"/>
                  </a:ext>
                </a:extLst>
              </a:tr>
              <a:tr h="367652">
                <a:tc>
                  <a:txBody>
                    <a:bodyPr/>
                    <a:lstStyle/>
                    <a:p>
                      <a:pPr algn="ctr"/>
                      <a:r>
                        <a:rPr lang="en-US" sz="1200" dirty="0">
                          <a:latin typeface="Abadi Extra Light" panose="020B0204020104020204" pitchFamily="34" charset="0"/>
                        </a:rPr>
                        <a:t>KCNQ2</a:t>
                      </a:r>
                    </a:p>
                  </a:txBody>
                  <a:tcPr anchor="ctr">
                    <a:noFill/>
                  </a:tcPr>
                </a:tc>
                <a:tc>
                  <a:txBody>
                    <a:bodyPr/>
                    <a:lstStyle/>
                    <a:p>
                      <a:pPr algn="ctr"/>
                      <a:r>
                        <a:rPr lang="en-US" sz="1200" dirty="0">
                          <a:latin typeface="Abadi Extra Light" panose="020B0204020104020204" pitchFamily="34" charset="0"/>
                        </a:rPr>
                        <a:t>KCNQ2</a:t>
                      </a:r>
                    </a:p>
                  </a:txBody>
                  <a:tcPr anchor="ctr">
                    <a:noFill/>
                  </a:tcPr>
                </a:tc>
                <a:tc>
                  <a:txBody>
                    <a:bodyPr/>
                    <a:lstStyle/>
                    <a:p>
                      <a:pPr algn="ctr"/>
                      <a:endParaRPr lang="en-US" sz="1200" dirty="0">
                        <a:latin typeface="Abadi Extra Light" panose="020B0204020104020204" pitchFamily="34" charset="0"/>
                      </a:endParaRPr>
                    </a:p>
                  </a:txBody>
                  <a:tcPr anchor="ctr">
                    <a:noFill/>
                  </a:tcPr>
                </a:tc>
                <a:extLst>
                  <a:ext uri="{0D108BD9-81ED-4DB2-BD59-A6C34878D82A}">
                    <a16:rowId xmlns:a16="http://schemas.microsoft.com/office/drawing/2014/main" val="3169565482"/>
                  </a:ext>
                </a:extLst>
              </a:tr>
              <a:tr h="321696">
                <a:tc>
                  <a:txBody>
                    <a:bodyPr/>
                    <a:lstStyle/>
                    <a:p>
                      <a:pPr algn="ctr"/>
                      <a:r>
                        <a:rPr lang="en-US" sz="1200" dirty="0">
                          <a:latin typeface="Abadi Extra Light" panose="020B0204020104020204" pitchFamily="34" charset="0"/>
                        </a:rPr>
                        <a:t>ACTB</a:t>
                      </a:r>
                    </a:p>
                  </a:txBody>
                  <a:tcPr anchor="ctr"/>
                </a:tc>
                <a:tc>
                  <a:txBody>
                    <a:bodyPr/>
                    <a:lstStyle/>
                    <a:p>
                      <a:pPr algn="ctr"/>
                      <a:r>
                        <a:rPr lang="en-US" sz="1200" dirty="0">
                          <a:latin typeface="Abadi Extra Light" panose="020B0204020104020204" pitchFamily="34" charset="0"/>
                        </a:rPr>
                        <a:t>ACTB</a:t>
                      </a:r>
                    </a:p>
                  </a:txBody>
                  <a:tcPr anchor="ctr"/>
                </a:tc>
                <a:tc>
                  <a:txBody>
                    <a:bodyPr/>
                    <a:lstStyle/>
                    <a:p>
                      <a:pPr algn="ctr"/>
                      <a:endParaRPr lang="en-US" sz="1200" dirty="0">
                        <a:latin typeface="Abadi Extra Light" panose="020B0204020104020204" pitchFamily="34" charset="0"/>
                      </a:endParaRPr>
                    </a:p>
                  </a:txBody>
                  <a:tcPr anchor="ctr"/>
                </a:tc>
                <a:extLst>
                  <a:ext uri="{0D108BD9-81ED-4DB2-BD59-A6C34878D82A}">
                    <a16:rowId xmlns:a16="http://schemas.microsoft.com/office/drawing/2014/main" val="3400704830"/>
                  </a:ext>
                </a:extLst>
              </a:tr>
            </a:tbl>
          </a:graphicData>
        </a:graphic>
      </p:graphicFrame>
      <p:cxnSp>
        <p:nvCxnSpPr>
          <p:cNvPr id="10" name="Straight Arrow Connector 9">
            <a:extLst>
              <a:ext uri="{FF2B5EF4-FFF2-40B4-BE49-F238E27FC236}">
                <a16:creationId xmlns:a16="http://schemas.microsoft.com/office/drawing/2014/main" id="{AB065B3B-1915-4FBB-AD5E-6E622329C38E}"/>
              </a:ext>
            </a:extLst>
          </p:cNvPr>
          <p:cNvCxnSpPr>
            <a:cxnSpLocks/>
          </p:cNvCxnSpPr>
          <p:nvPr/>
        </p:nvCxnSpPr>
        <p:spPr>
          <a:xfrm>
            <a:off x="3571694" y="3576320"/>
            <a:ext cx="665651"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125060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
            <a:extLst>
              <a:ext uri="{FF2B5EF4-FFF2-40B4-BE49-F238E27FC236}">
                <a16:creationId xmlns:a16="http://schemas.microsoft.com/office/drawing/2014/main" id="{04753248-BE94-4FDE-AE76-E562D47EB437}"/>
              </a:ext>
            </a:extLst>
          </p:cNvPr>
          <p:cNvSpPr>
            <a:spLocks noChangeArrowheads="1"/>
          </p:cNvSpPr>
          <p:nvPr/>
        </p:nvSpPr>
        <p:spPr bwMode="auto">
          <a:xfrm>
            <a:off x="370840" y="3313933"/>
            <a:ext cx="8192040" cy="2862322"/>
          </a:xfrm>
          <a:prstGeom prst="rect">
            <a:avLst/>
          </a:prstGeom>
          <a:noFill/>
          <a:ln>
            <a:noFill/>
          </a:ln>
          <a:effec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b="1" spc="-1" dirty="0">
                <a:solidFill>
                  <a:schemeClr val="tx2"/>
                </a:solidFill>
                <a:latin typeface="Abadi Extra Light" panose="020B0604020202020204" pitchFamily="34" charset="0"/>
                <a:ea typeface="Tahoma"/>
                <a:cs typeface="Calibri Light" panose="020F0302020204030204" pitchFamily="34" charset="0"/>
              </a:rPr>
              <a:t>Important notes:</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2000" spc="-1" dirty="0">
                <a:solidFill>
                  <a:schemeClr val="tx2"/>
                </a:solidFill>
                <a:latin typeface="Abadi Extra Light" panose="020B0604020202020204" pitchFamily="34" charset="0"/>
                <a:ea typeface="Tahoma"/>
                <a:cs typeface="Calibri Light" panose="020F0302020204030204" pitchFamily="34" charset="0"/>
              </a:rPr>
              <a:t>Be aware of respecting the order of the positional arguments.</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2000" spc="-1" dirty="0">
                <a:solidFill>
                  <a:schemeClr val="tx2"/>
                </a:solidFill>
                <a:latin typeface="Abadi Extra Light" panose="020B0604020202020204" pitchFamily="34" charset="0"/>
                <a:ea typeface="Tahoma"/>
                <a:cs typeface="Calibri Light" panose="020F0302020204030204" pitchFamily="34" charset="0"/>
              </a:rPr>
              <a:t>Also, keep the names of the patients and mutations file as follows:</a:t>
            </a:r>
          </a:p>
          <a:p>
            <a:pPr marR="0" lvl="0" algn="l" defTabSz="914400" rtl="0" eaLnBrk="0" fontAlgn="base" latinLnBrk="0" hangingPunct="0">
              <a:lnSpc>
                <a:spcPct val="100000"/>
              </a:lnSpc>
              <a:spcBef>
                <a:spcPct val="0"/>
              </a:spcBef>
              <a:spcAft>
                <a:spcPct val="0"/>
              </a:spcAft>
              <a:buClrTx/>
              <a:buSzTx/>
              <a:tabLst/>
            </a:pPr>
            <a:r>
              <a:rPr lang="en-US" altLang="en-US" sz="2000" spc="-1" dirty="0">
                <a:solidFill>
                  <a:schemeClr val="tx2"/>
                </a:solidFill>
                <a:latin typeface="Abadi Extra Light" panose="020B0604020202020204" pitchFamily="34" charset="0"/>
                <a:ea typeface="Tahoma"/>
                <a:cs typeface="Calibri Light" panose="020F0302020204030204" pitchFamily="34" charset="0"/>
              </a:rPr>
              <a:t> </a:t>
            </a:r>
            <a:br>
              <a:rPr lang="en-US" altLang="en-US" sz="2000" spc="-1" dirty="0">
                <a:solidFill>
                  <a:schemeClr val="tx2"/>
                </a:solidFill>
                <a:latin typeface="Abadi Extra Light" panose="020B0604020202020204" pitchFamily="34" charset="0"/>
                <a:ea typeface="Tahoma"/>
                <a:cs typeface="Calibri Light" panose="020F0302020204030204" pitchFamily="34" charset="0"/>
              </a:rPr>
            </a:br>
            <a:r>
              <a:rPr lang="en-US" altLang="en-US" sz="1600" spc="-1" dirty="0" err="1">
                <a:solidFill>
                  <a:schemeClr val="tx2"/>
                </a:solidFill>
                <a:latin typeface="Abadi Extra Light" panose="020B0604020202020204" pitchFamily="34" charset="0"/>
                <a:ea typeface="Tahoma"/>
                <a:cs typeface="Calibri Light" panose="020F0302020204030204" pitchFamily="34" charset="0"/>
              </a:rPr>
              <a:t>Chr</a:t>
            </a:r>
            <a:r>
              <a:rPr lang="en-US" altLang="en-US" sz="1600" spc="-1" dirty="0">
                <a:solidFill>
                  <a:schemeClr val="tx2"/>
                </a:solidFill>
                <a:latin typeface="Abadi Extra Light" panose="020B0604020202020204" pitchFamily="34" charset="0"/>
                <a:ea typeface="Tahoma"/>
                <a:cs typeface="Calibri Light" panose="020F0302020204030204" pitchFamily="34" charset="0"/>
              </a:rPr>
              <a:t>, Position, Ref, Alt, Type, Gene, consequence, </a:t>
            </a:r>
            <a:r>
              <a:rPr lang="en-US" altLang="en-US" sz="1600" spc="-1" dirty="0" err="1">
                <a:solidFill>
                  <a:schemeClr val="tx2"/>
                </a:solidFill>
                <a:latin typeface="Abadi Extra Light" panose="020B0604020202020204" pitchFamily="34" charset="0"/>
                <a:ea typeface="Tahoma"/>
                <a:cs typeface="Calibri Light" panose="020F0302020204030204" pitchFamily="34" charset="0"/>
              </a:rPr>
              <a:t>child_id</a:t>
            </a:r>
            <a:r>
              <a:rPr lang="en-US" altLang="en-US" sz="1600" spc="-1" dirty="0">
                <a:solidFill>
                  <a:schemeClr val="tx2"/>
                </a:solidFill>
                <a:latin typeface="Abadi Extra Light" panose="020B0604020202020204" pitchFamily="34" charset="0"/>
                <a:ea typeface="Tahoma"/>
                <a:cs typeface="Calibri Light" panose="020F0302020204030204" pitchFamily="34" charset="0"/>
              </a:rPr>
              <a:t>, </a:t>
            </a:r>
            <a:r>
              <a:rPr lang="en-US" altLang="en-US" sz="1600" spc="-1" dirty="0" err="1">
                <a:solidFill>
                  <a:schemeClr val="tx2"/>
                </a:solidFill>
                <a:latin typeface="Abadi Extra Light" panose="020B0604020202020204" pitchFamily="34" charset="0"/>
                <a:ea typeface="Tahoma"/>
                <a:cs typeface="Calibri Light" panose="020F0302020204030204" pitchFamily="34" charset="0"/>
              </a:rPr>
              <a:t>HGNC_symbol</a:t>
            </a:r>
            <a:r>
              <a:rPr lang="en-US" altLang="en-US" sz="1600" spc="-1" dirty="0">
                <a:solidFill>
                  <a:schemeClr val="tx2"/>
                </a:solidFill>
                <a:latin typeface="Abadi Extra Light" panose="020B0604020202020204" pitchFamily="34" charset="0"/>
                <a:ea typeface="Tahoma"/>
                <a:cs typeface="Calibri Light" panose="020F0302020204030204" pitchFamily="34" charset="0"/>
              </a:rPr>
              <a:t>, </a:t>
            </a:r>
            <a:r>
              <a:rPr lang="en-US" altLang="en-US" sz="1600" spc="-1" dirty="0" err="1">
                <a:solidFill>
                  <a:schemeClr val="tx2"/>
                </a:solidFill>
                <a:latin typeface="Abadi Extra Light" panose="020B0604020202020204" pitchFamily="34" charset="0"/>
                <a:ea typeface="Tahoma"/>
                <a:cs typeface="Calibri Light" panose="020F0302020204030204" pitchFamily="34" charset="0"/>
              </a:rPr>
              <a:t>HGNC_mapping</a:t>
            </a:r>
            <a:r>
              <a:rPr lang="en-US" altLang="en-US" sz="1600" spc="-1" dirty="0">
                <a:solidFill>
                  <a:schemeClr val="tx2"/>
                </a:solidFill>
                <a:latin typeface="Abadi Extra Light" panose="020B0604020202020204" pitchFamily="34" charset="0"/>
                <a:ea typeface="Tahoma"/>
                <a:cs typeface="Calibri Light" panose="020F0302020204030204" pitchFamily="34" charset="0"/>
              </a:rPr>
              <a:t>, </a:t>
            </a:r>
            <a:r>
              <a:rPr lang="en-US" altLang="en-US" sz="1600" spc="-1" dirty="0" err="1">
                <a:solidFill>
                  <a:schemeClr val="tx2"/>
                </a:solidFill>
                <a:latin typeface="Abadi Extra Light" panose="020B0604020202020204" pitchFamily="34" charset="0"/>
                <a:ea typeface="Tahoma"/>
                <a:cs typeface="Calibri Light" panose="020F0302020204030204" pitchFamily="34" charset="0"/>
              </a:rPr>
              <a:t>constraint_score</a:t>
            </a:r>
            <a:r>
              <a:rPr lang="en-US" altLang="en-US" sz="1600" spc="-1" dirty="0">
                <a:solidFill>
                  <a:schemeClr val="tx2"/>
                </a:solidFill>
                <a:latin typeface="Abadi Extra Light" panose="020B0604020202020204" pitchFamily="34" charset="0"/>
                <a:ea typeface="Tahoma"/>
                <a:cs typeface="Calibri Light" panose="020F0302020204030204" pitchFamily="34" charset="0"/>
              </a:rPr>
              <a:t>, </a:t>
            </a:r>
            <a:r>
              <a:rPr lang="en-US" altLang="en-US" sz="1600" spc="-1" dirty="0" err="1">
                <a:solidFill>
                  <a:schemeClr val="tx2"/>
                </a:solidFill>
                <a:latin typeface="Abadi Extra Light" panose="020B0604020202020204" pitchFamily="34" charset="0"/>
                <a:ea typeface="Tahoma"/>
                <a:cs typeface="Calibri Light" panose="020F0302020204030204" pitchFamily="34" charset="0"/>
              </a:rPr>
              <a:t>pLI</a:t>
            </a:r>
            <a:r>
              <a:rPr lang="en-US" altLang="en-US" sz="1600" spc="-1" dirty="0">
                <a:solidFill>
                  <a:schemeClr val="tx2"/>
                </a:solidFill>
                <a:latin typeface="Abadi Extra Light" panose="020B0604020202020204" pitchFamily="34" charset="0"/>
                <a:ea typeface="Tahoma"/>
                <a:cs typeface="Calibri Light" panose="020F0302020204030204" pitchFamily="34" charset="0"/>
              </a:rPr>
              <a:t>, </a:t>
            </a:r>
            <a:r>
              <a:rPr lang="en-US" altLang="en-US" sz="1600" spc="-1" dirty="0" err="1">
                <a:solidFill>
                  <a:schemeClr val="tx2"/>
                </a:solidFill>
                <a:latin typeface="Abadi Extra Light" panose="020B0604020202020204" pitchFamily="34" charset="0"/>
                <a:ea typeface="Tahoma"/>
                <a:cs typeface="Calibri Light" panose="020F0302020204030204" pitchFamily="34" charset="0"/>
              </a:rPr>
              <a:t>pRecessive</a:t>
            </a:r>
            <a:r>
              <a:rPr lang="en-US" altLang="en-US" sz="1600" spc="-1" dirty="0">
                <a:solidFill>
                  <a:schemeClr val="tx2"/>
                </a:solidFill>
                <a:latin typeface="Abadi Extra Light" panose="020B0604020202020204" pitchFamily="34" charset="0"/>
                <a:ea typeface="Tahoma"/>
                <a:cs typeface="Calibri Light" panose="020F0302020204030204" pitchFamily="34" charset="0"/>
              </a:rPr>
              <a:t>, </a:t>
            </a:r>
            <a:r>
              <a:rPr lang="en-US" altLang="en-US" sz="1600" spc="-1" dirty="0" err="1">
                <a:solidFill>
                  <a:schemeClr val="tx2"/>
                </a:solidFill>
                <a:latin typeface="Abadi Extra Light" panose="020B0604020202020204" pitchFamily="34" charset="0"/>
                <a:ea typeface="Tahoma"/>
                <a:cs typeface="Calibri Light" panose="020F0302020204030204" pitchFamily="34" charset="0"/>
              </a:rPr>
              <a:t>max_control_AF</a:t>
            </a:r>
            <a:r>
              <a:rPr lang="en-US" altLang="en-US" sz="1600" spc="-1" dirty="0">
                <a:solidFill>
                  <a:schemeClr val="tx2"/>
                </a:solidFill>
                <a:latin typeface="Abadi Extra Light" panose="020B0604020202020204" pitchFamily="34" charset="0"/>
                <a:ea typeface="Tahoma"/>
                <a:cs typeface="Calibri Light" panose="020F0302020204030204" pitchFamily="34" charset="0"/>
              </a:rPr>
              <a:t>, pph2_prediction, MPC, </a:t>
            </a:r>
            <a:r>
              <a:rPr lang="en-US" altLang="en-US" sz="1600" spc="-1" dirty="0" err="1">
                <a:solidFill>
                  <a:schemeClr val="tx2"/>
                </a:solidFill>
                <a:latin typeface="Abadi Extra Light" panose="020B0604020202020204" pitchFamily="34" charset="0"/>
                <a:ea typeface="Tahoma"/>
                <a:cs typeface="Calibri Light" panose="020F0302020204030204" pitchFamily="34" charset="0"/>
              </a:rPr>
              <a:t>adjusted_consequence</a:t>
            </a:r>
            <a:r>
              <a:rPr lang="en-US" altLang="en-US" sz="1600" spc="-1" dirty="0">
                <a:solidFill>
                  <a:schemeClr val="tx2"/>
                </a:solidFill>
                <a:latin typeface="Abadi Extra Light" panose="020B0604020202020204" pitchFamily="34" charset="0"/>
                <a:ea typeface="Tahoma"/>
                <a:cs typeface="Calibri Light" panose="020F0302020204030204" pitchFamily="34" charset="0"/>
              </a:rPr>
              <a:t>.</a:t>
            </a:r>
          </a:p>
          <a:p>
            <a:pPr marR="0" lvl="0" algn="l" defTabSz="914400" rtl="0" eaLnBrk="0" fontAlgn="base" latinLnBrk="0" hangingPunct="0">
              <a:lnSpc>
                <a:spcPct val="100000"/>
              </a:lnSpc>
              <a:spcBef>
                <a:spcPct val="0"/>
              </a:spcBef>
              <a:spcAft>
                <a:spcPct val="0"/>
              </a:spcAft>
              <a:buClrTx/>
              <a:buSzTx/>
              <a:tabLst/>
            </a:pPr>
            <a:endParaRPr lang="en-US" altLang="en-US" sz="1600" spc="-1" dirty="0">
              <a:solidFill>
                <a:schemeClr val="tx2"/>
              </a:solidFill>
              <a:latin typeface="Abadi Extra Light" panose="020B0604020202020204" pitchFamily="34" charset="0"/>
              <a:ea typeface="Tahoma"/>
              <a:cs typeface="Calibri Light" panose="020F030202020403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2000" spc="-1" dirty="0">
                <a:solidFill>
                  <a:schemeClr val="tx2"/>
                </a:solidFill>
                <a:latin typeface="Abadi Extra Light" panose="020B0604020202020204" pitchFamily="34" charset="0"/>
                <a:ea typeface="Tahoma"/>
                <a:cs typeface="Calibri Light" panose="020F0302020204030204" pitchFamily="34" charset="0"/>
              </a:rPr>
              <a:t>The directory containing the pathways can contain multiple files. However, only those ending with </a:t>
            </a:r>
            <a:r>
              <a:rPr lang="en-US" altLang="en-US" sz="2000" i="1" spc="-1" dirty="0">
                <a:solidFill>
                  <a:schemeClr val="tx2"/>
                </a:solidFill>
                <a:latin typeface="Abadi Extra Light" panose="020B0604020202020204" pitchFamily="34" charset="0"/>
                <a:ea typeface="Tahoma"/>
                <a:cs typeface="Calibri Light" panose="020F0302020204030204" pitchFamily="34" charset="0"/>
              </a:rPr>
              <a:t>'_</a:t>
            </a:r>
            <a:r>
              <a:rPr lang="en-US" altLang="en-US" sz="2000" i="1" spc="-1" dirty="0" err="1">
                <a:solidFill>
                  <a:schemeClr val="tx2"/>
                </a:solidFill>
                <a:latin typeface="Abadi Extra Light" panose="020B0604020202020204" pitchFamily="34" charset="0"/>
                <a:ea typeface="Tahoma"/>
                <a:cs typeface="Calibri Light" panose="020F0302020204030204" pitchFamily="34" charset="0"/>
              </a:rPr>
              <a:t>with_gene_annotations</a:t>
            </a:r>
            <a:r>
              <a:rPr lang="en-US" altLang="en-US" sz="2000" i="1" spc="-1" dirty="0">
                <a:solidFill>
                  <a:schemeClr val="tx2"/>
                </a:solidFill>
                <a:latin typeface="Abadi Extra Light" panose="020B0604020202020204" pitchFamily="34" charset="0"/>
                <a:ea typeface="Tahoma"/>
                <a:cs typeface="Calibri Light" panose="020F0302020204030204" pitchFamily="34" charset="0"/>
              </a:rPr>
              <a:t>'</a:t>
            </a:r>
            <a:r>
              <a:rPr lang="en-US" altLang="en-US" sz="2000" spc="-1" dirty="0">
                <a:solidFill>
                  <a:schemeClr val="tx2"/>
                </a:solidFill>
                <a:latin typeface="Abadi Extra Light" panose="020B0604020202020204" pitchFamily="34" charset="0"/>
                <a:ea typeface="Tahoma"/>
                <a:cs typeface="Calibri Light" panose="020F0302020204030204" pitchFamily="34" charset="0"/>
              </a:rPr>
              <a:t> will be considered for processing.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2" name="Rectangle: Rounded Corners 11">
            <a:extLst>
              <a:ext uri="{FF2B5EF4-FFF2-40B4-BE49-F238E27FC236}">
                <a16:creationId xmlns:a16="http://schemas.microsoft.com/office/drawing/2014/main" id="{FBB01C71-C549-47CA-A1A7-A0525B8F89E3}"/>
              </a:ext>
            </a:extLst>
          </p:cNvPr>
          <p:cNvSpPr/>
          <p:nvPr/>
        </p:nvSpPr>
        <p:spPr>
          <a:xfrm>
            <a:off x="4785360" y="2573178"/>
            <a:ext cx="2164080" cy="286232"/>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5087FE6C-D748-447F-B4FF-A9F8B5AFBD9F}"/>
              </a:ext>
            </a:extLst>
          </p:cNvPr>
          <p:cNvSpPr/>
          <p:nvPr/>
        </p:nvSpPr>
        <p:spPr>
          <a:xfrm>
            <a:off x="2133600" y="2583338"/>
            <a:ext cx="2651760" cy="286232"/>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stomShape 2">
            <a:extLst>
              <a:ext uri="{FF2B5EF4-FFF2-40B4-BE49-F238E27FC236}">
                <a16:creationId xmlns:a16="http://schemas.microsoft.com/office/drawing/2014/main" id="{49E7E72C-58EB-4A00-8526-CA85934BCBB9}"/>
              </a:ext>
            </a:extLst>
          </p:cNvPr>
          <p:cNvSpPr/>
          <p:nvPr/>
        </p:nvSpPr>
        <p:spPr>
          <a:xfrm>
            <a:off x="250920" y="157644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How to specify mandatory parameters?</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5" name="Rectangle 4">
            <a:extLst>
              <a:ext uri="{FF2B5EF4-FFF2-40B4-BE49-F238E27FC236}">
                <a16:creationId xmlns:a16="http://schemas.microsoft.com/office/drawing/2014/main" id="{5FF5BD41-E170-420D-A161-83DC81CBA962}"/>
              </a:ext>
            </a:extLst>
          </p:cNvPr>
          <p:cNvSpPr/>
          <p:nvPr/>
        </p:nvSpPr>
        <p:spPr>
          <a:xfrm>
            <a:off x="250920" y="2594374"/>
            <a:ext cx="6776720" cy="286232"/>
          </a:xfrm>
          <a:prstGeom prst="rect">
            <a:avLst/>
          </a:prstGeom>
        </p:spPr>
        <p:txBody>
          <a:bodyPr wrap="square">
            <a:spAutoFit/>
          </a:bodyPr>
          <a:lstStyle/>
          <a:p>
            <a:pPr lvl="1">
              <a:lnSpc>
                <a:spcPct val="90000"/>
              </a:lnSpc>
            </a:pPr>
            <a:r>
              <a:rPr lang="en-US" sz="1400" b="1" spc="-1" dirty="0">
                <a:solidFill>
                  <a:schemeClr val="tx2"/>
                </a:solidFill>
                <a:latin typeface="Source Sans Pro Light" panose="020B0403030403020204" pitchFamily="34" charset="0"/>
                <a:ea typeface="Source Sans Pro Light" panose="020B0403030403020204" pitchFamily="34" charset="0"/>
                <a:cs typeface="Calibri Light" panose="020F0302020204030204" pitchFamily="34" charset="0"/>
              </a:rPr>
              <a:t>$ python3 main.py ~/PBPM/data/raw/mutations-file.txt ~/PBPM/data/raw/pathways/</a:t>
            </a:r>
          </a:p>
        </p:txBody>
      </p:sp>
      <p:sp>
        <p:nvSpPr>
          <p:cNvPr id="11" name="CustomShape 2">
            <a:extLst>
              <a:ext uri="{FF2B5EF4-FFF2-40B4-BE49-F238E27FC236}">
                <a16:creationId xmlns:a16="http://schemas.microsoft.com/office/drawing/2014/main" id="{79D212A3-73FF-4DAC-8648-341E00DC577D}"/>
              </a:ext>
            </a:extLst>
          </p:cNvPr>
          <p:cNvSpPr/>
          <p:nvPr/>
        </p:nvSpPr>
        <p:spPr>
          <a:xfrm>
            <a:off x="250920" y="2024009"/>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Run the protocol by specifying both positional arguments:</a:t>
            </a:r>
          </a:p>
        </p:txBody>
      </p:sp>
      <p:sp>
        <p:nvSpPr>
          <p:cNvPr id="13" name="CustomShape 2">
            <a:extLst>
              <a:ext uri="{FF2B5EF4-FFF2-40B4-BE49-F238E27FC236}">
                <a16:creationId xmlns:a16="http://schemas.microsoft.com/office/drawing/2014/main" id="{CFC47D9A-D607-4364-BBA9-1E283AE91CCD}"/>
              </a:ext>
            </a:extLst>
          </p:cNvPr>
          <p:cNvSpPr/>
          <p:nvPr/>
        </p:nvSpPr>
        <p:spPr>
          <a:xfrm>
            <a:off x="2917920" y="2833471"/>
            <a:ext cx="119180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b="1" spc="-1" dirty="0">
                <a:solidFill>
                  <a:schemeClr val="accent1"/>
                </a:solidFill>
                <a:latin typeface="Abadi Extra Light" panose="020B0604020202020204" pitchFamily="34" charset="0"/>
                <a:ea typeface="Tahoma"/>
                <a:cs typeface="Calibri Light" panose="020F0302020204030204" pitchFamily="34" charset="0"/>
              </a:rPr>
              <a:t>Input file</a:t>
            </a:r>
          </a:p>
        </p:txBody>
      </p:sp>
      <p:sp>
        <p:nvSpPr>
          <p:cNvPr id="14" name="CustomShape 2">
            <a:extLst>
              <a:ext uri="{FF2B5EF4-FFF2-40B4-BE49-F238E27FC236}">
                <a16:creationId xmlns:a16="http://schemas.microsoft.com/office/drawing/2014/main" id="{862E35AF-0273-41FC-BB5E-1C1A62E49896}"/>
              </a:ext>
            </a:extLst>
          </p:cNvPr>
          <p:cNvSpPr/>
          <p:nvPr/>
        </p:nvSpPr>
        <p:spPr>
          <a:xfrm>
            <a:off x="4944840" y="2818332"/>
            <a:ext cx="200968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b="1" spc="-1" dirty="0">
                <a:solidFill>
                  <a:schemeClr val="accent2"/>
                </a:solidFill>
                <a:latin typeface="Abadi Extra Light" panose="020B0604020202020204" pitchFamily="34" charset="0"/>
                <a:ea typeface="Tahoma"/>
                <a:cs typeface="Calibri Light" panose="020F0302020204030204" pitchFamily="34" charset="0"/>
              </a:rPr>
              <a:t>Pathways directory</a:t>
            </a:r>
          </a:p>
        </p:txBody>
      </p:sp>
    </p:spTree>
    <p:extLst>
      <p:ext uri="{BB962C8B-B14F-4D97-AF65-F5344CB8AC3E}">
        <p14:creationId xmlns:p14="http://schemas.microsoft.com/office/powerpoint/2010/main" val="6269407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stomShape 2">
            <a:extLst>
              <a:ext uri="{FF2B5EF4-FFF2-40B4-BE49-F238E27FC236}">
                <a16:creationId xmlns:a16="http://schemas.microsoft.com/office/drawing/2014/main" id="{49E7E72C-58EB-4A00-8526-CA85934BCBB9}"/>
              </a:ext>
            </a:extLst>
          </p:cNvPr>
          <p:cNvSpPr/>
          <p:nvPr/>
        </p:nvSpPr>
        <p:spPr>
          <a:xfrm>
            <a:off x="250920" y="157644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PBPM optional parameters</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4" name="CustomShape 2">
            <a:extLst>
              <a:ext uri="{FF2B5EF4-FFF2-40B4-BE49-F238E27FC236}">
                <a16:creationId xmlns:a16="http://schemas.microsoft.com/office/drawing/2014/main" id="{C96E61F9-A9F3-4AED-8993-6D2E3B462E15}"/>
              </a:ext>
            </a:extLst>
          </p:cNvPr>
          <p:cNvSpPr/>
          <p:nvPr/>
        </p:nvSpPr>
        <p:spPr>
          <a:xfrm>
            <a:off x="250920" y="2024009"/>
            <a:ext cx="8476520" cy="597271"/>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Final PBPMs will be filtered according to the optional arguments included in the analysis. Most of the parameters have both short and long names to be called.</a:t>
            </a:r>
          </a:p>
        </p:txBody>
      </p:sp>
      <p:sp>
        <p:nvSpPr>
          <p:cNvPr id="11" name="CustomShape 2">
            <a:extLst>
              <a:ext uri="{FF2B5EF4-FFF2-40B4-BE49-F238E27FC236}">
                <a16:creationId xmlns:a16="http://schemas.microsoft.com/office/drawing/2014/main" id="{A09836E9-1CA5-4502-BBFF-D90D9B024A2E}"/>
              </a:ext>
            </a:extLst>
          </p:cNvPr>
          <p:cNvSpPr/>
          <p:nvPr/>
        </p:nvSpPr>
        <p:spPr>
          <a:xfrm>
            <a:off x="250920" y="2699862"/>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342900" indent="-342900">
              <a:lnSpc>
                <a:spcPct val="90000"/>
              </a:lnSpc>
              <a:buFont typeface="Arial" panose="020B0604020202020204" pitchFamily="34" charset="0"/>
              <a:buChar char="•"/>
            </a:pP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Pathways</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12" name="CustomShape 2">
            <a:extLst>
              <a:ext uri="{FF2B5EF4-FFF2-40B4-BE49-F238E27FC236}">
                <a16:creationId xmlns:a16="http://schemas.microsoft.com/office/drawing/2014/main" id="{D62224B3-6FA5-4460-B2B4-2E355A321811}"/>
              </a:ext>
            </a:extLst>
          </p:cNvPr>
          <p:cNvSpPr/>
          <p:nvPr/>
        </p:nvSpPr>
        <p:spPr>
          <a:xfrm>
            <a:off x="250920" y="3804180"/>
            <a:ext cx="8476520" cy="2487031"/>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Optional argument to filter specific pathways. If no setting is provided, all available pathways will be considered.</a:t>
            </a: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marL="342900" indent="-342900" algn="just">
              <a:lnSpc>
                <a:spcPct val="90000"/>
              </a:lnSpc>
              <a:buFont typeface="Arial" panose="020B0604020202020204" pitchFamily="34" charset="0"/>
              <a:buChar char="•"/>
            </a:pPr>
            <a:r>
              <a:rPr lang="en-US" sz="2000" spc="-1" dirty="0">
                <a:solidFill>
                  <a:schemeClr val="tx2"/>
                </a:solidFill>
                <a:latin typeface="Abadi Extra Light" panose="020B0604020202020204" pitchFamily="34" charset="0"/>
                <a:ea typeface="Tahoma"/>
                <a:cs typeface="Calibri Light" panose="020F0302020204030204" pitchFamily="34" charset="0"/>
              </a:rPr>
              <a:t>Example 1: protocol will filter data for pathway </a:t>
            </a:r>
            <a:r>
              <a:rPr lang="en-US" sz="2000" b="1" spc="-1" dirty="0">
                <a:solidFill>
                  <a:schemeClr val="accent2"/>
                </a:solidFill>
                <a:latin typeface="Abadi Extra Light" panose="020B0604020202020204" pitchFamily="34" charset="0"/>
                <a:ea typeface="Tahoma"/>
                <a:cs typeface="Calibri Light" panose="020F0302020204030204" pitchFamily="34" charset="0"/>
              </a:rPr>
              <a:t>R-HSA-69620</a:t>
            </a:r>
            <a:r>
              <a:rPr lang="en-US" sz="2000" spc="-1" dirty="0">
                <a:solidFill>
                  <a:schemeClr val="tx2"/>
                </a:solidFill>
                <a:latin typeface="Abadi Extra Light" panose="020B0604020202020204" pitchFamily="34" charset="0"/>
                <a:ea typeface="Tahoma"/>
                <a:cs typeface="Calibri Light" panose="020F0302020204030204" pitchFamily="34" charset="0"/>
              </a:rPr>
              <a:t> </a:t>
            </a:r>
          </a:p>
          <a:p>
            <a:pPr marL="342900" indent="-342900" algn="just">
              <a:lnSpc>
                <a:spcPct val="90000"/>
              </a:lnSpc>
              <a:buFont typeface="Arial" panose="020B0604020202020204" pitchFamily="34" charset="0"/>
              <a:buChar char="•"/>
            </a:pPr>
            <a:endParaRPr lang="en-US" sz="500" spc="-1" dirty="0">
              <a:solidFill>
                <a:schemeClr val="tx2"/>
              </a:solidFill>
              <a:latin typeface="Consolas" panose="020B0609020204030204" pitchFamily="49" charset="0"/>
              <a:ea typeface="Tahoma"/>
              <a:cs typeface="Calibri Light" panose="020F0302020204030204" pitchFamily="34" charset="0"/>
            </a:endParaRPr>
          </a:p>
          <a:p>
            <a:pPr lvl="1">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python3 main.py  ~/PBPM/data/raw/mutations-file.txt </a:t>
            </a:r>
          </a:p>
          <a:p>
            <a:pPr lvl="1">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~/PBPM/data/raw/pathways/ </a:t>
            </a:r>
          </a:p>
          <a:p>
            <a:pPr lvl="1">
              <a:lnSpc>
                <a:spcPct val="90000"/>
              </a:lnSpc>
            </a:pPr>
            <a:r>
              <a:rPr lang="en-US" sz="1400" b="1" spc="-1" dirty="0">
                <a:solidFill>
                  <a:schemeClr val="accent2"/>
                </a:solidFill>
                <a:latin typeface="Source Sans Pro Light" panose="020B0403030403020204" pitchFamily="34" charset="0"/>
                <a:ea typeface="Source Sans Pro Light" panose="020B0403030403020204" pitchFamily="34" charset="0"/>
                <a:cs typeface="Calibri Light" panose="020F0302020204030204" pitchFamily="34" charset="0"/>
              </a:rPr>
              <a:t>                                   -p R-HSA-69620</a:t>
            </a:r>
          </a:p>
          <a:p>
            <a:pPr lvl="1">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marL="342900" indent="-342900" algn="just">
              <a:lnSpc>
                <a:spcPct val="90000"/>
              </a:lnSpc>
              <a:buFont typeface="Arial" panose="020B0604020202020204" pitchFamily="34" charset="0"/>
              <a:buChar char="•"/>
            </a:pPr>
            <a:r>
              <a:rPr lang="en-US" sz="2000" spc="-1" dirty="0">
                <a:solidFill>
                  <a:schemeClr val="tx2"/>
                </a:solidFill>
                <a:latin typeface="Abadi Extra Light" panose="020B0604020202020204" pitchFamily="34" charset="0"/>
                <a:ea typeface="Tahoma"/>
                <a:cs typeface="Calibri Light" panose="020F0302020204030204" pitchFamily="34" charset="0"/>
              </a:rPr>
              <a:t>Example 2: protocol will not filter data by any pathway.</a:t>
            </a:r>
          </a:p>
          <a:p>
            <a:pPr marL="342900" indent="-342900" algn="just">
              <a:lnSpc>
                <a:spcPct val="90000"/>
              </a:lnSpc>
              <a:buFont typeface="Arial" panose="020B0604020202020204" pitchFamily="34" charset="0"/>
              <a:buChar char="•"/>
            </a:pPr>
            <a:endParaRPr lang="en-US" sz="500" spc="-1" dirty="0">
              <a:solidFill>
                <a:schemeClr val="tx2"/>
              </a:solidFill>
              <a:latin typeface="Abadi Extra Light" panose="020B0604020202020204" pitchFamily="34" charset="0"/>
              <a:ea typeface="Tahoma"/>
              <a:cs typeface="Calibri Light" panose="020F0302020204030204" pitchFamily="34" charset="0"/>
            </a:endParaRPr>
          </a:p>
          <a:p>
            <a:pPr lvl="1">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python3 main.py  ~/PBPM/data/raw/mutations-file.txt </a:t>
            </a:r>
          </a:p>
          <a:p>
            <a:pPr lvl="1">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~/PBPM/data/raw/pathways/ </a:t>
            </a: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p:txBody>
      </p:sp>
    </p:spTree>
    <p:extLst>
      <p:ext uri="{BB962C8B-B14F-4D97-AF65-F5344CB8AC3E}">
        <p14:creationId xmlns:p14="http://schemas.microsoft.com/office/powerpoint/2010/main" val="33564643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ustomShape 2">
            <a:extLst>
              <a:ext uri="{FF2B5EF4-FFF2-40B4-BE49-F238E27FC236}">
                <a16:creationId xmlns:a16="http://schemas.microsoft.com/office/drawing/2014/main" id="{A09836E9-1CA5-4502-BBFF-D90D9B024A2E}"/>
              </a:ext>
            </a:extLst>
          </p:cNvPr>
          <p:cNvSpPr/>
          <p:nvPr/>
        </p:nvSpPr>
        <p:spPr>
          <a:xfrm>
            <a:off x="250920" y="157644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342900" indent="-342900">
              <a:lnSpc>
                <a:spcPct val="90000"/>
              </a:lnSpc>
              <a:buFont typeface="Arial" panose="020B0604020202020204" pitchFamily="34" charset="0"/>
              <a:buChar char="•"/>
            </a:pP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Pathways</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12" name="CustomShape 2">
            <a:extLst>
              <a:ext uri="{FF2B5EF4-FFF2-40B4-BE49-F238E27FC236}">
                <a16:creationId xmlns:a16="http://schemas.microsoft.com/office/drawing/2014/main" id="{D62224B3-6FA5-4460-B2B4-2E355A321811}"/>
              </a:ext>
            </a:extLst>
          </p:cNvPr>
          <p:cNvSpPr/>
          <p:nvPr/>
        </p:nvSpPr>
        <p:spPr>
          <a:xfrm>
            <a:off x="250920" y="3314329"/>
            <a:ext cx="8476520" cy="2751191"/>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p:txBody>
      </p:sp>
      <p:sp>
        <p:nvSpPr>
          <p:cNvPr id="9" name="CustomShape 2">
            <a:extLst>
              <a:ext uri="{FF2B5EF4-FFF2-40B4-BE49-F238E27FC236}">
                <a16:creationId xmlns:a16="http://schemas.microsoft.com/office/drawing/2014/main" id="{294FF8C0-B60C-4405-BD20-D6C388ABDF49}"/>
              </a:ext>
            </a:extLst>
          </p:cNvPr>
          <p:cNvSpPr/>
          <p:nvPr/>
        </p:nvSpPr>
        <p:spPr>
          <a:xfrm>
            <a:off x="250920" y="2082801"/>
            <a:ext cx="8476520" cy="238759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To filter by more than one pathway, you can specify one of the following: </a:t>
            </a: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marL="342900" indent="-342900" algn="just">
              <a:lnSpc>
                <a:spcPct val="90000"/>
              </a:lnSpc>
              <a:buFont typeface="Arial" panose="020B0604020202020204" pitchFamily="34" charset="0"/>
              <a:buChar char="•"/>
            </a:pPr>
            <a:r>
              <a:rPr lang="en-US" sz="2000" spc="-1" dirty="0">
                <a:solidFill>
                  <a:schemeClr val="tx2"/>
                </a:solidFill>
                <a:latin typeface="Abadi Extra Light" panose="020B0604020202020204" pitchFamily="34" charset="0"/>
                <a:ea typeface="Tahoma"/>
                <a:cs typeface="Calibri Light" panose="020F0302020204030204" pitchFamily="34" charset="0"/>
              </a:rPr>
              <a:t>A subset of pathways separated by comma (without spaces): </a:t>
            </a:r>
          </a:p>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    </a:t>
            </a: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-p R-HSA-69620,0051705</a:t>
            </a:r>
          </a:p>
          <a:p>
            <a:pPr marL="342900" indent="-342900" algn="just">
              <a:lnSpc>
                <a:spcPct val="90000"/>
              </a:lnSpc>
              <a:buFont typeface="Arial" panose="020B0604020202020204" pitchFamily="34" charset="0"/>
              <a:buChar char="•"/>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marL="342900" indent="-342900" algn="just">
              <a:lnSpc>
                <a:spcPct val="90000"/>
              </a:lnSpc>
              <a:buFont typeface="Arial" panose="020B0604020202020204" pitchFamily="34" charset="0"/>
              <a:buChar char="•"/>
            </a:pPr>
            <a:r>
              <a:rPr lang="en-US" sz="2000" spc="-1" dirty="0">
                <a:solidFill>
                  <a:schemeClr val="tx2"/>
                </a:solidFill>
                <a:latin typeface="Abadi Extra Light" panose="020B0604020202020204" pitchFamily="34" charset="0"/>
                <a:ea typeface="Tahoma"/>
                <a:cs typeface="Calibri Light" panose="020F0302020204030204" pitchFamily="34" charset="0"/>
              </a:rPr>
              <a:t> A </a:t>
            </a:r>
            <a:r>
              <a:rPr lang="en-US" sz="2000" b="1" spc="-1" dirty="0">
                <a:solidFill>
                  <a:schemeClr val="tx2"/>
                </a:solidFill>
                <a:latin typeface="Abadi Extra Light" panose="020B0604020202020204" pitchFamily="34" charset="0"/>
                <a:ea typeface="Tahoma"/>
                <a:cs typeface="Calibri Light" panose="020F0302020204030204" pitchFamily="34" charset="0"/>
              </a:rPr>
              <a:t>txt tab delimited file </a:t>
            </a:r>
            <a:r>
              <a:rPr lang="en-US" sz="2000" spc="-1" dirty="0">
                <a:solidFill>
                  <a:schemeClr val="tx2"/>
                </a:solidFill>
                <a:latin typeface="Abadi Extra Light" panose="020B0604020202020204" pitchFamily="34" charset="0"/>
                <a:ea typeface="Tahoma"/>
                <a:cs typeface="Calibri Light" panose="020F0302020204030204" pitchFamily="34" charset="0"/>
              </a:rPr>
              <a:t>with no headers and the desired pathways to filter written in the first column: </a:t>
            </a:r>
          </a:p>
          <a:p>
            <a:pPr algn="just">
              <a:lnSpc>
                <a:spcPct val="90000"/>
              </a:lnSpc>
            </a:pPr>
            <a:r>
              <a:rPr lang="en-US" sz="2000" spc="-1" dirty="0">
                <a:solidFill>
                  <a:schemeClr val="bg2">
                    <a:lumMod val="75000"/>
                  </a:schemeClr>
                </a:solidFill>
                <a:latin typeface="Abadi Extra Light" panose="020B0604020202020204" pitchFamily="34" charset="0"/>
                <a:ea typeface="Tahoma"/>
                <a:cs typeface="Calibri Light" panose="020F0302020204030204" pitchFamily="34" charset="0"/>
              </a:rPr>
              <a:t>    </a:t>
            </a: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-p ~/PBPM/data/raw/filters/my-file-containing-pathways.txt</a:t>
            </a: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p:txBody>
      </p:sp>
      <p:pic>
        <p:nvPicPr>
          <p:cNvPr id="5" name="Picture 4">
            <a:extLst>
              <a:ext uri="{FF2B5EF4-FFF2-40B4-BE49-F238E27FC236}">
                <a16:creationId xmlns:a16="http://schemas.microsoft.com/office/drawing/2014/main" id="{9AA32244-B955-4C98-95BD-766BC9CE4B71}"/>
              </a:ext>
            </a:extLst>
          </p:cNvPr>
          <p:cNvPicPr>
            <a:picLocks noChangeAspect="1"/>
          </p:cNvPicPr>
          <p:nvPr/>
        </p:nvPicPr>
        <p:blipFill>
          <a:blip r:embed="rId2"/>
          <a:stretch>
            <a:fillRect/>
          </a:stretch>
        </p:blipFill>
        <p:spPr>
          <a:xfrm>
            <a:off x="5283361" y="4112632"/>
            <a:ext cx="2204559" cy="2118667"/>
          </a:xfrm>
          <a:prstGeom prst="rect">
            <a:avLst/>
          </a:prstGeom>
        </p:spPr>
      </p:pic>
      <p:sp>
        <p:nvSpPr>
          <p:cNvPr id="16" name="Arrow: Bent-Up 15">
            <a:extLst>
              <a:ext uri="{FF2B5EF4-FFF2-40B4-BE49-F238E27FC236}">
                <a16:creationId xmlns:a16="http://schemas.microsoft.com/office/drawing/2014/main" id="{95661814-90FC-42B7-B05E-73CFCFBFE377}"/>
              </a:ext>
            </a:extLst>
          </p:cNvPr>
          <p:cNvSpPr/>
          <p:nvPr/>
        </p:nvSpPr>
        <p:spPr>
          <a:xfrm rot="5400000">
            <a:off x="4799511" y="4313144"/>
            <a:ext cx="309882" cy="314512"/>
          </a:xfrm>
          <a:prstGeom prst="bentUpArrow">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591572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ustomShape 2">
            <a:extLst>
              <a:ext uri="{FF2B5EF4-FFF2-40B4-BE49-F238E27FC236}">
                <a16:creationId xmlns:a16="http://schemas.microsoft.com/office/drawing/2014/main" id="{A09836E9-1CA5-4502-BBFF-D90D9B024A2E}"/>
              </a:ext>
            </a:extLst>
          </p:cNvPr>
          <p:cNvSpPr/>
          <p:nvPr/>
        </p:nvSpPr>
        <p:spPr>
          <a:xfrm>
            <a:off x="250920" y="157644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342900" indent="-342900">
              <a:lnSpc>
                <a:spcPct val="90000"/>
              </a:lnSpc>
              <a:buFont typeface="Arial" panose="020B0604020202020204" pitchFamily="34" charset="0"/>
              <a:buChar char="•"/>
            </a:pP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Genes</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10" name="CustomShape 2">
            <a:extLst>
              <a:ext uri="{FF2B5EF4-FFF2-40B4-BE49-F238E27FC236}">
                <a16:creationId xmlns:a16="http://schemas.microsoft.com/office/drawing/2014/main" id="{D3B4E2D7-99F1-4318-AE80-3220B6CBD2F6}"/>
              </a:ext>
            </a:extLst>
          </p:cNvPr>
          <p:cNvSpPr/>
          <p:nvPr/>
        </p:nvSpPr>
        <p:spPr>
          <a:xfrm>
            <a:off x="250920" y="2064649"/>
            <a:ext cx="8476520" cy="2751191"/>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Optional argument to filter specific genes. If no setting is provided, all available genes will be considered.</a:t>
            </a:r>
          </a:p>
          <a:p>
            <a:pPr algn="just">
              <a:lnSpc>
                <a:spcPct val="90000"/>
              </a:lnSpc>
            </a:pPr>
            <a:endParaRPr lang="en-US" sz="1200" spc="-1" dirty="0">
              <a:solidFill>
                <a:schemeClr val="tx2"/>
              </a:solidFill>
              <a:latin typeface="Abadi Extra Light" panose="020B0604020202020204" pitchFamily="34" charset="0"/>
              <a:ea typeface="Tahoma"/>
              <a:cs typeface="Calibri Light" panose="020F0302020204030204" pitchFamily="34" charset="0"/>
            </a:endParaRPr>
          </a:p>
          <a:p>
            <a:pPr marL="342900" indent="-342900" algn="just">
              <a:lnSpc>
                <a:spcPct val="90000"/>
              </a:lnSpc>
              <a:buFont typeface="Arial" panose="020B0604020202020204" pitchFamily="34" charset="0"/>
              <a:buChar char="•"/>
            </a:pPr>
            <a:r>
              <a:rPr lang="en-US" sz="2000" spc="-1" dirty="0">
                <a:solidFill>
                  <a:schemeClr val="tx2"/>
                </a:solidFill>
                <a:latin typeface="Abadi Extra Light" panose="020B0604020202020204" pitchFamily="34" charset="0"/>
                <a:ea typeface="Tahoma"/>
                <a:cs typeface="Calibri Light" panose="020F0302020204030204" pitchFamily="34" charset="0"/>
              </a:rPr>
              <a:t>Example: protocol will filter data for gene </a:t>
            </a:r>
            <a:r>
              <a:rPr lang="en-US" sz="2000" b="1" spc="-1" dirty="0">
                <a:solidFill>
                  <a:schemeClr val="accent2"/>
                </a:solidFill>
                <a:latin typeface="Abadi Extra Light" panose="020B0604020202020204" pitchFamily="34" charset="0"/>
                <a:ea typeface="Tahoma"/>
                <a:cs typeface="Calibri Light" panose="020F0302020204030204" pitchFamily="34" charset="0"/>
              </a:rPr>
              <a:t>CTR9</a:t>
            </a:r>
          </a:p>
          <a:p>
            <a:pPr>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     </a:t>
            </a: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python3 main.py  ~/PBPM/data/raw/mutations-file.txt </a:t>
            </a:r>
          </a:p>
          <a:p>
            <a:pPr>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~/PBPM/data/raw/pathways/ </a:t>
            </a:r>
          </a:p>
          <a:p>
            <a:pPr>
              <a:lnSpc>
                <a:spcPct val="90000"/>
              </a:lnSpc>
            </a:pPr>
            <a:r>
              <a:rPr lang="en-US" sz="1400" b="1" spc="-1" dirty="0">
                <a:solidFill>
                  <a:schemeClr val="tx2"/>
                </a:solidFill>
                <a:latin typeface="Source Sans Pro Light" panose="020B0403030403020204" pitchFamily="34" charset="0"/>
                <a:ea typeface="Source Sans Pro Light" panose="020B0403030403020204" pitchFamily="34" charset="0"/>
                <a:cs typeface="Calibri Light" panose="020F0302020204030204" pitchFamily="34" charset="0"/>
              </a:rPr>
              <a:t>                                                </a:t>
            </a:r>
            <a:r>
              <a:rPr lang="en-US" sz="1400" b="1" spc="-1" dirty="0">
                <a:solidFill>
                  <a:schemeClr val="accent2"/>
                </a:solidFill>
                <a:latin typeface="Source Sans Pro Light" panose="020B0403030403020204" pitchFamily="34" charset="0"/>
                <a:ea typeface="Source Sans Pro Light" panose="020B0403030403020204" pitchFamily="34" charset="0"/>
                <a:cs typeface="Calibri Light" panose="020F0302020204030204" pitchFamily="34" charset="0"/>
              </a:rPr>
              <a:t>-g CTR9</a:t>
            </a:r>
          </a:p>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 </a:t>
            </a: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p:txBody>
      </p:sp>
      <p:sp>
        <p:nvSpPr>
          <p:cNvPr id="14" name="CustomShape 2">
            <a:extLst>
              <a:ext uri="{FF2B5EF4-FFF2-40B4-BE49-F238E27FC236}">
                <a16:creationId xmlns:a16="http://schemas.microsoft.com/office/drawing/2014/main" id="{1E27A6A5-3585-4F09-960C-AE419E5126B4}"/>
              </a:ext>
            </a:extLst>
          </p:cNvPr>
          <p:cNvSpPr/>
          <p:nvPr/>
        </p:nvSpPr>
        <p:spPr>
          <a:xfrm>
            <a:off x="250920" y="3810127"/>
            <a:ext cx="8476520" cy="2119667"/>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To filter by more than one gene, you can specify one of the following: </a:t>
            </a:r>
          </a:p>
          <a:p>
            <a:pPr algn="just">
              <a:lnSpc>
                <a:spcPct val="90000"/>
              </a:lnSpc>
            </a:pPr>
            <a:endParaRPr lang="en-US" sz="1200" spc="-1" dirty="0">
              <a:solidFill>
                <a:schemeClr val="tx2"/>
              </a:solidFill>
              <a:latin typeface="Abadi Extra Light" panose="020B0604020202020204" pitchFamily="34" charset="0"/>
              <a:ea typeface="Tahoma"/>
              <a:cs typeface="Calibri Light" panose="020F0302020204030204" pitchFamily="34" charset="0"/>
            </a:endParaRPr>
          </a:p>
          <a:p>
            <a:pPr marL="342900" indent="-342900" algn="just">
              <a:lnSpc>
                <a:spcPct val="90000"/>
              </a:lnSpc>
              <a:buFont typeface="Arial" panose="020B0604020202020204" pitchFamily="34" charset="0"/>
              <a:buChar char="•"/>
            </a:pPr>
            <a:r>
              <a:rPr lang="en-US" sz="2000" spc="-1" dirty="0">
                <a:solidFill>
                  <a:schemeClr val="tx2"/>
                </a:solidFill>
                <a:latin typeface="Abadi Extra Light" panose="020B0604020202020204" pitchFamily="34" charset="0"/>
                <a:ea typeface="Tahoma"/>
                <a:cs typeface="Calibri Light" panose="020F0302020204030204" pitchFamily="34" charset="0"/>
              </a:rPr>
              <a:t>Subset of genes separated by comma (without spaces): </a:t>
            </a:r>
          </a:p>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     </a:t>
            </a:r>
            <a:r>
              <a:rPr lang="en-US" sz="2000" spc="-1" dirty="0">
                <a:solidFill>
                  <a:schemeClr val="bg2">
                    <a:lumMod val="75000"/>
                  </a:schemeClr>
                </a:solidFill>
                <a:latin typeface="Abadi Extra Light" panose="020B0604020202020204" pitchFamily="34" charset="0"/>
                <a:ea typeface="Tahoma"/>
                <a:cs typeface="Calibri Light" panose="020F0302020204030204" pitchFamily="34" charset="0"/>
              </a:rPr>
              <a:t>-</a:t>
            </a: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g CTR9,NOCL2</a:t>
            </a:r>
          </a:p>
          <a:p>
            <a:pPr marL="342900" indent="-342900" algn="just">
              <a:lnSpc>
                <a:spcPct val="90000"/>
              </a:lnSpc>
              <a:buFont typeface="Arial" panose="020B0604020202020204" pitchFamily="34" charset="0"/>
              <a:buChar char="•"/>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marL="342900" indent="-342900" algn="just">
              <a:lnSpc>
                <a:spcPct val="90000"/>
              </a:lnSpc>
              <a:buFont typeface="Arial" panose="020B0604020202020204" pitchFamily="34" charset="0"/>
              <a:buChar char="•"/>
            </a:pPr>
            <a:r>
              <a:rPr lang="en-US" sz="2000" spc="-1" dirty="0">
                <a:solidFill>
                  <a:schemeClr val="tx2"/>
                </a:solidFill>
                <a:latin typeface="Abadi Extra Light" panose="020B0604020202020204" pitchFamily="34" charset="0"/>
                <a:ea typeface="Tahoma"/>
                <a:cs typeface="Calibri Light" panose="020F0302020204030204" pitchFamily="34" charset="0"/>
              </a:rPr>
              <a:t> A </a:t>
            </a:r>
            <a:r>
              <a:rPr lang="en-US" sz="2000" b="1" spc="-1" dirty="0">
                <a:solidFill>
                  <a:schemeClr val="tx2"/>
                </a:solidFill>
                <a:latin typeface="Abadi Extra Light" panose="020B0604020202020204" pitchFamily="34" charset="0"/>
                <a:ea typeface="Tahoma"/>
                <a:cs typeface="Calibri Light" panose="020F0302020204030204" pitchFamily="34" charset="0"/>
              </a:rPr>
              <a:t>txt tab delimited file </a:t>
            </a:r>
            <a:r>
              <a:rPr lang="en-US" sz="2000" spc="-1" dirty="0">
                <a:solidFill>
                  <a:schemeClr val="tx2"/>
                </a:solidFill>
                <a:latin typeface="Abadi Extra Light" panose="020B0604020202020204" pitchFamily="34" charset="0"/>
                <a:ea typeface="Tahoma"/>
                <a:cs typeface="Calibri Light" panose="020F0302020204030204" pitchFamily="34" charset="0"/>
              </a:rPr>
              <a:t>with no headers and the desired genes to filter:</a:t>
            </a:r>
          </a:p>
          <a:p>
            <a:pPr algn="just">
              <a:lnSpc>
                <a:spcPct val="90000"/>
              </a:lnSpc>
            </a:pPr>
            <a:endParaRPr lang="en-US" sz="5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-g ~/PBPM/data/raw/filters/my-file-containing-genes.txt</a:t>
            </a: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p:txBody>
      </p:sp>
      <p:pic>
        <p:nvPicPr>
          <p:cNvPr id="8" name="Picture 7">
            <a:extLst>
              <a:ext uri="{FF2B5EF4-FFF2-40B4-BE49-F238E27FC236}">
                <a16:creationId xmlns:a16="http://schemas.microsoft.com/office/drawing/2014/main" id="{DCD4110A-0668-43DD-B282-AD5C9A197406}"/>
              </a:ext>
            </a:extLst>
          </p:cNvPr>
          <p:cNvPicPr>
            <a:picLocks noChangeAspect="1"/>
          </p:cNvPicPr>
          <p:nvPr/>
        </p:nvPicPr>
        <p:blipFill rotWithShape="1">
          <a:blip r:embed="rId2"/>
          <a:srcRect b="29366"/>
          <a:stretch/>
        </p:blipFill>
        <p:spPr>
          <a:xfrm>
            <a:off x="4947920" y="5670624"/>
            <a:ext cx="1837691" cy="616206"/>
          </a:xfrm>
          <a:prstGeom prst="rect">
            <a:avLst/>
          </a:prstGeom>
        </p:spPr>
      </p:pic>
      <p:sp>
        <p:nvSpPr>
          <p:cNvPr id="17" name="Arrow: Bent-Up 16">
            <a:extLst>
              <a:ext uri="{FF2B5EF4-FFF2-40B4-BE49-F238E27FC236}">
                <a16:creationId xmlns:a16="http://schemas.microsoft.com/office/drawing/2014/main" id="{E4756863-C52B-412E-BB18-9394678C6B1D}"/>
              </a:ext>
            </a:extLst>
          </p:cNvPr>
          <p:cNvSpPr/>
          <p:nvPr/>
        </p:nvSpPr>
        <p:spPr>
          <a:xfrm rot="5400000">
            <a:off x="4491495" y="5886839"/>
            <a:ext cx="309882" cy="314512"/>
          </a:xfrm>
          <a:prstGeom prst="bentUpArrow">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60694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ustomShape 2">
            <a:extLst>
              <a:ext uri="{FF2B5EF4-FFF2-40B4-BE49-F238E27FC236}">
                <a16:creationId xmlns:a16="http://schemas.microsoft.com/office/drawing/2014/main" id="{A09836E9-1CA5-4502-BBFF-D90D9B024A2E}"/>
              </a:ext>
            </a:extLst>
          </p:cNvPr>
          <p:cNvSpPr/>
          <p:nvPr/>
        </p:nvSpPr>
        <p:spPr>
          <a:xfrm>
            <a:off x="250920" y="157644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342900" indent="-342900">
              <a:lnSpc>
                <a:spcPct val="90000"/>
              </a:lnSpc>
              <a:buFont typeface="Arial" panose="020B0604020202020204" pitchFamily="34" charset="0"/>
              <a:buChar char="•"/>
            </a:pPr>
            <a:r>
              <a:rPr lang="en-US" sz="2400" b="1" spc="-1" dirty="0">
                <a:solidFill>
                  <a:schemeClr val="accent1"/>
                </a:solidFill>
                <a:latin typeface="Abadi Extra Light" panose="020B0604020202020204" pitchFamily="34" charset="0"/>
                <a:ea typeface="Tahoma"/>
                <a:cs typeface="Calibri Light" panose="020F0302020204030204" pitchFamily="34" charset="0"/>
              </a:rPr>
              <a:t>Patients</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10" name="CustomShape 2">
            <a:extLst>
              <a:ext uri="{FF2B5EF4-FFF2-40B4-BE49-F238E27FC236}">
                <a16:creationId xmlns:a16="http://schemas.microsoft.com/office/drawing/2014/main" id="{D3B4E2D7-99F1-4318-AE80-3220B6CBD2F6}"/>
              </a:ext>
            </a:extLst>
          </p:cNvPr>
          <p:cNvSpPr/>
          <p:nvPr/>
        </p:nvSpPr>
        <p:spPr>
          <a:xfrm>
            <a:off x="250920" y="2064649"/>
            <a:ext cx="8476520" cy="2751191"/>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Optional argument to filter specific patient IDs. If no setting is provided, all available patients will be considered.</a:t>
            </a:r>
          </a:p>
          <a:p>
            <a:pPr algn="just">
              <a:lnSpc>
                <a:spcPct val="90000"/>
              </a:lnSpc>
            </a:pPr>
            <a:endParaRPr lang="en-US" sz="1400" spc="-1" dirty="0">
              <a:solidFill>
                <a:schemeClr val="tx2"/>
              </a:solidFill>
              <a:latin typeface="Abadi Extra Light" panose="020B0604020202020204" pitchFamily="34" charset="0"/>
              <a:ea typeface="Tahoma"/>
              <a:cs typeface="Calibri Light" panose="020F0302020204030204" pitchFamily="34" charset="0"/>
            </a:endParaRPr>
          </a:p>
          <a:p>
            <a:pPr marL="342900" indent="-342900" algn="just">
              <a:lnSpc>
                <a:spcPct val="90000"/>
              </a:lnSpc>
              <a:buFont typeface="Arial" panose="020B0604020202020204" pitchFamily="34" charset="0"/>
              <a:buChar char="•"/>
            </a:pPr>
            <a:r>
              <a:rPr lang="en-US" sz="2000" spc="-1" dirty="0">
                <a:solidFill>
                  <a:schemeClr val="tx2"/>
                </a:solidFill>
                <a:latin typeface="Abadi Extra Light" panose="020B0604020202020204" pitchFamily="34" charset="0"/>
                <a:ea typeface="Tahoma"/>
                <a:cs typeface="Calibri Light" panose="020F0302020204030204" pitchFamily="34" charset="0"/>
              </a:rPr>
              <a:t>Example: protocol will filter data for </a:t>
            </a:r>
            <a:r>
              <a:rPr lang="en-US" sz="2000" b="1" spc="-1" dirty="0">
                <a:solidFill>
                  <a:schemeClr val="accent2"/>
                </a:solidFill>
                <a:latin typeface="Abadi Extra Light" panose="020B0604020202020204" pitchFamily="34" charset="0"/>
                <a:ea typeface="Tahoma"/>
                <a:cs typeface="Calibri Light" panose="020F0302020204030204" pitchFamily="34" charset="0"/>
              </a:rPr>
              <a:t>patient with ID 1 </a:t>
            </a:r>
          </a:p>
          <a:p>
            <a:pPr algn="just">
              <a:lnSpc>
                <a:spcPct val="90000"/>
              </a:lnSpc>
            </a:pPr>
            <a:r>
              <a:rPr lang="en-US" sz="2000" b="1" spc="-1" dirty="0">
                <a:solidFill>
                  <a:schemeClr val="tx2"/>
                </a:solidFill>
                <a:latin typeface="Abadi Extra Light" panose="020B0604020202020204" pitchFamily="34" charset="0"/>
                <a:ea typeface="Tahoma"/>
                <a:cs typeface="Calibri Light" panose="020F0302020204030204" pitchFamily="34" charset="0"/>
              </a:rPr>
              <a:t>     </a:t>
            </a: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python3 main.py  ~/PBPM/data/raw/mutations-file.txt                                                        </a:t>
            </a: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~/PBPM/data/raw/pathways/ </a:t>
            </a:r>
          </a:p>
          <a:p>
            <a:pPr algn="just">
              <a:lnSpc>
                <a:spcPct val="90000"/>
              </a:lnSpc>
            </a:pPr>
            <a:r>
              <a:rPr lang="en-US" sz="1400" b="1" spc="-1" dirty="0">
                <a:solidFill>
                  <a:schemeClr val="accent2"/>
                </a:solidFill>
                <a:latin typeface="Source Sans Pro Light" panose="020B0403030403020204" pitchFamily="34" charset="0"/>
                <a:ea typeface="Source Sans Pro Light" panose="020B0403030403020204" pitchFamily="34" charset="0"/>
                <a:cs typeface="Calibri Light" panose="020F0302020204030204" pitchFamily="34" charset="0"/>
              </a:rPr>
              <a:t>                                                -id Patient_1</a:t>
            </a:r>
          </a:p>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 </a:t>
            </a: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p:txBody>
      </p:sp>
      <p:sp>
        <p:nvSpPr>
          <p:cNvPr id="14" name="CustomShape 2">
            <a:extLst>
              <a:ext uri="{FF2B5EF4-FFF2-40B4-BE49-F238E27FC236}">
                <a16:creationId xmlns:a16="http://schemas.microsoft.com/office/drawing/2014/main" id="{1E27A6A5-3585-4F09-960C-AE419E5126B4}"/>
              </a:ext>
            </a:extLst>
          </p:cNvPr>
          <p:cNvSpPr/>
          <p:nvPr/>
        </p:nvSpPr>
        <p:spPr>
          <a:xfrm>
            <a:off x="250920" y="3827126"/>
            <a:ext cx="8476520" cy="2119667"/>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To filter by more than one patient, you can specify one of the following: </a:t>
            </a:r>
          </a:p>
          <a:p>
            <a:pPr algn="just">
              <a:lnSpc>
                <a:spcPct val="90000"/>
              </a:lnSpc>
            </a:pPr>
            <a:endParaRPr lang="en-US" sz="1100" spc="-1" dirty="0">
              <a:solidFill>
                <a:schemeClr val="tx2"/>
              </a:solidFill>
              <a:latin typeface="Abadi Extra Light" panose="020B0604020202020204" pitchFamily="34" charset="0"/>
              <a:ea typeface="Tahoma"/>
              <a:cs typeface="Calibri Light" panose="020F0302020204030204" pitchFamily="34" charset="0"/>
            </a:endParaRPr>
          </a:p>
          <a:p>
            <a:pPr marL="342900" indent="-342900" algn="just">
              <a:lnSpc>
                <a:spcPct val="90000"/>
              </a:lnSpc>
              <a:buFont typeface="Arial" panose="020B0604020202020204" pitchFamily="34" charset="0"/>
              <a:buChar char="•"/>
            </a:pPr>
            <a:r>
              <a:rPr lang="en-US" sz="2000" spc="-1" dirty="0">
                <a:solidFill>
                  <a:schemeClr val="tx2"/>
                </a:solidFill>
                <a:latin typeface="Abadi Extra Light" panose="020B0604020202020204" pitchFamily="34" charset="0"/>
                <a:ea typeface="Tahoma"/>
                <a:cs typeface="Calibri Light" panose="020F0302020204030204" pitchFamily="34" charset="0"/>
              </a:rPr>
              <a:t>A subset of patients IDs separated by comma (without spaces): </a:t>
            </a:r>
            <a:endParaRPr lang="fr-FR" sz="1050" b="1" spc="-1" dirty="0">
              <a:solidFill>
                <a:schemeClr val="tx2"/>
              </a:solidFill>
              <a:latin typeface="Source Sans Pro Light" panose="020B0403030403020204" pitchFamily="34" charset="0"/>
              <a:ea typeface="Source Sans Pro Light" panose="020B0403030403020204" pitchFamily="34" charset="0"/>
              <a:cs typeface="Calibri Light" panose="020F0302020204030204" pitchFamily="34" charset="0"/>
            </a:endParaRPr>
          </a:p>
          <a:p>
            <a:pPr algn="just">
              <a:lnSpc>
                <a:spcPct val="90000"/>
              </a:lnSpc>
            </a:pPr>
            <a:r>
              <a:rPr lang="fr-FR" sz="500" b="1" spc="-1" dirty="0">
                <a:solidFill>
                  <a:schemeClr val="tx2"/>
                </a:solidFill>
                <a:latin typeface="Source Sans Pro Light" panose="020B0403030403020204" pitchFamily="34" charset="0"/>
                <a:ea typeface="Source Sans Pro Light" panose="020B0403030403020204" pitchFamily="34" charset="0"/>
                <a:cs typeface="Calibri Light" panose="020F0302020204030204" pitchFamily="34" charset="0"/>
              </a:rPr>
              <a:t>          </a:t>
            </a:r>
          </a:p>
          <a:p>
            <a:pPr algn="just">
              <a:lnSpc>
                <a:spcPct val="90000"/>
              </a:lnSpc>
            </a:pPr>
            <a:r>
              <a:rPr lang="fr-FR" sz="1050" b="1" spc="-1" dirty="0">
                <a:solidFill>
                  <a:schemeClr val="tx2"/>
                </a:solidFill>
                <a:latin typeface="Source Sans Pro Light" panose="020B0403030403020204" pitchFamily="34" charset="0"/>
                <a:ea typeface="Source Sans Pro Light" panose="020B0403030403020204" pitchFamily="34" charset="0"/>
                <a:cs typeface="Calibri Light" panose="020F0302020204030204" pitchFamily="34" charset="0"/>
              </a:rPr>
              <a:t>             </a:t>
            </a:r>
            <a:r>
              <a:rPr lang="fr-FR"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-id </a:t>
            </a:r>
            <a:r>
              <a:rPr lang="fr-FR" sz="1400" b="1" spc="-1" dirty="0" err="1">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Patient_X,Patient_Y</a:t>
            </a:r>
            <a:endPar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endParaRPr>
          </a:p>
          <a:p>
            <a:pPr marL="342900" indent="-342900" algn="just">
              <a:lnSpc>
                <a:spcPct val="90000"/>
              </a:lnSpc>
              <a:buFont typeface="Arial" panose="020B0604020202020204" pitchFamily="34" charset="0"/>
              <a:buChar char="•"/>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marL="342900" indent="-342900" algn="just">
              <a:lnSpc>
                <a:spcPct val="90000"/>
              </a:lnSpc>
              <a:buFont typeface="Arial" panose="020B0604020202020204" pitchFamily="34" charset="0"/>
              <a:buChar char="•"/>
            </a:pPr>
            <a:r>
              <a:rPr lang="en-US" sz="2000" spc="-1" dirty="0">
                <a:solidFill>
                  <a:schemeClr val="tx2"/>
                </a:solidFill>
                <a:latin typeface="Abadi Extra Light" panose="020B0604020202020204" pitchFamily="34" charset="0"/>
                <a:ea typeface="Tahoma"/>
                <a:cs typeface="Calibri Light" panose="020F0302020204030204" pitchFamily="34" charset="0"/>
              </a:rPr>
              <a:t>A </a:t>
            </a:r>
            <a:r>
              <a:rPr lang="en-US" sz="2000" b="1" spc="-1" dirty="0">
                <a:solidFill>
                  <a:schemeClr val="tx2"/>
                </a:solidFill>
                <a:latin typeface="Abadi Extra Light" panose="020B0604020202020204" pitchFamily="34" charset="0"/>
                <a:ea typeface="Tahoma"/>
                <a:cs typeface="Calibri Light" panose="020F0302020204030204" pitchFamily="34" charset="0"/>
              </a:rPr>
              <a:t>txt tab delimited file </a:t>
            </a:r>
            <a:r>
              <a:rPr lang="en-US" sz="2000" spc="-1" dirty="0">
                <a:solidFill>
                  <a:schemeClr val="tx2"/>
                </a:solidFill>
                <a:latin typeface="Abadi Extra Light" panose="020B0604020202020204" pitchFamily="34" charset="0"/>
                <a:ea typeface="Tahoma"/>
                <a:cs typeface="Calibri Light" panose="020F0302020204030204" pitchFamily="34" charset="0"/>
              </a:rPr>
              <a:t>with no headers and the desired patients to filter:</a:t>
            </a:r>
          </a:p>
          <a:p>
            <a:pPr algn="just">
              <a:lnSpc>
                <a:spcPct val="90000"/>
              </a:lnSpc>
            </a:pPr>
            <a:r>
              <a:rPr lang="en-US" sz="500" b="1" spc="-1" dirty="0">
                <a:solidFill>
                  <a:schemeClr val="tx2"/>
                </a:solidFill>
                <a:latin typeface="Source Sans Pro Light" panose="020B0403030403020204" pitchFamily="34" charset="0"/>
                <a:ea typeface="Source Sans Pro Light" panose="020B0403030403020204" pitchFamily="34" charset="0"/>
                <a:cs typeface="Calibri Light" panose="020F0302020204030204" pitchFamily="34" charset="0"/>
              </a:rPr>
              <a:t>         </a:t>
            </a:r>
          </a:p>
          <a:p>
            <a:pPr algn="just">
              <a:lnSpc>
                <a:spcPct val="90000"/>
              </a:lnSpc>
            </a:pPr>
            <a:r>
              <a:rPr lang="en-US" sz="1400" b="1" spc="-1" dirty="0">
                <a:solidFill>
                  <a:schemeClr val="tx2"/>
                </a:solidFill>
                <a:latin typeface="Source Sans Pro Light" panose="020B0403030403020204" pitchFamily="34" charset="0"/>
                <a:ea typeface="Source Sans Pro Light" panose="020B0403030403020204" pitchFamily="34" charset="0"/>
                <a:cs typeface="Calibri Light" panose="020F0302020204030204" pitchFamily="34" charset="0"/>
              </a:rPr>
              <a:t>          </a:t>
            </a: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-id ~/PBPM/data/raw/filters/my-file-containing-patients.txt</a:t>
            </a: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p:txBody>
      </p:sp>
      <p:sp>
        <p:nvSpPr>
          <p:cNvPr id="17" name="Arrow: Bent-Up 16">
            <a:extLst>
              <a:ext uri="{FF2B5EF4-FFF2-40B4-BE49-F238E27FC236}">
                <a16:creationId xmlns:a16="http://schemas.microsoft.com/office/drawing/2014/main" id="{E4756863-C52B-412E-BB18-9394678C6B1D}"/>
              </a:ext>
            </a:extLst>
          </p:cNvPr>
          <p:cNvSpPr/>
          <p:nvPr/>
        </p:nvSpPr>
        <p:spPr>
          <a:xfrm rot="5400000">
            <a:off x="4800412" y="5790251"/>
            <a:ext cx="309882" cy="314512"/>
          </a:xfrm>
          <a:prstGeom prst="bentUpArrow">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538C9DCA-9C39-4EDC-8FC5-3309DBE78275}"/>
              </a:ext>
            </a:extLst>
          </p:cNvPr>
          <p:cNvPicPr>
            <a:picLocks noChangeAspect="1"/>
          </p:cNvPicPr>
          <p:nvPr/>
        </p:nvPicPr>
        <p:blipFill rotWithShape="1">
          <a:blip r:embed="rId2"/>
          <a:srcRect b="12754"/>
          <a:stretch/>
        </p:blipFill>
        <p:spPr>
          <a:xfrm>
            <a:off x="5365750" y="5492085"/>
            <a:ext cx="2387637" cy="829563"/>
          </a:xfrm>
          <a:prstGeom prst="rect">
            <a:avLst/>
          </a:prstGeom>
        </p:spPr>
      </p:pic>
    </p:spTree>
    <p:extLst>
      <p:ext uri="{BB962C8B-B14F-4D97-AF65-F5344CB8AC3E}">
        <p14:creationId xmlns:p14="http://schemas.microsoft.com/office/powerpoint/2010/main" val="39898592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ustomShape 2">
            <a:extLst>
              <a:ext uri="{FF2B5EF4-FFF2-40B4-BE49-F238E27FC236}">
                <a16:creationId xmlns:a16="http://schemas.microsoft.com/office/drawing/2014/main" id="{A09836E9-1CA5-4502-BBFF-D90D9B024A2E}"/>
              </a:ext>
            </a:extLst>
          </p:cNvPr>
          <p:cNvSpPr/>
          <p:nvPr/>
        </p:nvSpPr>
        <p:spPr>
          <a:xfrm>
            <a:off x="250920" y="157644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342900" indent="-342900">
              <a:lnSpc>
                <a:spcPct val="90000"/>
              </a:lnSpc>
              <a:buFont typeface="Arial" panose="020B0604020202020204" pitchFamily="34" charset="0"/>
              <a:buChar char="•"/>
            </a:pPr>
            <a:r>
              <a:rPr lang="en-US" sz="2400" b="1" spc="-1" dirty="0">
                <a:solidFill>
                  <a:schemeClr val="accent1"/>
                </a:solidFill>
                <a:latin typeface="Abadi Extra Light" panose="020B0604020202020204" pitchFamily="34" charset="0"/>
                <a:ea typeface="Tahoma"/>
                <a:cs typeface="Calibri Light" panose="020F0302020204030204" pitchFamily="34" charset="0"/>
              </a:rPr>
              <a:t>Consequences</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10" name="CustomShape 2">
            <a:extLst>
              <a:ext uri="{FF2B5EF4-FFF2-40B4-BE49-F238E27FC236}">
                <a16:creationId xmlns:a16="http://schemas.microsoft.com/office/drawing/2014/main" id="{D3B4E2D7-99F1-4318-AE80-3220B6CBD2F6}"/>
              </a:ext>
            </a:extLst>
          </p:cNvPr>
          <p:cNvSpPr/>
          <p:nvPr/>
        </p:nvSpPr>
        <p:spPr>
          <a:xfrm>
            <a:off x="250920" y="2024009"/>
            <a:ext cx="8476520" cy="2619111"/>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Optional argument to filter specific consequences. If no setting is provided, all available consequences will be considered.</a:t>
            </a: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marL="342900" indent="-342900" algn="just">
              <a:lnSpc>
                <a:spcPct val="90000"/>
              </a:lnSpc>
              <a:buFont typeface="Arial" panose="020B0604020202020204" pitchFamily="34" charset="0"/>
              <a:buChar char="•"/>
            </a:pPr>
            <a:r>
              <a:rPr lang="en-US" sz="2000" spc="-1" dirty="0">
                <a:solidFill>
                  <a:schemeClr val="tx2"/>
                </a:solidFill>
                <a:latin typeface="Abadi Extra Light" panose="020B0604020202020204" pitchFamily="34" charset="0"/>
                <a:ea typeface="Tahoma"/>
                <a:cs typeface="Calibri Light" panose="020F0302020204030204" pitchFamily="34" charset="0"/>
              </a:rPr>
              <a:t>Example: protocol will filter data for consequences of type </a:t>
            </a:r>
            <a:r>
              <a:rPr lang="en-US" sz="2000" b="1" spc="-1" dirty="0">
                <a:solidFill>
                  <a:schemeClr val="accent2"/>
                </a:solidFill>
                <a:latin typeface="Abadi Extra Light" panose="020B0604020202020204" pitchFamily="34" charset="0"/>
                <a:ea typeface="Tahoma"/>
                <a:cs typeface="Calibri Light" panose="020F0302020204030204" pitchFamily="34" charset="0"/>
              </a:rPr>
              <a:t>'</a:t>
            </a:r>
            <a:r>
              <a:rPr lang="en-US" sz="2000" b="1" spc="-1" dirty="0" err="1">
                <a:solidFill>
                  <a:schemeClr val="accent2"/>
                </a:solidFill>
                <a:latin typeface="Abadi Extra Light" panose="020B0604020202020204" pitchFamily="34" charset="0"/>
                <a:ea typeface="Tahoma"/>
                <a:cs typeface="Calibri Light" panose="020F0302020204030204" pitchFamily="34" charset="0"/>
              </a:rPr>
              <a:t>missense_variant</a:t>
            </a:r>
            <a:r>
              <a:rPr lang="en-US" sz="2000" b="1" spc="-1" dirty="0">
                <a:solidFill>
                  <a:schemeClr val="accent2"/>
                </a:solidFill>
                <a:latin typeface="Abadi Extra Light" panose="020B0604020202020204" pitchFamily="34" charset="0"/>
                <a:ea typeface="Tahoma"/>
                <a:cs typeface="Calibri Light" panose="020F0302020204030204" pitchFamily="34" charset="0"/>
              </a:rPr>
              <a:t>’</a:t>
            </a:r>
          </a:p>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     </a:t>
            </a: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python3 main.py  ~/PBPM/data/raw/mutations-file.txt </a:t>
            </a: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~/PBPM/data/raw/pathways/ </a:t>
            </a:r>
          </a:p>
          <a:p>
            <a:pPr algn="just">
              <a:lnSpc>
                <a:spcPct val="90000"/>
              </a:lnSpc>
            </a:pPr>
            <a:r>
              <a:rPr lang="en-US" sz="1400" b="1" spc="-1" dirty="0">
                <a:solidFill>
                  <a:schemeClr val="tx2"/>
                </a:solidFill>
                <a:latin typeface="Source Sans Pro Light" panose="020B0403030403020204" pitchFamily="34" charset="0"/>
                <a:ea typeface="Source Sans Pro Light" panose="020B0403030403020204" pitchFamily="34" charset="0"/>
                <a:cs typeface="Calibri Light" panose="020F0302020204030204" pitchFamily="34" charset="0"/>
              </a:rPr>
              <a:t>                                               </a:t>
            </a:r>
            <a:r>
              <a:rPr lang="en-US" sz="1400" b="1" spc="-1" dirty="0">
                <a:solidFill>
                  <a:schemeClr val="accent2"/>
                </a:solidFill>
                <a:latin typeface="Source Sans Pro Light" panose="020B0403030403020204" pitchFamily="34" charset="0"/>
                <a:ea typeface="Source Sans Pro Light" panose="020B0403030403020204" pitchFamily="34" charset="0"/>
                <a:cs typeface="Calibri Light" panose="020F0302020204030204" pitchFamily="34" charset="0"/>
              </a:rPr>
              <a:t> -</a:t>
            </a:r>
            <a:r>
              <a:rPr lang="en-US" sz="1400" b="1" spc="-1" dirty="0" err="1">
                <a:solidFill>
                  <a:schemeClr val="accent2"/>
                </a:solidFill>
                <a:latin typeface="Source Sans Pro Light" panose="020B0403030403020204" pitchFamily="34" charset="0"/>
                <a:ea typeface="Source Sans Pro Light" panose="020B0403030403020204" pitchFamily="34" charset="0"/>
                <a:cs typeface="Calibri Light" panose="020F0302020204030204" pitchFamily="34" charset="0"/>
              </a:rPr>
              <a:t>csq</a:t>
            </a:r>
            <a:r>
              <a:rPr lang="en-US" sz="1400" b="1" spc="-1" dirty="0">
                <a:solidFill>
                  <a:schemeClr val="accent2"/>
                </a:solidFill>
                <a:latin typeface="Source Sans Pro Light" panose="020B0403030403020204" pitchFamily="34" charset="0"/>
                <a:ea typeface="Source Sans Pro Light" panose="020B0403030403020204" pitchFamily="34" charset="0"/>
                <a:cs typeface="Calibri Light" panose="020F0302020204030204" pitchFamily="34" charset="0"/>
              </a:rPr>
              <a:t> </a:t>
            </a:r>
            <a:r>
              <a:rPr lang="en-US" sz="1400" b="1" spc="-1" dirty="0" err="1">
                <a:solidFill>
                  <a:schemeClr val="accent2"/>
                </a:solidFill>
                <a:latin typeface="Source Sans Pro Light" panose="020B0403030403020204" pitchFamily="34" charset="0"/>
                <a:ea typeface="Source Sans Pro Light" panose="020B0403030403020204" pitchFamily="34" charset="0"/>
                <a:cs typeface="Calibri Light" panose="020F0302020204030204" pitchFamily="34" charset="0"/>
              </a:rPr>
              <a:t>missense_variant</a:t>
            </a:r>
            <a:endParaRPr lang="en-US" sz="1400" b="1" spc="-1" dirty="0">
              <a:solidFill>
                <a:schemeClr val="accent2"/>
              </a:solidFill>
              <a:latin typeface="Source Sans Pro Light" panose="020B0403030403020204" pitchFamily="34" charset="0"/>
              <a:ea typeface="Source Sans Pro Light" panose="020B0403030403020204" pitchFamily="34" charset="0"/>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p:txBody>
      </p:sp>
      <p:sp>
        <p:nvSpPr>
          <p:cNvPr id="14" name="CustomShape 2">
            <a:extLst>
              <a:ext uri="{FF2B5EF4-FFF2-40B4-BE49-F238E27FC236}">
                <a16:creationId xmlns:a16="http://schemas.microsoft.com/office/drawing/2014/main" id="{1E27A6A5-3585-4F09-960C-AE419E5126B4}"/>
              </a:ext>
            </a:extLst>
          </p:cNvPr>
          <p:cNvSpPr/>
          <p:nvPr/>
        </p:nvSpPr>
        <p:spPr>
          <a:xfrm>
            <a:off x="250920" y="3718687"/>
            <a:ext cx="8476520" cy="2119667"/>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To filter by more than one consequence, you can specify one of the following: </a:t>
            </a:r>
          </a:p>
          <a:p>
            <a:pPr algn="just">
              <a:lnSpc>
                <a:spcPct val="90000"/>
              </a:lnSpc>
            </a:pPr>
            <a:endParaRPr lang="en-US" sz="1100" spc="-1" dirty="0">
              <a:solidFill>
                <a:schemeClr val="tx2"/>
              </a:solidFill>
              <a:latin typeface="Abadi Extra Light" panose="020B0604020202020204" pitchFamily="34" charset="0"/>
              <a:ea typeface="Tahoma"/>
              <a:cs typeface="Calibri Light" panose="020F0302020204030204" pitchFamily="34" charset="0"/>
            </a:endParaRPr>
          </a:p>
          <a:p>
            <a:pPr marL="342900" indent="-342900" algn="just">
              <a:lnSpc>
                <a:spcPct val="90000"/>
              </a:lnSpc>
              <a:buFont typeface="Arial" panose="020B0604020202020204" pitchFamily="34" charset="0"/>
              <a:buChar char="•"/>
            </a:pPr>
            <a:r>
              <a:rPr lang="en-US" sz="2000" spc="-1" dirty="0">
                <a:solidFill>
                  <a:schemeClr val="tx2"/>
                </a:solidFill>
                <a:latin typeface="Abadi Extra Light" panose="020B0604020202020204" pitchFamily="34" charset="0"/>
                <a:ea typeface="Tahoma"/>
                <a:cs typeface="Calibri Light" panose="020F0302020204030204" pitchFamily="34" charset="0"/>
              </a:rPr>
              <a:t>A subset of mutations separated by comma (without spaces): </a:t>
            </a:r>
          </a:p>
          <a:p>
            <a:pPr algn="just">
              <a:lnSpc>
                <a:spcPct val="90000"/>
              </a:lnSpc>
            </a:pPr>
            <a:r>
              <a:rPr lang="en-US" dirty="0">
                <a:solidFill>
                  <a:schemeClr val="bg2">
                    <a:lumMod val="75000"/>
                  </a:schemeClr>
                </a:solidFill>
              </a:rPr>
              <a:t>     </a:t>
            </a: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a:t>
            </a:r>
            <a:r>
              <a:rPr lang="en-US" sz="1400" b="1" spc="-1" dirty="0" err="1">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csq</a:t>
            </a: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a:t>
            </a:r>
            <a:r>
              <a:rPr lang="en-US" sz="1400" b="1" spc="-1" dirty="0" err="1">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missense_variant,Intron</a:t>
            </a:r>
            <a:endPar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endParaRPr>
          </a:p>
          <a:p>
            <a:pPr marL="342900" indent="-342900" algn="just">
              <a:lnSpc>
                <a:spcPct val="90000"/>
              </a:lnSpc>
              <a:buFont typeface="Arial" panose="020B0604020202020204" pitchFamily="34" charset="0"/>
              <a:buChar char="•"/>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marL="342900" indent="-342900" algn="just">
              <a:lnSpc>
                <a:spcPct val="90000"/>
              </a:lnSpc>
              <a:buFont typeface="Arial" panose="020B0604020202020204" pitchFamily="34" charset="0"/>
              <a:buChar char="•"/>
            </a:pPr>
            <a:r>
              <a:rPr lang="en-US" sz="2000" spc="-1" dirty="0">
                <a:solidFill>
                  <a:schemeClr val="tx2"/>
                </a:solidFill>
                <a:latin typeface="Abadi Extra Light" panose="020B0604020202020204" pitchFamily="34" charset="0"/>
                <a:ea typeface="Tahoma"/>
                <a:cs typeface="Calibri Light" panose="020F0302020204030204" pitchFamily="34" charset="0"/>
              </a:rPr>
              <a:t> A </a:t>
            </a:r>
            <a:r>
              <a:rPr lang="en-US" sz="2000" b="1" spc="-1" dirty="0">
                <a:solidFill>
                  <a:schemeClr val="tx2"/>
                </a:solidFill>
                <a:latin typeface="Abadi Extra Light" panose="020B0604020202020204" pitchFamily="34" charset="0"/>
                <a:ea typeface="Tahoma"/>
                <a:cs typeface="Calibri Light" panose="020F0302020204030204" pitchFamily="34" charset="0"/>
              </a:rPr>
              <a:t>txt tab delimited file </a:t>
            </a:r>
            <a:r>
              <a:rPr lang="en-US" sz="2000" spc="-1" dirty="0">
                <a:solidFill>
                  <a:schemeClr val="tx2"/>
                </a:solidFill>
                <a:latin typeface="Abadi Extra Light" panose="020B0604020202020204" pitchFamily="34" charset="0"/>
                <a:ea typeface="Tahoma"/>
                <a:cs typeface="Calibri Light" panose="020F0302020204030204" pitchFamily="34" charset="0"/>
              </a:rPr>
              <a:t>with no headers and the desired consequences to filter.</a:t>
            </a:r>
          </a:p>
          <a:p>
            <a:pPr algn="just">
              <a:lnSpc>
                <a:spcPct val="90000"/>
              </a:lnSpc>
            </a:pPr>
            <a:r>
              <a:rPr lang="en-US" dirty="0"/>
              <a:t>     </a:t>
            </a: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a:t>
            </a:r>
            <a:r>
              <a:rPr lang="en-US" sz="1400" b="1" spc="-1" dirty="0" err="1">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csq</a:t>
            </a: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~/PBPM/data/raw/filters/my-file-containing-mutations.txt</a:t>
            </a: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p:txBody>
      </p:sp>
    </p:spTree>
    <p:extLst>
      <p:ext uri="{BB962C8B-B14F-4D97-AF65-F5344CB8AC3E}">
        <p14:creationId xmlns:p14="http://schemas.microsoft.com/office/powerpoint/2010/main" val="28746422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ustomShape 2">
            <a:extLst>
              <a:ext uri="{FF2B5EF4-FFF2-40B4-BE49-F238E27FC236}">
                <a16:creationId xmlns:a16="http://schemas.microsoft.com/office/drawing/2014/main" id="{A09836E9-1CA5-4502-BBFF-D90D9B024A2E}"/>
              </a:ext>
            </a:extLst>
          </p:cNvPr>
          <p:cNvSpPr/>
          <p:nvPr/>
        </p:nvSpPr>
        <p:spPr>
          <a:xfrm>
            <a:off x="250920" y="157644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342900" indent="-342900">
              <a:lnSpc>
                <a:spcPct val="90000"/>
              </a:lnSpc>
              <a:buFont typeface="Arial" panose="020B0604020202020204" pitchFamily="34" charset="0"/>
              <a:buChar char="•"/>
            </a:pPr>
            <a:r>
              <a:rPr lang="en-US" sz="2400" b="1" spc="-1" dirty="0" err="1">
                <a:solidFill>
                  <a:schemeClr val="accent1"/>
                </a:solidFill>
                <a:latin typeface="Abadi Extra Light" panose="020B0604020202020204" pitchFamily="34" charset="0"/>
                <a:ea typeface="Tahoma"/>
                <a:cs typeface="Calibri Light" panose="020F0302020204030204" pitchFamily="34" charset="0"/>
              </a:rPr>
              <a:t>pLI</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10" name="CustomShape 2">
            <a:extLst>
              <a:ext uri="{FF2B5EF4-FFF2-40B4-BE49-F238E27FC236}">
                <a16:creationId xmlns:a16="http://schemas.microsoft.com/office/drawing/2014/main" id="{D3B4E2D7-99F1-4318-AE80-3220B6CBD2F6}"/>
              </a:ext>
            </a:extLst>
          </p:cNvPr>
          <p:cNvSpPr/>
          <p:nvPr/>
        </p:nvSpPr>
        <p:spPr>
          <a:xfrm>
            <a:off x="250920" y="2024009"/>
            <a:ext cx="8334280" cy="1892015"/>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Optional argument to filter records with values greater than or equal to a specified </a:t>
            </a:r>
            <a:r>
              <a:rPr lang="en-US" sz="2000" spc="-1" dirty="0" err="1">
                <a:solidFill>
                  <a:schemeClr val="tx2"/>
                </a:solidFill>
                <a:latin typeface="Abadi Extra Light" panose="020B0604020202020204" pitchFamily="34" charset="0"/>
                <a:ea typeface="Tahoma"/>
                <a:cs typeface="Calibri Light" panose="020F0302020204030204" pitchFamily="34" charset="0"/>
              </a:rPr>
              <a:t>pLI</a:t>
            </a:r>
            <a:r>
              <a:rPr lang="en-US" sz="2000" spc="-1" dirty="0">
                <a:solidFill>
                  <a:schemeClr val="tx2"/>
                </a:solidFill>
                <a:latin typeface="Abadi Extra Light" panose="020B0604020202020204" pitchFamily="34" charset="0"/>
                <a:ea typeface="Tahoma"/>
                <a:cs typeface="Calibri Light" panose="020F0302020204030204" pitchFamily="34" charset="0"/>
              </a:rPr>
              <a:t> threshold. Example:  </a:t>
            </a:r>
          </a:p>
          <a:p>
            <a:pPr algn="just">
              <a:lnSpc>
                <a:spcPct val="90000"/>
              </a:lnSpc>
            </a:pPr>
            <a:endParaRPr lang="en-US" sz="11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python3 main.py  ~/PBPM/data/raw/mutations-file.txt </a:t>
            </a: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~/PBPM/data/raw/pathways/ </a:t>
            </a: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a:t>
            </a:r>
            <a:r>
              <a:rPr lang="en-US" sz="1400" b="1" spc="-1" dirty="0" err="1">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pli</a:t>
            </a: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0.6</a:t>
            </a: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p:txBody>
      </p:sp>
      <p:sp>
        <p:nvSpPr>
          <p:cNvPr id="9" name="CustomShape 2">
            <a:extLst>
              <a:ext uri="{FF2B5EF4-FFF2-40B4-BE49-F238E27FC236}">
                <a16:creationId xmlns:a16="http://schemas.microsoft.com/office/drawing/2014/main" id="{5869EA53-7B7E-4870-8336-D24D39865CEE}"/>
              </a:ext>
            </a:extLst>
          </p:cNvPr>
          <p:cNvSpPr/>
          <p:nvPr/>
        </p:nvSpPr>
        <p:spPr>
          <a:xfrm>
            <a:off x="250920" y="3536292"/>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342900" indent="-342900">
              <a:lnSpc>
                <a:spcPct val="90000"/>
              </a:lnSpc>
              <a:buFont typeface="Arial" panose="020B0604020202020204" pitchFamily="34" charset="0"/>
              <a:buChar char="•"/>
            </a:pPr>
            <a:r>
              <a:rPr lang="en-US" sz="2400" b="1" spc="-1" dirty="0" err="1">
                <a:solidFill>
                  <a:schemeClr val="accent1"/>
                </a:solidFill>
                <a:latin typeface="Abadi Extra Light" panose="020B0604020202020204" pitchFamily="34" charset="0"/>
                <a:ea typeface="Tahoma"/>
                <a:cs typeface="Calibri Light" panose="020F0302020204030204" pitchFamily="34" charset="0"/>
              </a:rPr>
              <a:t>pRecessive</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12" name="CustomShape 2">
            <a:extLst>
              <a:ext uri="{FF2B5EF4-FFF2-40B4-BE49-F238E27FC236}">
                <a16:creationId xmlns:a16="http://schemas.microsoft.com/office/drawing/2014/main" id="{96518C84-16EE-4B11-A2BF-49F4202C6A11}"/>
              </a:ext>
            </a:extLst>
          </p:cNvPr>
          <p:cNvSpPr/>
          <p:nvPr/>
        </p:nvSpPr>
        <p:spPr>
          <a:xfrm>
            <a:off x="250920" y="3983862"/>
            <a:ext cx="8334280" cy="1847978"/>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Optional argument to filter records with values greater than a specified </a:t>
            </a:r>
            <a:r>
              <a:rPr lang="en-US" sz="2000" spc="-1" dirty="0" err="1">
                <a:solidFill>
                  <a:schemeClr val="tx2"/>
                </a:solidFill>
                <a:latin typeface="Abadi Extra Light" panose="020B0604020202020204" pitchFamily="34" charset="0"/>
                <a:ea typeface="Tahoma"/>
                <a:cs typeface="Calibri Light" panose="020F0302020204030204" pitchFamily="34" charset="0"/>
              </a:rPr>
              <a:t>pRecessive</a:t>
            </a:r>
            <a:r>
              <a:rPr lang="en-US" sz="2000" spc="-1" dirty="0">
                <a:solidFill>
                  <a:schemeClr val="tx2"/>
                </a:solidFill>
                <a:latin typeface="Abadi Extra Light" panose="020B0604020202020204" pitchFamily="34" charset="0"/>
                <a:ea typeface="Tahoma"/>
                <a:cs typeface="Calibri Light" panose="020F0302020204030204" pitchFamily="34" charset="0"/>
              </a:rPr>
              <a:t> threshold. Example:  </a:t>
            </a:r>
          </a:p>
          <a:p>
            <a:pPr algn="just">
              <a:lnSpc>
                <a:spcPct val="90000"/>
              </a:lnSpc>
            </a:pPr>
            <a:endParaRPr lang="en-US" sz="11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python3 main.py ~/PBPM/data/raw/mutations-file.txt </a:t>
            </a: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~/PBPM/data/raw/pathways/</a:t>
            </a: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a:t>
            </a:r>
            <a:r>
              <a:rPr lang="en-US" sz="1400" b="1" spc="-1" dirty="0" err="1">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pr</a:t>
            </a: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0.6</a:t>
            </a: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p:txBody>
      </p:sp>
    </p:spTree>
    <p:extLst>
      <p:ext uri="{BB962C8B-B14F-4D97-AF65-F5344CB8AC3E}">
        <p14:creationId xmlns:p14="http://schemas.microsoft.com/office/powerpoint/2010/main" val="12262407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ustomShape 2">
            <a:extLst>
              <a:ext uri="{FF2B5EF4-FFF2-40B4-BE49-F238E27FC236}">
                <a16:creationId xmlns:a16="http://schemas.microsoft.com/office/drawing/2014/main" id="{5869EA53-7B7E-4870-8336-D24D39865CEE}"/>
              </a:ext>
            </a:extLst>
          </p:cNvPr>
          <p:cNvSpPr/>
          <p:nvPr/>
        </p:nvSpPr>
        <p:spPr>
          <a:xfrm>
            <a:off x="250920" y="1565252"/>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342900" indent="-342900">
              <a:lnSpc>
                <a:spcPct val="90000"/>
              </a:lnSpc>
              <a:buFont typeface="Arial" panose="020B0604020202020204" pitchFamily="34" charset="0"/>
              <a:buChar char="•"/>
            </a:pPr>
            <a:r>
              <a:rPr lang="en-US" sz="2400" b="1" spc="-1" dirty="0">
                <a:solidFill>
                  <a:schemeClr val="accent1"/>
                </a:solidFill>
                <a:latin typeface="Abadi Extra Light" panose="020B0604020202020204" pitchFamily="34" charset="0"/>
                <a:ea typeface="Tahoma"/>
                <a:cs typeface="Calibri Light" panose="020F0302020204030204" pitchFamily="34" charset="0"/>
              </a:rPr>
              <a:t>Max control AF</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12" name="CustomShape 2">
            <a:extLst>
              <a:ext uri="{FF2B5EF4-FFF2-40B4-BE49-F238E27FC236}">
                <a16:creationId xmlns:a16="http://schemas.microsoft.com/office/drawing/2014/main" id="{96518C84-16EE-4B11-A2BF-49F4202C6A11}"/>
              </a:ext>
            </a:extLst>
          </p:cNvPr>
          <p:cNvSpPr/>
          <p:nvPr/>
        </p:nvSpPr>
        <p:spPr>
          <a:xfrm>
            <a:off x="250920" y="2012822"/>
            <a:ext cx="8334280" cy="2223898"/>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Optional argument to filter records with values less than a </a:t>
            </a:r>
            <a:r>
              <a:rPr lang="en-US" sz="2000" spc="-1" dirty="0" err="1">
                <a:solidFill>
                  <a:schemeClr val="tx2"/>
                </a:solidFill>
                <a:latin typeface="Abadi Extra Light" panose="020B0604020202020204" pitchFamily="34" charset="0"/>
                <a:ea typeface="Tahoma"/>
                <a:cs typeface="Calibri Light" panose="020F0302020204030204" pitchFamily="34" charset="0"/>
              </a:rPr>
              <a:t>max_control_AF</a:t>
            </a:r>
            <a:r>
              <a:rPr lang="en-US" sz="2000" spc="-1" dirty="0">
                <a:solidFill>
                  <a:schemeClr val="tx2"/>
                </a:solidFill>
                <a:latin typeface="Abadi Extra Light" panose="020B0604020202020204" pitchFamily="34" charset="0"/>
                <a:ea typeface="Tahoma"/>
                <a:cs typeface="Calibri Light" panose="020F0302020204030204" pitchFamily="34" charset="0"/>
              </a:rPr>
              <a:t> threshold. Example:  </a:t>
            </a:r>
          </a:p>
          <a:p>
            <a:pPr algn="just">
              <a:lnSpc>
                <a:spcPct val="90000"/>
              </a:lnSpc>
            </a:pPr>
            <a:endParaRPr lang="en-US" sz="16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python3 main.py ~/PBPM/data/raw/mutations-file.txt </a:t>
            </a: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~/PBPM/data/raw/pathways/</a:t>
            </a: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a:t>
            </a:r>
            <a:r>
              <a:rPr lang="en-US" sz="1400" b="1" spc="-1" dirty="0" err="1">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af</a:t>
            </a: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0.3</a:t>
            </a: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p:txBody>
      </p:sp>
      <p:sp>
        <p:nvSpPr>
          <p:cNvPr id="6" name="CustomShape 2">
            <a:extLst>
              <a:ext uri="{FF2B5EF4-FFF2-40B4-BE49-F238E27FC236}">
                <a16:creationId xmlns:a16="http://schemas.microsoft.com/office/drawing/2014/main" id="{FCB4FA09-9D0C-490C-A91B-65A8E4A8B5B6}"/>
              </a:ext>
            </a:extLst>
          </p:cNvPr>
          <p:cNvSpPr/>
          <p:nvPr/>
        </p:nvSpPr>
        <p:spPr>
          <a:xfrm>
            <a:off x="250920" y="347636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342900" indent="-342900">
              <a:lnSpc>
                <a:spcPct val="90000"/>
              </a:lnSpc>
              <a:buFont typeface="Arial" panose="020B0604020202020204" pitchFamily="34" charset="0"/>
              <a:buChar char="•"/>
            </a:pPr>
            <a:r>
              <a:rPr lang="en-US" sz="2400" b="1" strike="noStrike" spc="-1" dirty="0" err="1">
                <a:solidFill>
                  <a:schemeClr val="accent1"/>
                </a:solidFill>
                <a:latin typeface="Abadi Extra Light" panose="020B0604020202020204" pitchFamily="34" charset="0"/>
                <a:ea typeface="Tahoma"/>
                <a:cs typeface="Calibri Light" panose="020F0302020204030204" pitchFamily="34" charset="0"/>
              </a:rPr>
              <a:t>PolyPhen</a:t>
            </a: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 predictions</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7" name="CustomShape 2">
            <a:extLst>
              <a:ext uri="{FF2B5EF4-FFF2-40B4-BE49-F238E27FC236}">
                <a16:creationId xmlns:a16="http://schemas.microsoft.com/office/drawing/2014/main" id="{451ECAEC-1DA7-453E-B342-957758C7B5F4}"/>
              </a:ext>
            </a:extLst>
          </p:cNvPr>
          <p:cNvSpPr/>
          <p:nvPr/>
        </p:nvSpPr>
        <p:spPr>
          <a:xfrm>
            <a:off x="250920" y="3923930"/>
            <a:ext cx="8334280" cy="234479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Optional argument to filter records with specific </a:t>
            </a:r>
            <a:r>
              <a:rPr lang="en-US" sz="2000" spc="-1" dirty="0" err="1">
                <a:solidFill>
                  <a:schemeClr val="tx2"/>
                </a:solidFill>
                <a:latin typeface="Abadi Extra Light" panose="020B0604020202020204" pitchFamily="34" charset="0"/>
                <a:ea typeface="Tahoma"/>
                <a:cs typeface="Calibri Light" panose="020F0302020204030204" pitchFamily="34" charset="0"/>
              </a:rPr>
              <a:t>PolyPhen</a:t>
            </a:r>
            <a:r>
              <a:rPr lang="en-US" sz="2000" spc="-1" dirty="0">
                <a:solidFill>
                  <a:schemeClr val="tx2"/>
                </a:solidFill>
                <a:latin typeface="Abadi Extra Light" panose="020B0604020202020204" pitchFamily="34" charset="0"/>
                <a:ea typeface="Tahoma"/>
                <a:cs typeface="Calibri Light" panose="020F0302020204030204" pitchFamily="34" charset="0"/>
              </a:rPr>
              <a:t> predictions. Available options for this parameter are: benign, possibly damaging, and probably damaging. Example:</a:t>
            </a:r>
          </a:p>
          <a:p>
            <a:pPr algn="just">
              <a:lnSpc>
                <a:spcPct val="90000"/>
              </a:lnSpc>
            </a:pPr>
            <a:endParaRPr lang="en-US" sz="11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python3 main.py ~/PBPM/data/raw/mutations-file.txt </a:t>
            </a: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~/PBPM/data/raw/pathways/ </a:t>
            </a: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-pph2 "possibly damaging"</a:t>
            </a:r>
          </a:p>
          <a:p>
            <a:pPr algn="just">
              <a:lnSpc>
                <a:spcPct val="90000"/>
              </a:lnSpc>
            </a:pPr>
            <a:endParaRPr lang="en-US" sz="12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Note that qualifiers must be enclosed with quotes as they hold blank spaces.</a:t>
            </a: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p:txBody>
      </p:sp>
    </p:spTree>
    <p:extLst>
      <p:ext uri="{BB962C8B-B14F-4D97-AF65-F5344CB8AC3E}">
        <p14:creationId xmlns:p14="http://schemas.microsoft.com/office/powerpoint/2010/main" val="36689046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ustomShape 2">
            <a:extLst>
              <a:ext uri="{FF2B5EF4-FFF2-40B4-BE49-F238E27FC236}">
                <a16:creationId xmlns:a16="http://schemas.microsoft.com/office/drawing/2014/main" id="{A09836E9-1CA5-4502-BBFF-D90D9B024A2E}"/>
              </a:ext>
            </a:extLst>
          </p:cNvPr>
          <p:cNvSpPr/>
          <p:nvPr/>
        </p:nvSpPr>
        <p:spPr>
          <a:xfrm>
            <a:off x="250920" y="157644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342900" indent="-342900">
              <a:lnSpc>
                <a:spcPct val="90000"/>
              </a:lnSpc>
              <a:buFont typeface="Arial" panose="020B0604020202020204" pitchFamily="34" charset="0"/>
              <a:buChar char="•"/>
            </a:pPr>
            <a:r>
              <a:rPr lang="en-US" sz="2400" b="1" strike="noStrike" spc="-1" dirty="0" err="1">
                <a:solidFill>
                  <a:schemeClr val="accent1"/>
                </a:solidFill>
                <a:latin typeface="Abadi Extra Light" panose="020B0604020202020204" pitchFamily="34" charset="0"/>
                <a:ea typeface="Tahoma"/>
                <a:cs typeface="Calibri Light" panose="020F0302020204030204" pitchFamily="34" charset="0"/>
              </a:rPr>
              <a:t>PolyPhen</a:t>
            </a: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 predictions</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10" name="CustomShape 2">
            <a:extLst>
              <a:ext uri="{FF2B5EF4-FFF2-40B4-BE49-F238E27FC236}">
                <a16:creationId xmlns:a16="http://schemas.microsoft.com/office/drawing/2014/main" id="{D3B4E2D7-99F1-4318-AE80-3220B6CBD2F6}"/>
              </a:ext>
            </a:extLst>
          </p:cNvPr>
          <p:cNvSpPr/>
          <p:nvPr/>
        </p:nvSpPr>
        <p:spPr>
          <a:xfrm>
            <a:off x="250920" y="2024010"/>
            <a:ext cx="8334280" cy="219239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To filter by more than one qualifier, you must separate their labels with comma and without spaces while keeping the quotes:</a:t>
            </a:r>
          </a:p>
          <a:p>
            <a:pPr algn="just">
              <a:lnSpc>
                <a:spcPct val="90000"/>
              </a:lnSpc>
            </a:pPr>
            <a:endParaRPr lang="en-US" sz="11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-pph2 "probably </a:t>
            </a:r>
            <a:r>
              <a:rPr lang="en-US" sz="1400" b="1" spc="-1" dirty="0" err="1">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damaging,possibly</a:t>
            </a: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damaging"</a:t>
            </a: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p:txBody>
      </p:sp>
      <p:sp>
        <p:nvSpPr>
          <p:cNvPr id="9" name="CustomShape 2">
            <a:extLst>
              <a:ext uri="{FF2B5EF4-FFF2-40B4-BE49-F238E27FC236}">
                <a16:creationId xmlns:a16="http://schemas.microsoft.com/office/drawing/2014/main" id="{B76AFD64-1D33-4864-889C-0B3EEA31485A}"/>
              </a:ext>
            </a:extLst>
          </p:cNvPr>
          <p:cNvSpPr/>
          <p:nvPr/>
        </p:nvSpPr>
        <p:spPr>
          <a:xfrm>
            <a:off x="250920" y="324268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342900" indent="-342900">
              <a:lnSpc>
                <a:spcPct val="90000"/>
              </a:lnSpc>
              <a:buFont typeface="Arial" panose="020B0604020202020204" pitchFamily="34" charset="0"/>
              <a:buChar char="•"/>
            </a:pP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MPC</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12" name="CustomShape 2">
            <a:extLst>
              <a:ext uri="{FF2B5EF4-FFF2-40B4-BE49-F238E27FC236}">
                <a16:creationId xmlns:a16="http://schemas.microsoft.com/office/drawing/2014/main" id="{CFBA5B0B-1E9C-4BBB-9B99-6B750B67887F}"/>
              </a:ext>
            </a:extLst>
          </p:cNvPr>
          <p:cNvSpPr/>
          <p:nvPr/>
        </p:nvSpPr>
        <p:spPr>
          <a:xfrm>
            <a:off x="250920" y="3690250"/>
            <a:ext cx="8334280" cy="219239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Optional argument to filter records with values greater than or equal to a specified MPC threshold. Example:  </a:t>
            </a:r>
          </a:p>
          <a:p>
            <a:pPr algn="just">
              <a:lnSpc>
                <a:spcPct val="90000"/>
              </a:lnSpc>
            </a:pPr>
            <a:endParaRPr lang="en-US" sz="11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python3 main.py  ~/PBPM/data/raw/mutations-file.txt </a:t>
            </a: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~/PBPM/data/raw/pathways/ </a:t>
            </a: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a:t>
            </a:r>
            <a:r>
              <a:rPr lang="en-US" sz="1400" b="1" spc="-1" dirty="0" err="1">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mpc</a:t>
            </a: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0.7</a:t>
            </a: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p:txBody>
      </p:sp>
    </p:spTree>
    <p:extLst>
      <p:ext uri="{BB962C8B-B14F-4D97-AF65-F5344CB8AC3E}">
        <p14:creationId xmlns:p14="http://schemas.microsoft.com/office/powerpoint/2010/main" val="14797270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ustomShape 2">
            <a:extLst>
              <a:ext uri="{FF2B5EF4-FFF2-40B4-BE49-F238E27FC236}">
                <a16:creationId xmlns:a16="http://schemas.microsoft.com/office/drawing/2014/main" id="{3C8C4346-CD7B-4231-85EB-7B150AC67FEE}"/>
              </a:ext>
            </a:extLst>
          </p:cNvPr>
          <p:cNvSpPr/>
          <p:nvPr/>
        </p:nvSpPr>
        <p:spPr>
          <a:xfrm>
            <a:off x="250920" y="165146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342900" indent="-342900">
              <a:lnSpc>
                <a:spcPct val="90000"/>
              </a:lnSpc>
              <a:buFont typeface="Arial" panose="020B0604020202020204" pitchFamily="34" charset="0"/>
              <a:buChar char="•"/>
            </a:pPr>
            <a:r>
              <a:rPr lang="en-US" sz="2400" b="1" spc="-1" dirty="0">
                <a:solidFill>
                  <a:schemeClr val="accent1"/>
                </a:solidFill>
                <a:latin typeface="Abadi Extra Light" panose="020B0604020202020204" pitchFamily="34" charset="0"/>
                <a:ea typeface="Tahoma"/>
                <a:cs typeface="Calibri Light" panose="020F0302020204030204" pitchFamily="34" charset="0"/>
              </a:rPr>
              <a:t>Adjusted consequence</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15" name="CustomShape 2">
            <a:extLst>
              <a:ext uri="{FF2B5EF4-FFF2-40B4-BE49-F238E27FC236}">
                <a16:creationId xmlns:a16="http://schemas.microsoft.com/office/drawing/2014/main" id="{5F2F4259-9275-483E-86DE-C438F4E64FE2}"/>
              </a:ext>
            </a:extLst>
          </p:cNvPr>
          <p:cNvSpPr/>
          <p:nvPr/>
        </p:nvSpPr>
        <p:spPr>
          <a:xfrm>
            <a:off x="250920" y="2034086"/>
            <a:ext cx="8334280" cy="377743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Optional argument to filter records by specific adjusted consequence labels. Available options for this parameter include: PTV, Missense3, Missense, etc. Example:  </a:t>
            </a:r>
          </a:p>
          <a:p>
            <a:pPr algn="just">
              <a:lnSpc>
                <a:spcPct val="90000"/>
              </a:lnSpc>
            </a:pPr>
            <a:endParaRPr lang="en-US" sz="11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python3 main.py  ~/PBPM/data/raw/mutations-file.txt </a:t>
            </a: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~/PBPM/data/raw/pathways/ </a:t>
            </a: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a:t>
            </a:r>
            <a:r>
              <a:rPr lang="en-US" sz="1400" b="1" spc="-1" dirty="0" err="1">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adj_csq</a:t>
            </a: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PTV</a:t>
            </a: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To filter by more than one adjusted consequence, you must separate their labels with comma: </a:t>
            </a:r>
          </a:p>
          <a:p>
            <a:pPr algn="just">
              <a:lnSpc>
                <a:spcPct val="90000"/>
              </a:lnSpc>
            </a:pPr>
            <a:endParaRPr lang="en-US" sz="11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a:t>
            </a:r>
            <a:r>
              <a:rPr lang="en-US" sz="1400" b="1" spc="-1" dirty="0" err="1">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adj_csq</a:t>
            </a: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Missense3,Missense</a:t>
            </a: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p:txBody>
      </p:sp>
    </p:spTree>
    <p:extLst>
      <p:ext uri="{BB962C8B-B14F-4D97-AF65-F5344CB8AC3E}">
        <p14:creationId xmlns:p14="http://schemas.microsoft.com/office/powerpoint/2010/main" val="10766729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stomShape 2">
            <a:extLst>
              <a:ext uri="{FF2B5EF4-FFF2-40B4-BE49-F238E27FC236}">
                <a16:creationId xmlns:a16="http://schemas.microsoft.com/office/drawing/2014/main" id="{49E7E72C-58EB-4A00-8526-CA85934BCBB9}"/>
              </a:ext>
            </a:extLst>
          </p:cNvPr>
          <p:cNvSpPr/>
          <p:nvPr/>
        </p:nvSpPr>
        <p:spPr>
          <a:xfrm>
            <a:off x="250920" y="157644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PBPM: other useful parameters</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4" name="CustomShape 2">
            <a:extLst>
              <a:ext uri="{FF2B5EF4-FFF2-40B4-BE49-F238E27FC236}">
                <a16:creationId xmlns:a16="http://schemas.microsoft.com/office/drawing/2014/main" id="{C96E61F9-A9F3-4AED-8993-6D2E3B462E15}"/>
              </a:ext>
            </a:extLst>
          </p:cNvPr>
          <p:cNvSpPr/>
          <p:nvPr/>
        </p:nvSpPr>
        <p:spPr>
          <a:xfrm>
            <a:off x="250920" y="2544081"/>
            <a:ext cx="8476520" cy="372463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Besides filtering, this protocol allows to extract an intermediate matrix used to compute the final PBPMs. This matrix serves as raw data for individual exploratory analysis, and can be also appended to an existing dataset of the same nature.</a:t>
            </a: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By default, this </a:t>
            </a:r>
            <a:r>
              <a:rPr lang="en-US" sz="2000" spc="-1" dirty="0" err="1">
                <a:solidFill>
                  <a:schemeClr val="tx2"/>
                </a:solidFill>
                <a:latin typeface="Abadi Extra Light" panose="020B0604020202020204" pitchFamily="34" charset="0"/>
                <a:ea typeface="Tahoma"/>
                <a:cs typeface="Calibri Light" panose="020F0302020204030204" pitchFamily="34" charset="0"/>
              </a:rPr>
              <a:t>boolean</a:t>
            </a:r>
            <a:r>
              <a:rPr lang="en-US" sz="2000" spc="-1" dirty="0">
                <a:solidFill>
                  <a:schemeClr val="tx2"/>
                </a:solidFill>
                <a:latin typeface="Abadi Extra Light" panose="020B0604020202020204" pitchFamily="34" charset="0"/>
                <a:ea typeface="Tahoma"/>
                <a:cs typeface="Calibri Light" panose="020F0302020204030204" pitchFamily="34" charset="0"/>
              </a:rPr>
              <a:t> parameter is set to </a:t>
            </a:r>
            <a:r>
              <a:rPr lang="en-US" sz="2000" b="1" spc="-1" dirty="0">
                <a:solidFill>
                  <a:schemeClr val="tx2"/>
                </a:solidFill>
                <a:latin typeface="Abadi Extra Light" panose="020B0604020202020204" pitchFamily="34" charset="0"/>
                <a:ea typeface="Tahoma"/>
                <a:cs typeface="Calibri Light" panose="020F0302020204030204" pitchFamily="34" charset="0"/>
              </a:rPr>
              <a:t>False</a:t>
            </a:r>
            <a:r>
              <a:rPr lang="en-US" sz="2000" spc="-1" dirty="0">
                <a:solidFill>
                  <a:schemeClr val="tx2"/>
                </a:solidFill>
                <a:latin typeface="Abadi Extra Light" panose="020B0604020202020204" pitchFamily="34" charset="0"/>
                <a:ea typeface="Tahoma"/>
                <a:cs typeface="Calibri Light" panose="020F0302020204030204" pitchFamily="34" charset="0"/>
              </a:rPr>
              <a:t>, case in which only a final PBPM will be downloaded and a copy of the intermediate matrix will not be saved. To download this dataset, as well as the final PBPM, a </a:t>
            </a:r>
            <a:r>
              <a:rPr lang="en-US" sz="2000" b="1" spc="-1" dirty="0">
                <a:solidFill>
                  <a:schemeClr val="tx2"/>
                </a:solidFill>
                <a:latin typeface="Abadi Extra Light" panose="020B0604020202020204" pitchFamily="34" charset="0"/>
                <a:ea typeface="Tahoma"/>
                <a:cs typeface="Calibri Light" panose="020F0302020204030204" pitchFamily="34" charset="0"/>
              </a:rPr>
              <a:t>True</a:t>
            </a:r>
            <a:r>
              <a:rPr lang="en-US" sz="2000" spc="-1" dirty="0">
                <a:solidFill>
                  <a:schemeClr val="tx2"/>
                </a:solidFill>
                <a:latin typeface="Abadi Extra Light" panose="020B0604020202020204" pitchFamily="34" charset="0"/>
                <a:ea typeface="Tahoma"/>
                <a:cs typeface="Calibri Light" panose="020F0302020204030204" pitchFamily="34" charset="0"/>
              </a:rPr>
              <a:t> must be explicit by typing the parameter </a:t>
            </a:r>
            <a:r>
              <a:rPr lang="en-US" sz="2000" b="1" spc="-1" dirty="0">
                <a:solidFill>
                  <a:schemeClr val="tx2"/>
                </a:solidFill>
                <a:latin typeface="Abadi Extra Light" panose="020B0604020202020204" pitchFamily="34" charset="0"/>
                <a:ea typeface="Tahoma"/>
                <a:cs typeface="Calibri Light" panose="020F0302020204030204" pitchFamily="34" charset="0"/>
              </a:rPr>
              <a:t>–</a:t>
            </a:r>
            <a:r>
              <a:rPr lang="en-US" sz="2000" b="1" spc="-1" dirty="0" err="1">
                <a:solidFill>
                  <a:schemeClr val="tx2"/>
                </a:solidFill>
                <a:latin typeface="Abadi Extra Light" panose="020B0604020202020204" pitchFamily="34" charset="0"/>
                <a:ea typeface="Tahoma"/>
                <a:cs typeface="Calibri Light" panose="020F0302020204030204" pitchFamily="34" charset="0"/>
              </a:rPr>
              <a:t>im</a:t>
            </a:r>
            <a:r>
              <a:rPr lang="en-US" sz="2000" spc="-1" dirty="0">
                <a:solidFill>
                  <a:schemeClr val="tx2"/>
                </a:solidFill>
                <a:latin typeface="Abadi Extra Light" panose="020B0604020202020204" pitchFamily="34" charset="0"/>
                <a:ea typeface="Tahoma"/>
                <a:cs typeface="Calibri Light" panose="020F0302020204030204" pitchFamily="34" charset="0"/>
              </a:rPr>
              <a:t> or</a:t>
            </a:r>
            <a:r>
              <a:rPr lang="en-US" sz="2000" b="1" spc="-1" dirty="0">
                <a:solidFill>
                  <a:schemeClr val="tx2"/>
                </a:solidFill>
                <a:latin typeface="Abadi Extra Light" panose="020B0604020202020204" pitchFamily="34" charset="0"/>
                <a:ea typeface="Tahoma"/>
                <a:cs typeface="Calibri Light" panose="020F0302020204030204" pitchFamily="34" charset="0"/>
              </a:rPr>
              <a:t> –</a:t>
            </a:r>
            <a:r>
              <a:rPr lang="en-US" sz="2000" b="1" spc="-1" dirty="0" err="1">
                <a:solidFill>
                  <a:schemeClr val="tx2"/>
                </a:solidFill>
                <a:latin typeface="Abadi Extra Light" panose="020B0604020202020204" pitchFamily="34" charset="0"/>
                <a:ea typeface="Tahoma"/>
                <a:cs typeface="Calibri Light" panose="020F0302020204030204" pitchFamily="34" charset="0"/>
              </a:rPr>
              <a:t>intermediate_matrix</a:t>
            </a:r>
            <a:r>
              <a:rPr lang="en-US" sz="2000" b="1" spc="-1" dirty="0">
                <a:solidFill>
                  <a:schemeClr val="tx2"/>
                </a:solidFill>
                <a:latin typeface="Abadi Extra Light" panose="020B0604020202020204" pitchFamily="34" charset="0"/>
                <a:ea typeface="Tahoma"/>
                <a:cs typeface="Calibri Light" panose="020F0302020204030204" pitchFamily="34" charset="0"/>
              </a:rPr>
              <a:t>.</a:t>
            </a:r>
          </a:p>
          <a:p>
            <a:pPr algn="just">
              <a:lnSpc>
                <a:spcPct val="90000"/>
              </a:lnSpc>
            </a:pPr>
            <a:endParaRPr lang="en-US" sz="1600" b="1"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python3 main.py  ~/PBPM/data/raw/mutations-file.txt </a:t>
            </a: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~/PBPM/data/raw/pathways/ </a:t>
            </a:r>
          </a:p>
          <a:p>
            <a:pPr algn="just">
              <a:lnSpc>
                <a:spcPct val="90000"/>
              </a:lnSpc>
            </a:pPr>
            <a:r>
              <a:rPr lang="en-US" sz="1400" b="1" spc="-1" dirty="0">
                <a:solidFill>
                  <a:schemeClr val="accent1"/>
                </a:solidFill>
                <a:latin typeface="Source Sans Pro Light" panose="020B0403030403020204" pitchFamily="34" charset="0"/>
                <a:ea typeface="Source Sans Pro Light" panose="020B0403030403020204" pitchFamily="34" charset="0"/>
                <a:cs typeface="Calibri Light" panose="020F0302020204030204" pitchFamily="34" charset="0"/>
              </a:rPr>
              <a:t>                                       -</a:t>
            </a:r>
            <a:r>
              <a:rPr lang="en-US" sz="1400" b="1" spc="-1" dirty="0" err="1">
                <a:solidFill>
                  <a:schemeClr val="accent1"/>
                </a:solidFill>
                <a:latin typeface="Source Sans Pro Light" panose="020B0403030403020204" pitchFamily="34" charset="0"/>
                <a:ea typeface="Source Sans Pro Light" panose="020B0403030403020204" pitchFamily="34" charset="0"/>
                <a:cs typeface="Calibri Light" panose="020F0302020204030204" pitchFamily="34" charset="0"/>
              </a:rPr>
              <a:t>im</a:t>
            </a:r>
            <a:endParaRPr lang="en-US" sz="1400" b="1" spc="-1" dirty="0">
              <a:solidFill>
                <a:schemeClr val="accent1"/>
              </a:solidFill>
              <a:latin typeface="Source Sans Pro Light" panose="020B0403030403020204" pitchFamily="34" charset="0"/>
              <a:ea typeface="Source Sans Pro Light" panose="020B0403030403020204" pitchFamily="34" charset="0"/>
              <a:cs typeface="Calibri Light" panose="020F0302020204030204" pitchFamily="34" charset="0"/>
            </a:endParaRPr>
          </a:p>
          <a:p>
            <a:pPr algn="just">
              <a:lnSpc>
                <a:spcPct val="90000"/>
              </a:lnSpc>
            </a:pPr>
            <a:endParaRPr lang="en-US" sz="11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endParaRP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python3 main.py  ~/PBPM/data/raw/mutations-file.txt </a:t>
            </a: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~/PBPM/data/raw/pathways/ </a:t>
            </a: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a:t>
            </a:r>
            <a:r>
              <a:rPr lang="en-US" sz="1400" b="1" spc="-1" dirty="0">
                <a:solidFill>
                  <a:schemeClr val="accent1"/>
                </a:solidFill>
                <a:latin typeface="Source Sans Pro Light" panose="020B0403030403020204" pitchFamily="34" charset="0"/>
                <a:ea typeface="Source Sans Pro Light" panose="020B0403030403020204" pitchFamily="34" charset="0"/>
                <a:cs typeface="Calibri Light" panose="020F0302020204030204" pitchFamily="34" charset="0"/>
              </a:rPr>
              <a:t>- -</a:t>
            </a:r>
            <a:r>
              <a:rPr lang="en-US" sz="1400" b="1" spc="-1" dirty="0" err="1">
                <a:solidFill>
                  <a:schemeClr val="accent1"/>
                </a:solidFill>
                <a:latin typeface="Source Sans Pro Light" panose="020B0403030403020204" pitchFamily="34" charset="0"/>
                <a:ea typeface="Source Sans Pro Light" panose="020B0403030403020204" pitchFamily="34" charset="0"/>
                <a:cs typeface="Calibri Light" panose="020F0302020204030204" pitchFamily="34" charset="0"/>
              </a:rPr>
              <a:t>intermediate_matrix</a:t>
            </a:r>
            <a:endParaRPr lang="en-US" sz="1400" b="1" spc="-1" dirty="0">
              <a:solidFill>
                <a:schemeClr val="accent1"/>
              </a:solidFill>
              <a:latin typeface="Source Sans Pro Light" panose="020B0403030403020204" pitchFamily="34" charset="0"/>
              <a:ea typeface="Source Sans Pro Light" panose="020B0403030403020204" pitchFamily="34" charset="0"/>
              <a:cs typeface="Calibri Light" panose="020F0302020204030204" pitchFamily="34" charset="0"/>
            </a:endParaRPr>
          </a:p>
        </p:txBody>
      </p:sp>
      <p:sp>
        <p:nvSpPr>
          <p:cNvPr id="11" name="CustomShape 2">
            <a:extLst>
              <a:ext uri="{FF2B5EF4-FFF2-40B4-BE49-F238E27FC236}">
                <a16:creationId xmlns:a16="http://schemas.microsoft.com/office/drawing/2014/main" id="{A09836E9-1CA5-4502-BBFF-D90D9B024A2E}"/>
              </a:ext>
            </a:extLst>
          </p:cNvPr>
          <p:cNvSpPr/>
          <p:nvPr/>
        </p:nvSpPr>
        <p:spPr>
          <a:xfrm>
            <a:off x="250920" y="2096512"/>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342900" indent="-342900">
              <a:lnSpc>
                <a:spcPct val="90000"/>
              </a:lnSpc>
              <a:buFont typeface="Arial" panose="020B0604020202020204" pitchFamily="34" charset="0"/>
              <a:buChar char="•"/>
            </a:pP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Download intermediate matrix</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Tree>
    <p:extLst>
      <p:ext uri="{BB962C8B-B14F-4D97-AF65-F5344CB8AC3E}">
        <p14:creationId xmlns:p14="http://schemas.microsoft.com/office/powerpoint/2010/main" val="5492829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stomShape 2">
            <a:extLst>
              <a:ext uri="{FF2B5EF4-FFF2-40B4-BE49-F238E27FC236}">
                <a16:creationId xmlns:a16="http://schemas.microsoft.com/office/drawing/2014/main" id="{49E7E72C-58EB-4A00-8526-CA85934BCBB9}"/>
              </a:ext>
            </a:extLst>
          </p:cNvPr>
          <p:cNvSpPr/>
          <p:nvPr/>
        </p:nvSpPr>
        <p:spPr>
          <a:xfrm>
            <a:off x="250920" y="157644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PBPM: other useful parameters</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4" name="CustomShape 2">
            <a:extLst>
              <a:ext uri="{FF2B5EF4-FFF2-40B4-BE49-F238E27FC236}">
                <a16:creationId xmlns:a16="http://schemas.microsoft.com/office/drawing/2014/main" id="{C96E61F9-A9F3-4AED-8993-6D2E3B462E15}"/>
              </a:ext>
            </a:extLst>
          </p:cNvPr>
          <p:cNvSpPr/>
          <p:nvPr/>
        </p:nvSpPr>
        <p:spPr>
          <a:xfrm>
            <a:off x="250920" y="2544082"/>
            <a:ext cx="8476520" cy="493674"/>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The base matrix looks like:</a:t>
            </a:r>
          </a:p>
        </p:txBody>
      </p:sp>
      <p:sp>
        <p:nvSpPr>
          <p:cNvPr id="11" name="CustomShape 2">
            <a:extLst>
              <a:ext uri="{FF2B5EF4-FFF2-40B4-BE49-F238E27FC236}">
                <a16:creationId xmlns:a16="http://schemas.microsoft.com/office/drawing/2014/main" id="{A09836E9-1CA5-4502-BBFF-D90D9B024A2E}"/>
              </a:ext>
            </a:extLst>
          </p:cNvPr>
          <p:cNvSpPr/>
          <p:nvPr/>
        </p:nvSpPr>
        <p:spPr>
          <a:xfrm>
            <a:off x="250920" y="2096512"/>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342900" indent="-342900">
              <a:lnSpc>
                <a:spcPct val="90000"/>
              </a:lnSpc>
              <a:buFont typeface="Arial" panose="020B0604020202020204" pitchFamily="34" charset="0"/>
              <a:buChar char="•"/>
            </a:pP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Download intermediate matrix</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pic>
        <p:nvPicPr>
          <p:cNvPr id="5" name="Picture 4">
            <a:extLst>
              <a:ext uri="{FF2B5EF4-FFF2-40B4-BE49-F238E27FC236}">
                <a16:creationId xmlns:a16="http://schemas.microsoft.com/office/drawing/2014/main" id="{922F8043-3368-41CA-9E42-72857A31E2EE}"/>
              </a:ext>
            </a:extLst>
          </p:cNvPr>
          <p:cNvPicPr>
            <a:picLocks noChangeAspect="1"/>
          </p:cNvPicPr>
          <p:nvPr/>
        </p:nvPicPr>
        <p:blipFill>
          <a:blip r:embed="rId2"/>
          <a:stretch>
            <a:fillRect/>
          </a:stretch>
        </p:blipFill>
        <p:spPr>
          <a:xfrm>
            <a:off x="345440" y="3185343"/>
            <a:ext cx="8492025" cy="2096218"/>
          </a:xfrm>
          <a:prstGeom prst="rect">
            <a:avLst/>
          </a:prstGeom>
        </p:spPr>
      </p:pic>
      <p:sp>
        <p:nvSpPr>
          <p:cNvPr id="9" name="Rectangle 8">
            <a:extLst>
              <a:ext uri="{FF2B5EF4-FFF2-40B4-BE49-F238E27FC236}">
                <a16:creationId xmlns:a16="http://schemas.microsoft.com/office/drawing/2014/main" id="{BAC76100-0BC8-401E-93A3-E0160D01079B}"/>
              </a:ext>
            </a:extLst>
          </p:cNvPr>
          <p:cNvSpPr/>
          <p:nvPr/>
        </p:nvSpPr>
        <p:spPr>
          <a:xfrm>
            <a:off x="345440" y="3151683"/>
            <a:ext cx="8492025" cy="216357"/>
          </a:xfrm>
          <a:prstGeom prst="rect">
            <a:avLst/>
          </a:prstGeom>
          <a:solidFill>
            <a:schemeClr val="accent2">
              <a:lumMod val="40000"/>
              <a:lumOff val="60000"/>
              <a:alpha val="4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row: Bent-Up 11">
            <a:extLst>
              <a:ext uri="{FF2B5EF4-FFF2-40B4-BE49-F238E27FC236}">
                <a16:creationId xmlns:a16="http://schemas.microsoft.com/office/drawing/2014/main" id="{EBE89D8D-27FA-4E78-93AC-100502105177}"/>
              </a:ext>
            </a:extLst>
          </p:cNvPr>
          <p:cNvSpPr/>
          <p:nvPr/>
        </p:nvSpPr>
        <p:spPr>
          <a:xfrm rot="5400000">
            <a:off x="613222" y="5485451"/>
            <a:ext cx="309882" cy="314512"/>
          </a:xfrm>
          <a:prstGeom prst="bentUpArrow">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ustomShape 2">
            <a:extLst>
              <a:ext uri="{FF2B5EF4-FFF2-40B4-BE49-F238E27FC236}">
                <a16:creationId xmlns:a16="http://schemas.microsoft.com/office/drawing/2014/main" id="{7FCD225F-74C1-471E-9D7F-1D0FA9E110A5}"/>
              </a:ext>
            </a:extLst>
          </p:cNvPr>
          <p:cNvSpPr/>
          <p:nvPr/>
        </p:nvSpPr>
        <p:spPr>
          <a:xfrm>
            <a:off x="1005840" y="5355861"/>
            <a:ext cx="4622800" cy="74384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1600" b="1" spc="-1" dirty="0">
                <a:solidFill>
                  <a:schemeClr val="tx2"/>
                </a:solidFill>
                <a:latin typeface="Abadi Extra Light" panose="020B0604020202020204" pitchFamily="34" charset="0"/>
                <a:ea typeface="Tahoma"/>
                <a:cs typeface="Calibri Light" panose="020F0302020204030204" pitchFamily="34" charset="0"/>
              </a:rPr>
              <a:t>Patient-level data for more in-depth information</a:t>
            </a:r>
          </a:p>
        </p:txBody>
      </p:sp>
    </p:spTree>
    <p:extLst>
      <p:ext uri="{BB962C8B-B14F-4D97-AF65-F5344CB8AC3E}">
        <p14:creationId xmlns:p14="http://schemas.microsoft.com/office/powerpoint/2010/main" val="15575897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stomShape 2">
            <a:extLst>
              <a:ext uri="{FF2B5EF4-FFF2-40B4-BE49-F238E27FC236}">
                <a16:creationId xmlns:a16="http://schemas.microsoft.com/office/drawing/2014/main" id="{49E7E72C-58EB-4A00-8526-CA85934BCBB9}"/>
              </a:ext>
            </a:extLst>
          </p:cNvPr>
          <p:cNvSpPr/>
          <p:nvPr/>
        </p:nvSpPr>
        <p:spPr>
          <a:xfrm>
            <a:off x="250920" y="157644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PBPM: other useful parameters</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4" name="CustomShape 2">
            <a:extLst>
              <a:ext uri="{FF2B5EF4-FFF2-40B4-BE49-F238E27FC236}">
                <a16:creationId xmlns:a16="http://schemas.microsoft.com/office/drawing/2014/main" id="{C96E61F9-A9F3-4AED-8993-6D2E3B462E15}"/>
              </a:ext>
            </a:extLst>
          </p:cNvPr>
          <p:cNvSpPr/>
          <p:nvPr/>
        </p:nvSpPr>
        <p:spPr>
          <a:xfrm>
            <a:off x="250920" y="2544081"/>
            <a:ext cx="8476520" cy="333855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Optional argument to append the intermediate matrix of the current session to the file provided, which is expected to be another intermediate matrix. Appended information will be used to compute the final PBPM. Example:</a:t>
            </a: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python3 main.py  ~/PBPM/data/raw/mutations-file.txt </a:t>
            </a: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~/PBPM/data/raw/pathways// </a:t>
            </a:r>
          </a:p>
          <a:p>
            <a:pPr algn="just">
              <a:lnSpc>
                <a:spcPct val="90000"/>
              </a:lnSpc>
            </a:pPr>
            <a:r>
              <a:rPr lang="en-US" sz="1400" b="1" spc="-1" dirty="0">
                <a:solidFill>
                  <a:schemeClr val="accent1"/>
                </a:solidFill>
                <a:latin typeface="Source Sans Pro Light" panose="020B0403030403020204" pitchFamily="34" charset="0"/>
                <a:ea typeface="Source Sans Pro Light" panose="020B0403030403020204" pitchFamily="34" charset="0"/>
                <a:cs typeface="Calibri Light" panose="020F0302020204030204" pitchFamily="34" charset="0"/>
              </a:rPr>
              <a:t>                                       -a path-to-my-historic-file.txt</a:t>
            </a:r>
          </a:p>
          <a:p>
            <a:pPr algn="just">
              <a:lnSpc>
                <a:spcPct val="90000"/>
              </a:lnSpc>
            </a:pPr>
            <a:endPar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endParaRP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python3 main.py  ~/PBPM/data/raw/mutations-file.txt </a:t>
            </a: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~/PBPM/data/raw/pathways// </a:t>
            </a: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a:t>
            </a:r>
            <a:r>
              <a:rPr lang="en-US" sz="1400" b="1" spc="-1" dirty="0">
                <a:solidFill>
                  <a:schemeClr val="accent1"/>
                </a:solidFill>
                <a:latin typeface="Source Sans Pro Light" panose="020B0403030403020204" pitchFamily="34" charset="0"/>
                <a:ea typeface="Source Sans Pro Light" panose="020B0403030403020204" pitchFamily="34" charset="0"/>
                <a:cs typeface="Calibri Light" panose="020F0302020204030204" pitchFamily="34" charset="0"/>
              </a:rPr>
              <a:t>-append path-to-my-historic-file.txt</a:t>
            </a: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The appended file will be overwritten and it will contain the commands used to generate all the information of the intermediate matrix.</a:t>
            </a:r>
          </a:p>
        </p:txBody>
      </p:sp>
      <p:sp>
        <p:nvSpPr>
          <p:cNvPr id="11" name="CustomShape 2">
            <a:extLst>
              <a:ext uri="{FF2B5EF4-FFF2-40B4-BE49-F238E27FC236}">
                <a16:creationId xmlns:a16="http://schemas.microsoft.com/office/drawing/2014/main" id="{A09836E9-1CA5-4502-BBFF-D90D9B024A2E}"/>
              </a:ext>
            </a:extLst>
          </p:cNvPr>
          <p:cNvSpPr/>
          <p:nvPr/>
        </p:nvSpPr>
        <p:spPr>
          <a:xfrm>
            <a:off x="250920" y="2096512"/>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342900" indent="-342900">
              <a:lnSpc>
                <a:spcPct val="90000"/>
              </a:lnSpc>
              <a:buFont typeface="Arial" panose="020B0604020202020204" pitchFamily="34" charset="0"/>
              <a:buChar char="•"/>
            </a:pP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Append intermediate matrix</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Tree>
    <p:extLst>
      <p:ext uri="{BB962C8B-B14F-4D97-AF65-F5344CB8AC3E}">
        <p14:creationId xmlns:p14="http://schemas.microsoft.com/office/powerpoint/2010/main" val="28261065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stomShape 2">
            <a:extLst>
              <a:ext uri="{FF2B5EF4-FFF2-40B4-BE49-F238E27FC236}">
                <a16:creationId xmlns:a16="http://schemas.microsoft.com/office/drawing/2014/main" id="{49E7E72C-58EB-4A00-8526-CA85934BCBB9}"/>
              </a:ext>
            </a:extLst>
          </p:cNvPr>
          <p:cNvSpPr/>
          <p:nvPr/>
        </p:nvSpPr>
        <p:spPr>
          <a:xfrm>
            <a:off x="250920" y="157644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PBPM: other useful parameters</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4" name="CustomShape 2">
            <a:extLst>
              <a:ext uri="{FF2B5EF4-FFF2-40B4-BE49-F238E27FC236}">
                <a16:creationId xmlns:a16="http://schemas.microsoft.com/office/drawing/2014/main" id="{C96E61F9-A9F3-4AED-8993-6D2E3B462E15}"/>
              </a:ext>
            </a:extLst>
          </p:cNvPr>
          <p:cNvSpPr/>
          <p:nvPr/>
        </p:nvSpPr>
        <p:spPr>
          <a:xfrm>
            <a:off x="250920" y="2544082"/>
            <a:ext cx="8476520" cy="493674"/>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An appended intermediate matrix looks like:</a:t>
            </a:r>
          </a:p>
        </p:txBody>
      </p:sp>
      <p:sp>
        <p:nvSpPr>
          <p:cNvPr id="11" name="CustomShape 2">
            <a:extLst>
              <a:ext uri="{FF2B5EF4-FFF2-40B4-BE49-F238E27FC236}">
                <a16:creationId xmlns:a16="http://schemas.microsoft.com/office/drawing/2014/main" id="{A09836E9-1CA5-4502-BBFF-D90D9B024A2E}"/>
              </a:ext>
            </a:extLst>
          </p:cNvPr>
          <p:cNvSpPr/>
          <p:nvPr/>
        </p:nvSpPr>
        <p:spPr>
          <a:xfrm>
            <a:off x="250920" y="2096512"/>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342900" indent="-342900">
              <a:lnSpc>
                <a:spcPct val="90000"/>
              </a:lnSpc>
              <a:buFont typeface="Arial" panose="020B0604020202020204" pitchFamily="34" charset="0"/>
              <a:buChar char="•"/>
            </a:pP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Append intermediate matrix</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pic>
        <p:nvPicPr>
          <p:cNvPr id="2" name="Picture 1">
            <a:extLst>
              <a:ext uri="{FF2B5EF4-FFF2-40B4-BE49-F238E27FC236}">
                <a16:creationId xmlns:a16="http://schemas.microsoft.com/office/drawing/2014/main" id="{B8979319-AF49-48C9-8626-68F3C7A7C262}"/>
              </a:ext>
            </a:extLst>
          </p:cNvPr>
          <p:cNvPicPr>
            <a:picLocks noChangeAspect="1"/>
          </p:cNvPicPr>
          <p:nvPr/>
        </p:nvPicPr>
        <p:blipFill>
          <a:blip r:embed="rId2"/>
          <a:stretch>
            <a:fillRect/>
          </a:stretch>
        </p:blipFill>
        <p:spPr>
          <a:xfrm>
            <a:off x="301720" y="3099800"/>
            <a:ext cx="8408480" cy="2102120"/>
          </a:xfrm>
          <a:prstGeom prst="rect">
            <a:avLst/>
          </a:prstGeom>
        </p:spPr>
      </p:pic>
      <p:sp>
        <p:nvSpPr>
          <p:cNvPr id="6" name="Rectangle 5">
            <a:extLst>
              <a:ext uri="{FF2B5EF4-FFF2-40B4-BE49-F238E27FC236}">
                <a16:creationId xmlns:a16="http://schemas.microsoft.com/office/drawing/2014/main" id="{D90C14BE-45CC-4198-9EEE-9633B4254E66}"/>
              </a:ext>
            </a:extLst>
          </p:cNvPr>
          <p:cNvSpPr/>
          <p:nvPr/>
        </p:nvSpPr>
        <p:spPr>
          <a:xfrm>
            <a:off x="325120" y="3089641"/>
            <a:ext cx="8492025" cy="499452"/>
          </a:xfrm>
          <a:prstGeom prst="rect">
            <a:avLst/>
          </a:prstGeom>
          <a:solidFill>
            <a:schemeClr val="accent2">
              <a:lumMod val="40000"/>
              <a:lumOff val="60000"/>
              <a:alpha val="4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rrow: Bent-Up 6">
            <a:extLst>
              <a:ext uri="{FF2B5EF4-FFF2-40B4-BE49-F238E27FC236}">
                <a16:creationId xmlns:a16="http://schemas.microsoft.com/office/drawing/2014/main" id="{400F7DB0-BAF7-4CC4-9A4D-50550DDFC5B5}"/>
              </a:ext>
            </a:extLst>
          </p:cNvPr>
          <p:cNvSpPr/>
          <p:nvPr/>
        </p:nvSpPr>
        <p:spPr>
          <a:xfrm rot="5400000">
            <a:off x="613222" y="5353546"/>
            <a:ext cx="309882" cy="314512"/>
          </a:xfrm>
          <a:prstGeom prst="bentUpArrow">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stomShape 2">
            <a:extLst>
              <a:ext uri="{FF2B5EF4-FFF2-40B4-BE49-F238E27FC236}">
                <a16:creationId xmlns:a16="http://schemas.microsoft.com/office/drawing/2014/main" id="{4A4A1531-6F64-46AF-89AF-12E166995A22}"/>
              </a:ext>
            </a:extLst>
          </p:cNvPr>
          <p:cNvSpPr/>
          <p:nvPr/>
        </p:nvSpPr>
        <p:spPr>
          <a:xfrm>
            <a:off x="955898" y="5222240"/>
            <a:ext cx="6410101" cy="74384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1600" b="1" spc="-1" dirty="0">
                <a:solidFill>
                  <a:schemeClr val="tx2"/>
                </a:solidFill>
                <a:latin typeface="Abadi Extra Light" panose="020B0604020202020204" pitchFamily="34" charset="0"/>
                <a:ea typeface="Tahoma"/>
                <a:cs typeface="Calibri Light" panose="020F0302020204030204" pitchFamily="34" charset="0"/>
              </a:rPr>
              <a:t>This is an appended-like intermediate matrix coming from three different runs </a:t>
            </a:r>
          </a:p>
        </p:txBody>
      </p:sp>
    </p:spTree>
    <p:extLst>
      <p:ext uri="{BB962C8B-B14F-4D97-AF65-F5344CB8AC3E}">
        <p14:creationId xmlns:p14="http://schemas.microsoft.com/office/powerpoint/2010/main" val="27185014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stomShape 2">
            <a:extLst>
              <a:ext uri="{FF2B5EF4-FFF2-40B4-BE49-F238E27FC236}">
                <a16:creationId xmlns:a16="http://schemas.microsoft.com/office/drawing/2014/main" id="{49E7E72C-58EB-4A00-8526-CA85934BCBB9}"/>
              </a:ext>
            </a:extLst>
          </p:cNvPr>
          <p:cNvSpPr/>
          <p:nvPr/>
        </p:nvSpPr>
        <p:spPr>
          <a:xfrm>
            <a:off x="250920" y="157644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PBPM: other useful parameters</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4" name="CustomShape 2">
            <a:extLst>
              <a:ext uri="{FF2B5EF4-FFF2-40B4-BE49-F238E27FC236}">
                <a16:creationId xmlns:a16="http://schemas.microsoft.com/office/drawing/2014/main" id="{C96E61F9-A9F3-4AED-8993-6D2E3B462E15}"/>
              </a:ext>
            </a:extLst>
          </p:cNvPr>
          <p:cNvSpPr/>
          <p:nvPr/>
        </p:nvSpPr>
        <p:spPr>
          <a:xfrm>
            <a:off x="250920" y="2544082"/>
            <a:ext cx="8476520" cy="2251438"/>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Optional argument to specify the path where the user wants to store the final PBPM generated. Example:</a:t>
            </a: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python3 main.py ~/PBPM/data/raw/mutations-file.txt </a:t>
            </a: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~/PBPM/data/raw/pathways// </a:t>
            </a: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a:t>
            </a:r>
            <a:r>
              <a:rPr lang="en-US" sz="10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a:t>
            </a: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-path location-where-I-want-to-save-PBPM</a:t>
            </a:r>
          </a:p>
          <a:p>
            <a:pPr algn="just">
              <a:lnSpc>
                <a:spcPct val="90000"/>
              </a:lnSpc>
            </a:pPr>
            <a:endPar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endParaRPr>
          </a:p>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When not specified, the final PBPMs will be stored in the </a:t>
            </a:r>
            <a:r>
              <a:rPr lang="en-US" sz="2000" b="1" spc="-1" dirty="0">
                <a:solidFill>
                  <a:schemeClr val="tx2"/>
                </a:solidFill>
                <a:latin typeface="Abadi Extra Light" panose="020B0604020202020204" pitchFamily="34" charset="0"/>
                <a:ea typeface="Tahoma"/>
                <a:cs typeface="Calibri Light" panose="020F0302020204030204" pitchFamily="34" charset="0"/>
              </a:rPr>
              <a:t>analysis</a:t>
            </a:r>
            <a:r>
              <a:rPr lang="en-US" sz="2000" spc="-1" dirty="0">
                <a:solidFill>
                  <a:schemeClr val="tx2"/>
                </a:solidFill>
                <a:latin typeface="Abadi Extra Light" panose="020B0604020202020204" pitchFamily="34" charset="0"/>
                <a:ea typeface="Tahoma"/>
                <a:cs typeface="Calibri Light" panose="020F0302020204030204" pitchFamily="34" charset="0"/>
              </a:rPr>
              <a:t> folder of the project.</a:t>
            </a:r>
          </a:p>
        </p:txBody>
      </p:sp>
      <p:sp>
        <p:nvSpPr>
          <p:cNvPr id="11" name="CustomShape 2">
            <a:extLst>
              <a:ext uri="{FF2B5EF4-FFF2-40B4-BE49-F238E27FC236}">
                <a16:creationId xmlns:a16="http://schemas.microsoft.com/office/drawing/2014/main" id="{A09836E9-1CA5-4502-BBFF-D90D9B024A2E}"/>
              </a:ext>
            </a:extLst>
          </p:cNvPr>
          <p:cNvSpPr/>
          <p:nvPr/>
        </p:nvSpPr>
        <p:spPr>
          <a:xfrm>
            <a:off x="250920" y="2096512"/>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342900" indent="-342900">
              <a:lnSpc>
                <a:spcPct val="90000"/>
              </a:lnSpc>
              <a:buFont typeface="Arial" panose="020B0604020202020204" pitchFamily="34" charset="0"/>
              <a:buChar char="•"/>
            </a:pPr>
            <a:r>
              <a:rPr lang="en-US" sz="2400" b="1" spc="-1" dirty="0">
                <a:solidFill>
                  <a:schemeClr val="accent1"/>
                </a:solidFill>
                <a:latin typeface="Abadi Extra Light" panose="020B0604020202020204" pitchFamily="34" charset="0"/>
                <a:ea typeface="Tahoma"/>
                <a:cs typeface="Calibri Light" panose="020F0302020204030204" pitchFamily="34" charset="0"/>
              </a:rPr>
              <a:t>Path to store final PBPM</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Tree>
    <p:extLst>
      <p:ext uri="{BB962C8B-B14F-4D97-AF65-F5344CB8AC3E}">
        <p14:creationId xmlns:p14="http://schemas.microsoft.com/office/powerpoint/2010/main" val="28865555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stomShape 2">
            <a:extLst>
              <a:ext uri="{FF2B5EF4-FFF2-40B4-BE49-F238E27FC236}">
                <a16:creationId xmlns:a16="http://schemas.microsoft.com/office/drawing/2014/main" id="{49E7E72C-58EB-4A00-8526-CA85934BCBB9}"/>
              </a:ext>
            </a:extLst>
          </p:cNvPr>
          <p:cNvSpPr/>
          <p:nvPr/>
        </p:nvSpPr>
        <p:spPr>
          <a:xfrm>
            <a:off x="250920" y="157644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PBPM: choosing the </a:t>
            </a:r>
            <a:r>
              <a:rPr lang="en-US" sz="2400" b="1" spc="-1" dirty="0">
                <a:solidFill>
                  <a:schemeClr val="accent1"/>
                </a:solidFill>
                <a:latin typeface="Abadi Extra Light" panose="020B0604020202020204" pitchFamily="34" charset="0"/>
                <a:ea typeface="Tahoma"/>
                <a:cs typeface="Calibri Light" panose="020F0302020204030204" pitchFamily="34" charset="0"/>
              </a:rPr>
              <a:t>final PBPM</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4" name="CustomShape 2">
            <a:extLst>
              <a:ext uri="{FF2B5EF4-FFF2-40B4-BE49-F238E27FC236}">
                <a16:creationId xmlns:a16="http://schemas.microsoft.com/office/drawing/2014/main" id="{C96E61F9-A9F3-4AED-8993-6D2E3B462E15}"/>
              </a:ext>
            </a:extLst>
          </p:cNvPr>
          <p:cNvSpPr/>
          <p:nvPr/>
        </p:nvSpPr>
        <p:spPr>
          <a:xfrm>
            <a:off x="250920" y="2544081"/>
            <a:ext cx="8476520" cy="345031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The argument </a:t>
            </a:r>
            <a:r>
              <a:rPr lang="en-US" sz="2000" b="1" spc="-1" dirty="0">
                <a:solidFill>
                  <a:schemeClr val="tx2"/>
                </a:solidFill>
                <a:latin typeface="Abadi Extra Light" panose="020B0604020202020204" pitchFamily="34" charset="0"/>
                <a:ea typeface="Tahoma"/>
                <a:cs typeface="Calibri Light" panose="020F0302020204030204" pitchFamily="34" charset="0"/>
              </a:rPr>
              <a:t>–m </a:t>
            </a:r>
            <a:r>
              <a:rPr lang="en-US" sz="2000" spc="-1" dirty="0">
                <a:solidFill>
                  <a:schemeClr val="tx2"/>
                </a:solidFill>
                <a:latin typeface="Abadi Extra Light" panose="020B0604020202020204" pitchFamily="34" charset="0"/>
                <a:ea typeface="Tahoma"/>
                <a:cs typeface="Calibri Light" panose="020F0302020204030204" pitchFamily="34" charset="0"/>
              </a:rPr>
              <a:t>(also </a:t>
            </a:r>
            <a:r>
              <a:rPr lang="en-US" sz="2000" b="1" spc="-1" dirty="0">
                <a:solidFill>
                  <a:schemeClr val="tx2"/>
                </a:solidFill>
                <a:latin typeface="Abadi Extra Light" panose="020B0604020202020204" pitchFamily="34" charset="0"/>
                <a:ea typeface="Tahoma"/>
                <a:cs typeface="Calibri Light" panose="020F0302020204030204" pitchFamily="34" charset="0"/>
              </a:rPr>
              <a:t>-</a:t>
            </a:r>
            <a:r>
              <a:rPr lang="en-US" sz="900" b="1" spc="-1" dirty="0">
                <a:solidFill>
                  <a:schemeClr val="tx2"/>
                </a:solidFill>
                <a:latin typeface="Abadi Extra Light" panose="020B0604020202020204" pitchFamily="34" charset="0"/>
                <a:ea typeface="Tahoma"/>
                <a:cs typeface="Calibri Light" panose="020F0302020204030204" pitchFamily="34" charset="0"/>
              </a:rPr>
              <a:t> </a:t>
            </a:r>
            <a:r>
              <a:rPr lang="en-US" sz="2000" b="1" spc="-1" dirty="0">
                <a:solidFill>
                  <a:schemeClr val="tx2"/>
                </a:solidFill>
                <a:latin typeface="Abadi Extra Light" panose="020B0604020202020204" pitchFamily="34" charset="0"/>
                <a:ea typeface="Tahoma"/>
                <a:cs typeface="Calibri Light" panose="020F0302020204030204" pitchFamily="34" charset="0"/>
              </a:rPr>
              <a:t>-matrix</a:t>
            </a:r>
            <a:r>
              <a:rPr lang="en-US" sz="2000" spc="-1" dirty="0">
                <a:solidFill>
                  <a:schemeClr val="tx2"/>
                </a:solidFill>
                <a:latin typeface="Abadi Extra Light" panose="020B0604020202020204" pitchFamily="34" charset="0"/>
                <a:ea typeface="Tahoma"/>
                <a:cs typeface="Calibri Light" panose="020F0302020204030204" pitchFamily="34" charset="0"/>
              </a:rPr>
              <a:t>)</a:t>
            </a:r>
            <a:r>
              <a:rPr lang="en-US" sz="2000" b="1" spc="-1" dirty="0">
                <a:solidFill>
                  <a:schemeClr val="tx2"/>
                </a:solidFill>
                <a:latin typeface="Abadi Extra Light" panose="020B0604020202020204" pitchFamily="34" charset="0"/>
                <a:ea typeface="Tahoma"/>
                <a:cs typeface="Calibri Light" panose="020F0302020204030204" pitchFamily="34" charset="0"/>
              </a:rPr>
              <a:t> </a:t>
            </a:r>
            <a:r>
              <a:rPr lang="en-US" sz="2000" spc="-1" dirty="0">
                <a:solidFill>
                  <a:schemeClr val="tx2"/>
                </a:solidFill>
                <a:latin typeface="Abadi Extra Light" panose="020B0604020202020204" pitchFamily="34" charset="0"/>
                <a:ea typeface="Tahoma"/>
                <a:cs typeface="Calibri Light" panose="020F0302020204030204" pitchFamily="34" charset="0"/>
              </a:rPr>
              <a:t>will allow choosing the type of matrix that is desired. When not specified, by default, this parameter will extract a binary PBPM.</a:t>
            </a: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marL="342900" indent="-342900" algn="just">
              <a:lnSpc>
                <a:spcPct val="90000"/>
              </a:lnSpc>
              <a:buFont typeface="Arial" panose="020B0604020202020204" pitchFamily="34" charset="0"/>
              <a:buChar char="•"/>
            </a:pPr>
            <a:r>
              <a:rPr lang="en-US" sz="2000" spc="-1" dirty="0">
                <a:solidFill>
                  <a:schemeClr val="tx2"/>
                </a:solidFill>
                <a:latin typeface="Abadi Extra Light" panose="020B0604020202020204" pitchFamily="34" charset="0"/>
                <a:ea typeface="Tahoma"/>
                <a:cs typeface="Calibri Light" panose="020F0302020204030204" pitchFamily="34" charset="0"/>
              </a:rPr>
              <a:t>Example to explicitly generate a </a:t>
            </a:r>
            <a:r>
              <a:rPr lang="en-US" sz="2000" b="1" spc="-1" dirty="0">
                <a:solidFill>
                  <a:schemeClr val="accent2"/>
                </a:solidFill>
                <a:latin typeface="Abadi Extra Light" panose="020B0604020202020204" pitchFamily="34" charset="0"/>
                <a:ea typeface="Tahoma"/>
                <a:cs typeface="Calibri Light" panose="020F0302020204030204" pitchFamily="34" charset="0"/>
              </a:rPr>
              <a:t>binary</a:t>
            </a:r>
            <a:r>
              <a:rPr lang="en-US" sz="2000" spc="-1" dirty="0">
                <a:solidFill>
                  <a:schemeClr val="tx2"/>
                </a:solidFill>
                <a:latin typeface="Abadi Extra Light" panose="020B0604020202020204" pitchFamily="34" charset="0"/>
                <a:ea typeface="Tahoma"/>
                <a:cs typeface="Calibri Light" panose="020F0302020204030204" pitchFamily="34" charset="0"/>
              </a:rPr>
              <a:t> matrix :</a:t>
            </a:r>
          </a:p>
          <a:p>
            <a:pPr algn="just">
              <a:lnSpc>
                <a:spcPct val="90000"/>
              </a:lnSpc>
            </a:pPr>
            <a:endParaRPr lang="en-US" sz="11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 python3 main.py  ~/PBPM/data/raw/mutations-file.txt </a:t>
            </a: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~/PBPM/data/raw/pathways/ </a:t>
            </a: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a:t>
            </a:r>
            <a:r>
              <a:rPr lang="en-US" sz="1400" b="1" spc="-1" dirty="0">
                <a:solidFill>
                  <a:schemeClr val="accent2"/>
                </a:solidFill>
                <a:latin typeface="Source Sans Pro Light" panose="020B0403030403020204" pitchFamily="34" charset="0"/>
                <a:ea typeface="Source Sans Pro Light" panose="020B0403030403020204" pitchFamily="34" charset="0"/>
                <a:cs typeface="Calibri Light" panose="020F0302020204030204" pitchFamily="34" charset="0"/>
              </a:rPr>
              <a:t>-m b</a:t>
            </a:r>
          </a:p>
          <a:p>
            <a:pPr algn="just">
              <a:lnSpc>
                <a:spcPct val="90000"/>
              </a:lnSpc>
            </a:pPr>
            <a:endParaRPr lang="en-US" sz="1100" spc="-1" dirty="0">
              <a:solidFill>
                <a:schemeClr val="tx2"/>
              </a:solidFill>
              <a:latin typeface="Abadi Extra Light" panose="020B0604020202020204" pitchFamily="34" charset="0"/>
              <a:ea typeface="Tahoma"/>
              <a:cs typeface="Calibri Light" panose="020F0302020204030204" pitchFamily="34" charset="0"/>
            </a:endParaRPr>
          </a:p>
          <a:p>
            <a:pPr marL="342900" indent="-342900" algn="just">
              <a:lnSpc>
                <a:spcPct val="90000"/>
              </a:lnSpc>
              <a:buFont typeface="Arial" panose="020B0604020202020204" pitchFamily="34" charset="0"/>
              <a:buChar char="•"/>
            </a:pPr>
            <a:r>
              <a:rPr lang="en-US" sz="2000" spc="-1" dirty="0">
                <a:solidFill>
                  <a:schemeClr val="tx2"/>
                </a:solidFill>
                <a:latin typeface="Abadi Extra Light" panose="020B0604020202020204" pitchFamily="34" charset="0"/>
                <a:ea typeface="Tahoma"/>
                <a:cs typeface="Calibri Light" panose="020F0302020204030204" pitchFamily="34" charset="0"/>
              </a:rPr>
              <a:t>Example to generate a </a:t>
            </a:r>
            <a:r>
              <a:rPr lang="en-US" sz="2000" b="1" spc="-1" dirty="0">
                <a:solidFill>
                  <a:schemeClr val="tx2"/>
                </a:solidFill>
                <a:latin typeface="Abadi Extra Light" panose="020B0604020202020204" pitchFamily="34" charset="0"/>
                <a:ea typeface="Tahoma"/>
                <a:cs typeface="Calibri Light" panose="020F0302020204030204" pitchFamily="34" charset="0"/>
              </a:rPr>
              <a:t>numerical</a:t>
            </a:r>
            <a:r>
              <a:rPr lang="en-US" sz="2000" spc="-1" dirty="0">
                <a:solidFill>
                  <a:schemeClr val="tx2"/>
                </a:solidFill>
                <a:latin typeface="Abadi Extra Light" panose="020B0604020202020204" pitchFamily="34" charset="0"/>
                <a:ea typeface="Tahoma"/>
                <a:cs typeface="Calibri Light" panose="020F0302020204030204" pitchFamily="34" charset="0"/>
              </a:rPr>
              <a:t> matrix (not normalized): </a:t>
            </a:r>
          </a:p>
          <a:p>
            <a:pPr marL="342900" indent="-342900" algn="just">
              <a:lnSpc>
                <a:spcPct val="90000"/>
              </a:lnSpc>
              <a:buFont typeface="Arial" panose="020B0604020202020204" pitchFamily="34" charset="0"/>
              <a:buChar char="•"/>
            </a:pPr>
            <a:endParaRPr lang="en-US" sz="105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 python3 main.py  ~/PBPM/data/raw/mutations-file.txt </a:t>
            </a: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~/PBPM/data/raw/pathways/ </a:t>
            </a: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-m n</a:t>
            </a:r>
          </a:p>
          <a:p>
            <a:pPr marL="342900" indent="-342900" algn="just">
              <a:lnSpc>
                <a:spcPct val="90000"/>
              </a:lnSpc>
              <a:buFont typeface="Arial" panose="020B0604020202020204" pitchFamily="34" charset="0"/>
              <a:buChar char="•"/>
            </a:pPr>
            <a:endParaRPr lang="en-US" sz="1100" spc="-1" dirty="0">
              <a:solidFill>
                <a:schemeClr val="tx2"/>
              </a:solidFill>
              <a:latin typeface="Abadi Extra Light" panose="020B0604020202020204" pitchFamily="34" charset="0"/>
              <a:ea typeface="Tahoma"/>
              <a:cs typeface="Calibri Light" panose="020F0302020204030204" pitchFamily="34" charset="0"/>
            </a:endParaRPr>
          </a:p>
          <a:p>
            <a:pPr marL="342900" indent="-342900" algn="just">
              <a:lnSpc>
                <a:spcPct val="90000"/>
              </a:lnSpc>
              <a:buFont typeface="Arial" panose="020B0604020202020204" pitchFamily="34" charset="0"/>
              <a:buChar char="•"/>
            </a:pPr>
            <a:r>
              <a:rPr lang="en-US" sz="2000" spc="-1" dirty="0">
                <a:solidFill>
                  <a:schemeClr val="tx2"/>
                </a:solidFill>
                <a:latin typeface="Abadi Extra Light" panose="020B0604020202020204" pitchFamily="34" charset="0"/>
                <a:ea typeface="Tahoma"/>
                <a:cs typeface="Calibri Light" panose="020F0302020204030204" pitchFamily="34" charset="0"/>
              </a:rPr>
              <a:t>Example to generate a </a:t>
            </a:r>
            <a:r>
              <a:rPr lang="en-US" sz="2000" b="1" spc="-1" dirty="0">
                <a:solidFill>
                  <a:schemeClr val="accent3"/>
                </a:solidFill>
                <a:latin typeface="Abadi Extra Light" panose="020B0604020202020204" pitchFamily="34" charset="0"/>
                <a:ea typeface="Tahoma"/>
                <a:cs typeface="Calibri Light" panose="020F0302020204030204" pitchFamily="34" charset="0"/>
              </a:rPr>
              <a:t>normalized numerical </a:t>
            </a:r>
            <a:r>
              <a:rPr lang="en-US" sz="2000" spc="-1" dirty="0">
                <a:solidFill>
                  <a:schemeClr val="tx2"/>
                </a:solidFill>
                <a:latin typeface="Abadi Extra Light" panose="020B0604020202020204" pitchFamily="34" charset="0"/>
                <a:ea typeface="Tahoma"/>
                <a:cs typeface="Calibri Light" panose="020F0302020204030204" pitchFamily="34" charset="0"/>
              </a:rPr>
              <a:t>matrix: </a:t>
            </a:r>
          </a:p>
          <a:p>
            <a:pPr marL="342900" indent="-342900" algn="just">
              <a:lnSpc>
                <a:spcPct val="90000"/>
              </a:lnSpc>
              <a:buFont typeface="Arial" panose="020B0604020202020204" pitchFamily="34" charset="0"/>
              <a:buChar char="•"/>
            </a:pPr>
            <a:endParaRPr lang="en-US" sz="105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 python3 main.py  ~/PBPM/data/raw/mutations-file.txt </a:t>
            </a: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~/PBPM/data/raw/pathways/ </a:t>
            </a: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a:t>
            </a:r>
            <a:r>
              <a:rPr lang="en-US" sz="1400" b="1" spc="-1" dirty="0">
                <a:solidFill>
                  <a:schemeClr val="accent3"/>
                </a:solidFill>
                <a:latin typeface="Source Sans Pro Light" panose="020B0403030403020204" pitchFamily="34" charset="0"/>
                <a:ea typeface="Source Sans Pro Light" panose="020B0403030403020204" pitchFamily="34" charset="0"/>
                <a:cs typeface="Calibri Light" panose="020F0302020204030204" pitchFamily="34" charset="0"/>
              </a:rPr>
              <a:t>-m </a:t>
            </a:r>
            <a:r>
              <a:rPr lang="en-US" sz="1400" b="1" spc="-1" dirty="0" err="1">
                <a:solidFill>
                  <a:schemeClr val="accent3"/>
                </a:solidFill>
                <a:latin typeface="Source Sans Pro Light" panose="020B0403030403020204" pitchFamily="34" charset="0"/>
                <a:ea typeface="Source Sans Pro Light" panose="020B0403030403020204" pitchFamily="34" charset="0"/>
                <a:cs typeface="Calibri Light" panose="020F0302020204030204" pitchFamily="34" charset="0"/>
              </a:rPr>
              <a:t>nn</a:t>
            </a:r>
            <a:endParaRPr lang="en-US" sz="1400" b="1" spc="-1" dirty="0">
              <a:solidFill>
                <a:schemeClr val="accent3"/>
              </a:solidFill>
              <a:latin typeface="Source Sans Pro Light" panose="020B0403030403020204" pitchFamily="34" charset="0"/>
              <a:ea typeface="Source Sans Pro Light" panose="020B0403030403020204" pitchFamily="34" charset="0"/>
              <a:cs typeface="Calibri Light" panose="020F0302020204030204" pitchFamily="34" charset="0"/>
            </a:endParaRPr>
          </a:p>
          <a:p>
            <a:pPr marL="342900" indent="-342900" algn="just">
              <a:lnSpc>
                <a:spcPct val="90000"/>
              </a:lnSpc>
              <a:buFont typeface="Arial" panose="020B0604020202020204" pitchFamily="34" charset="0"/>
              <a:buChar char="•"/>
            </a:pPr>
            <a:endParaRPr lang="en-US" sz="2000" spc="-1" dirty="0">
              <a:solidFill>
                <a:schemeClr val="tx2"/>
              </a:solidFill>
              <a:latin typeface="Abadi Extra Light" panose="020B0604020202020204" pitchFamily="34" charset="0"/>
              <a:ea typeface="Tahoma"/>
              <a:cs typeface="Calibri Light" panose="020F0302020204030204" pitchFamily="34" charset="0"/>
            </a:endParaRPr>
          </a:p>
        </p:txBody>
      </p:sp>
    </p:spTree>
    <p:extLst>
      <p:ext uri="{BB962C8B-B14F-4D97-AF65-F5344CB8AC3E}">
        <p14:creationId xmlns:p14="http://schemas.microsoft.com/office/powerpoint/2010/main" val="19285055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stomShape 2">
            <a:extLst>
              <a:ext uri="{FF2B5EF4-FFF2-40B4-BE49-F238E27FC236}">
                <a16:creationId xmlns:a16="http://schemas.microsoft.com/office/drawing/2014/main" id="{49E7E72C-58EB-4A00-8526-CA85934BCBB9}"/>
              </a:ext>
            </a:extLst>
          </p:cNvPr>
          <p:cNvSpPr/>
          <p:nvPr/>
        </p:nvSpPr>
        <p:spPr>
          <a:xfrm>
            <a:off x="250920" y="157644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How do PBPMs look like?</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4" name="CustomShape 2">
            <a:extLst>
              <a:ext uri="{FF2B5EF4-FFF2-40B4-BE49-F238E27FC236}">
                <a16:creationId xmlns:a16="http://schemas.microsoft.com/office/drawing/2014/main" id="{C96E61F9-A9F3-4AED-8993-6D2E3B462E15}"/>
              </a:ext>
            </a:extLst>
          </p:cNvPr>
          <p:cNvSpPr/>
          <p:nvPr/>
        </p:nvSpPr>
        <p:spPr>
          <a:xfrm>
            <a:off x="250920" y="2024009"/>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342900" indent="-342900" algn="just">
              <a:lnSpc>
                <a:spcPct val="90000"/>
              </a:lnSpc>
              <a:buFont typeface="Arial" panose="020B0604020202020204" pitchFamily="34" charset="0"/>
              <a:buChar char="•"/>
            </a:pPr>
            <a:r>
              <a:rPr lang="en-US" sz="2000" spc="-1" dirty="0">
                <a:solidFill>
                  <a:schemeClr val="tx2"/>
                </a:solidFill>
                <a:latin typeface="Abadi Extra Light" panose="020B0604020202020204" pitchFamily="34" charset="0"/>
                <a:ea typeface="Tahoma"/>
                <a:cs typeface="Calibri Light" panose="020F0302020204030204" pitchFamily="34" charset="0"/>
              </a:rPr>
              <a:t>Overview of a binary PBPM</a:t>
            </a:r>
          </a:p>
        </p:txBody>
      </p:sp>
      <p:pic>
        <p:nvPicPr>
          <p:cNvPr id="2" name="Picture 1">
            <a:extLst>
              <a:ext uri="{FF2B5EF4-FFF2-40B4-BE49-F238E27FC236}">
                <a16:creationId xmlns:a16="http://schemas.microsoft.com/office/drawing/2014/main" id="{A57CF161-E770-4687-8DE2-2B61FC5C49CE}"/>
              </a:ext>
            </a:extLst>
          </p:cNvPr>
          <p:cNvPicPr>
            <a:picLocks noChangeAspect="1"/>
          </p:cNvPicPr>
          <p:nvPr/>
        </p:nvPicPr>
        <p:blipFill>
          <a:blip r:embed="rId2"/>
          <a:stretch>
            <a:fillRect/>
          </a:stretch>
        </p:blipFill>
        <p:spPr>
          <a:xfrm>
            <a:off x="381000" y="2615778"/>
            <a:ext cx="8382000" cy="2850653"/>
          </a:xfrm>
          <a:prstGeom prst="rect">
            <a:avLst/>
          </a:prstGeom>
        </p:spPr>
      </p:pic>
    </p:spTree>
    <p:extLst>
      <p:ext uri="{BB962C8B-B14F-4D97-AF65-F5344CB8AC3E}">
        <p14:creationId xmlns:p14="http://schemas.microsoft.com/office/powerpoint/2010/main" val="9743767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stomShape 2">
            <a:extLst>
              <a:ext uri="{FF2B5EF4-FFF2-40B4-BE49-F238E27FC236}">
                <a16:creationId xmlns:a16="http://schemas.microsoft.com/office/drawing/2014/main" id="{49E7E72C-58EB-4A00-8526-CA85934BCBB9}"/>
              </a:ext>
            </a:extLst>
          </p:cNvPr>
          <p:cNvSpPr/>
          <p:nvPr/>
        </p:nvSpPr>
        <p:spPr>
          <a:xfrm>
            <a:off x="250920" y="157644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How do PBPMs look like?</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4" name="CustomShape 2">
            <a:extLst>
              <a:ext uri="{FF2B5EF4-FFF2-40B4-BE49-F238E27FC236}">
                <a16:creationId xmlns:a16="http://schemas.microsoft.com/office/drawing/2014/main" id="{C96E61F9-A9F3-4AED-8993-6D2E3B462E15}"/>
              </a:ext>
            </a:extLst>
          </p:cNvPr>
          <p:cNvSpPr/>
          <p:nvPr/>
        </p:nvSpPr>
        <p:spPr>
          <a:xfrm>
            <a:off x="250920" y="2024009"/>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342900" indent="-342900" algn="just">
              <a:lnSpc>
                <a:spcPct val="90000"/>
              </a:lnSpc>
              <a:buFont typeface="Arial" panose="020B0604020202020204" pitchFamily="34" charset="0"/>
              <a:buChar char="•"/>
            </a:pPr>
            <a:r>
              <a:rPr lang="en-US" sz="2000" spc="-1" dirty="0">
                <a:solidFill>
                  <a:schemeClr val="tx2"/>
                </a:solidFill>
                <a:latin typeface="Abadi Extra Light" panose="020B0604020202020204" pitchFamily="34" charset="0"/>
                <a:ea typeface="Tahoma"/>
                <a:cs typeface="Calibri Light" panose="020F0302020204030204" pitchFamily="34" charset="0"/>
              </a:rPr>
              <a:t>Overview of a numerical PBPM</a:t>
            </a:r>
          </a:p>
        </p:txBody>
      </p:sp>
      <p:pic>
        <p:nvPicPr>
          <p:cNvPr id="3" name="Picture 2">
            <a:extLst>
              <a:ext uri="{FF2B5EF4-FFF2-40B4-BE49-F238E27FC236}">
                <a16:creationId xmlns:a16="http://schemas.microsoft.com/office/drawing/2014/main" id="{F4E9A8ED-E977-471E-8352-314275341A8B}"/>
              </a:ext>
            </a:extLst>
          </p:cNvPr>
          <p:cNvPicPr>
            <a:picLocks noChangeAspect="1"/>
          </p:cNvPicPr>
          <p:nvPr/>
        </p:nvPicPr>
        <p:blipFill>
          <a:blip r:embed="rId2"/>
          <a:stretch>
            <a:fillRect/>
          </a:stretch>
        </p:blipFill>
        <p:spPr>
          <a:xfrm>
            <a:off x="409940" y="2471578"/>
            <a:ext cx="8158480" cy="1593750"/>
          </a:xfrm>
          <a:prstGeom prst="rect">
            <a:avLst/>
          </a:prstGeom>
        </p:spPr>
      </p:pic>
      <p:pic>
        <p:nvPicPr>
          <p:cNvPr id="6" name="Picture 5">
            <a:extLst>
              <a:ext uri="{FF2B5EF4-FFF2-40B4-BE49-F238E27FC236}">
                <a16:creationId xmlns:a16="http://schemas.microsoft.com/office/drawing/2014/main" id="{339E0CC0-ACCE-4164-ACD8-76DF445E606B}"/>
              </a:ext>
            </a:extLst>
          </p:cNvPr>
          <p:cNvPicPr>
            <a:picLocks noChangeAspect="1"/>
          </p:cNvPicPr>
          <p:nvPr/>
        </p:nvPicPr>
        <p:blipFill>
          <a:blip r:embed="rId3"/>
          <a:stretch>
            <a:fillRect/>
          </a:stretch>
        </p:blipFill>
        <p:spPr>
          <a:xfrm>
            <a:off x="409940" y="4512897"/>
            <a:ext cx="8158480" cy="1513633"/>
          </a:xfrm>
          <a:prstGeom prst="rect">
            <a:avLst/>
          </a:prstGeom>
        </p:spPr>
      </p:pic>
      <p:sp>
        <p:nvSpPr>
          <p:cNvPr id="9" name="CustomShape 2">
            <a:extLst>
              <a:ext uri="{FF2B5EF4-FFF2-40B4-BE49-F238E27FC236}">
                <a16:creationId xmlns:a16="http://schemas.microsoft.com/office/drawing/2014/main" id="{7A6DFAAA-5F6E-4BA6-80A7-056DCCE219CC}"/>
              </a:ext>
            </a:extLst>
          </p:cNvPr>
          <p:cNvSpPr/>
          <p:nvPr/>
        </p:nvSpPr>
        <p:spPr>
          <a:xfrm>
            <a:off x="250920" y="4065328"/>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342900" indent="-342900" algn="just">
              <a:lnSpc>
                <a:spcPct val="90000"/>
              </a:lnSpc>
              <a:buFont typeface="Arial" panose="020B0604020202020204" pitchFamily="34" charset="0"/>
              <a:buChar char="•"/>
            </a:pPr>
            <a:r>
              <a:rPr lang="en-US" sz="2000" spc="-1" dirty="0">
                <a:solidFill>
                  <a:schemeClr val="tx2"/>
                </a:solidFill>
                <a:latin typeface="Abadi Extra Light" panose="020B0604020202020204" pitchFamily="34" charset="0"/>
                <a:ea typeface="Tahoma"/>
                <a:cs typeface="Calibri Light" panose="020F0302020204030204" pitchFamily="34" charset="0"/>
              </a:rPr>
              <a:t>Overview of a normalized PBPM</a:t>
            </a:r>
          </a:p>
        </p:txBody>
      </p:sp>
    </p:spTree>
    <p:extLst>
      <p:ext uri="{BB962C8B-B14F-4D97-AF65-F5344CB8AC3E}">
        <p14:creationId xmlns:p14="http://schemas.microsoft.com/office/powerpoint/2010/main" val="24908733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179A51B-BD72-4466-9EFD-46348358A61E}"/>
              </a:ext>
            </a:extLst>
          </p:cNvPr>
          <p:cNvPicPr>
            <a:picLocks noChangeAspect="1"/>
          </p:cNvPicPr>
          <p:nvPr/>
        </p:nvPicPr>
        <p:blipFill>
          <a:blip r:embed="rId2"/>
          <a:stretch>
            <a:fillRect/>
          </a:stretch>
        </p:blipFill>
        <p:spPr>
          <a:xfrm>
            <a:off x="526736" y="2509773"/>
            <a:ext cx="1461811" cy="3753299"/>
          </a:xfrm>
          <a:prstGeom prst="rect">
            <a:avLst/>
          </a:prstGeom>
        </p:spPr>
      </p:pic>
      <p:sp>
        <p:nvSpPr>
          <p:cNvPr id="8" name="CustomShape 2">
            <a:extLst>
              <a:ext uri="{FF2B5EF4-FFF2-40B4-BE49-F238E27FC236}">
                <a16:creationId xmlns:a16="http://schemas.microsoft.com/office/drawing/2014/main" id="{49E7E72C-58EB-4A00-8526-CA85934BCBB9}"/>
              </a:ext>
            </a:extLst>
          </p:cNvPr>
          <p:cNvSpPr/>
          <p:nvPr/>
        </p:nvSpPr>
        <p:spPr>
          <a:xfrm>
            <a:off x="250920" y="157644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What is the project organization?</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4" name="CustomShape 2">
            <a:extLst>
              <a:ext uri="{FF2B5EF4-FFF2-40B4-BE49-F238E27FC236}">
                <a16:creationId xmlns:a16="http://schemas.microsoft.com/office/drawing/2014/main" id="{C96E61F9-A9F3-4AED-8993-6D2E3B462E15}"/>
              </a:ext>
            </a:extLst>
          </p:cNvPr>
          <p:cNvSpPr/>
          <p:nvPr/>
        </p:nvSpPr>
        <p:spPr>
          <a:xfrm>
            <a:off x="250920" y="2024009"/>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It has the </a:t>
            </a:r>
            <a:r>
              <a:rPr lang="en-US" sz="2000" spc="-1" dirty="0" err="1">
                <a:solidFill>
                  <a:schemeClr val="tx2"/>
                </a:solidFill>
                <a:latin typeface="Abadi Extra Light" panose="020B0604020202020204" pitchFamily="34" charset="0"/>
                <a:ea typeface="Tahoma"/>
                <a:cs typeface="Calibri Light" panose="020F0302020204030204" pitchFamily="34" charset="0"/>
              </a:rPr>
              <a:t>Stalicla</a:t>
            </a:r>
            <a:r>
              <a:rPr lang="en-US" sz="2000" spc="-1" dirty="0">
                <a:solidFill>
                  <a:schemeClr val="tx2"/>
                </a:solidFill>
                <a:latin typeface="Abadi Extra Light" panose="020B0604020202020204" pitchFamily="34" charset="0"/>
                <a:ea typeface="Tahoma"/>
                <a:cs typeface="Calibri Light" panose="020F0302020204030204" pitchFamily="34" charset="0"/>
              </a:rPr>
              <a:t> </a:t>
            </a:r>
            <a:r>
              <a:rPr lang="en-US" sz="2000" spc="-1" dirty="0" err="1">
                <a:solidFill>
                  <a:schemeClr val="tx2"/>
                </a:solidFill>
                <a:latin typeface="Abadi Extra Light" panose="020B0604020202020204" pitchFamily="34" charset="0"/>
                <a:ea typeface="Tahoma"/>
                <a:cs typeface="Calibri Light" panose="020F0302020204030204" pitchFamily="34" charset="0"/>
              </a:rPr>
              <a:t>Cookiecutter</a:t>
            </a:r>
            <a:r>
              <a:rPr lang="en-US" sz="2000" spc="-1" dirty="0">
                <a:solidFill>
                  <a:schemeClr val="tx2"/>
                </a:solidFill>
                <a:latin typeface="Abadi Extra Light" panose="020B0604020202020204" pitchFamily="34" charset="0"/>
                <a:ea typeface="Tahoma"/>
                <a:cs typeface="Calibri Light" panose="020F0302020204030204" pitchFamily="34" charset="0"/>
              </a:rPr>
              <a:t> template for GitHub projects:</a:t>
            </a:r>
          </a:p>
        </p:txBody>
      </p:sp>
      <p:sp>
        <p:nvSpPr>
          <p:cNvPr id="9" name="CustomShape 2">
            <a:extLst>
              <a:ext uri="{FF2B5EF4-FFF2-40B4-BE49-F238E27FC236}">
                <a16:creationId xmlns:a16="http://schemas.microsoft.com/office/drawing/2014/main" id="{485909C8-91B2-4F8B-BB90-E426AFE47410}"/>
              </a:ext>
            </a:extLst>
          </p:cNvPr>
          <p:cNvSpPr/>
          <p:nvPr/>
        </p:nvSpPr>
        <p:spPr>
          <a:xfrm>
            <a:off x="2059667" y="2815409"/>
            <a:ext cx="610616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1600" b="1" spc="-1" dirty="0">
                <a:solidFill>
                  <a:schemeClr val="accent2">
                    <a:lumMod val="75000"/>
                  </a:schemeClr>
                </a:solidFill>
                <a:latin typeface="Abadi Extra Light" panose="020B0604020202020204" pitchFamily="34" charset="0"/>
                <a:ea typeface="Tahoma"/>
                <a:cs typeface="Calibri Light" panose="020F0302020204030204" pitchFamily="34" charset="0"/>
              </a:rPr>
              <a:t>Execution logs are stored at this level and also PBPMs when an alternative path is not specified</a:t>
            </a:r>
          </a:p>
        </p:txBody>
      </p:sp>
      <p:sp>
        <p:nvSpPr>
          <p:cNvPr id="10" name="Rectangle 9">
            <a:extLst>
              <a:ext uri="{FF2B5EF4-FFF2-40B4-BE49-F238E27FC236}">
                <a16:creationId xmlns:a16="http://schemas.microsoft.com/office/drawing/2014/main" id="{94F0236E-7146-4A86-BA37-6C82766650F0}"/>
              </a:ext>
            </a:extLst>
          </p:cNvPr>
          <p:cNvSpPr/>
          <p:nvPr/>
        </p:nvSpPr>
        <p:spPr>
          <a:xfrm>
            <a:off x="685483" y="2918914"/>
            <a:ext cx="1384344" cy="223520"/>
          </a:xfrm>
          <a:prstGeom prst="rect">
            <a:avLst/>
          </a:prstGeom>
          <a:noFill/>
          <a:ln>
            <a:solidFill>
              <a:schemeClr val="accent2"/>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1" name="CustomShape 2">
            <a:extLst>
              <a:ext uri="{FF2B5EF4-FFF2-40B4-BE49-F238E27FC236}">
                <a16:creationId xmlns:a16="http://schemas.microsoft.com/office/drawing/2014/main" id="{1EAC8FFD-320B-42EE-B88A-21772C87A711}"/>
              </a:ext>
            </a:extLst>
          </p:cNvPr>
          <p:cNvSpPr/>
          <p:nvPr/>
        </p:nvSpPr>
        <p:spPr>
          <a:xfrm>
            <a:off x="2059667" y="3814084"/>
            <a:ext cx="610616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1600" b="1" spc="-1" dirty="0">
                <a:solidFill>
                  <a:schemeClr val="accent1"/>
                </a:solidFill>
                <a:latin typeface="Abadi Extra Light" panose="020B0604020202020204" pitchFamily="34" charset="0"/>
                <a:ea typeface="Tahoma"/>
                <a:cs typeface="Calibri Light" panose="020F0302020204030204" pitchFamily="34" charset="0"/>
              </a:rPr>
              <a:t>Specific libraries for the project can be found here</a:t>
            </a:r>
          </a:p>
        </p:txBody>
      </p:sp>
      <p:sp>
        <p:nvSpPr>
          <p:cNvPr id="12" name="Rectangle 11">
            <a:extLst>
              <a:ext uri="{FF2B5EF4-FFF2-40B4-BE49-F238E27FC236}">
                <a16:creationId xmlns:a16="http://schemas.microsoft.com/office/drawing/2014/main" id="{8959252F-04AF-44A6-8924-D7E88CC5283B}"/>
              </a:ext>
            </a:extLst>
          </p:cNvPr>
          <p:cNvSpPr/>
          <p:nvPr/>
        </p:nvSpPr>
        <p:spPr>
          <a:xfrm>
            <a:off x="685483" y="3917231"/>
            <a:ext cx="1384344" cy="223520"/>
          </a:xfrm>
          <a:prstGeom prst="rect">
            <a:avLst/>
          </a:prstGeom>
          <a:noFill/>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3" name="CustomShape 2">
            <a:extLst>
              <a:ext uri="{FF2B5EF4-FFF2-40B4-BE49-F238E27FC236}">
                <a16:creationId xmlns:a16="http://schemas.microsoft.com/office/drawing/2014/main" id="{3948A2C7-DF17-455D-A5A3-C6291E236147}"/>
              </a:ext>
            </a:extLst>
          </p:cNvPr>
          <p:cNvSpPr/>
          <p:nvPr/>
        </p:nvSpPr>
        <p:spPr>
          <a:xfrm>
            <a:off x="2069827" y="5631347"/>
            <a:ext cx="610616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1600" spc="-1" dirty="0">
                <a:solidFill>
                  <a:schemeClr val="accent3"/>
                </a:solidFill>
                <a:latin typeface="Abadi Extra Light" panose="020B0604020202020204" pitchFamily="34" charset="0"/>
                <a:ea typeface="Tahoma"/>
                <a:cs typeface="Calibri Light" panose="020F0302020204030204" pitchFamily="34" charset="0"/>
              </a:rPr>
              <a:t>Source code for the project can be found here: </a:t>
            </a:r>
            <a:r>
              <a:rPr lang="en-US" sz="1600" b="1" spc="-1" dirty="0">
                <a:solidFill>
                  <a:schemeClr val="accent3"/>
                </a:solidFill>
                <a:latin typeface="Abadi Extra Light" panose="020B0604020202020204" pitchFamily="34" charset="0"/>
                <a:ea typeface="Tahoma"/>
                <a:cs typeface="Calibri Light" panose="020F0302020204030204" pitchFamily="34" charset="0"/>
              </a:rPr>
              <a:t>PBPM.py </a:t>
            </a:r>
            <a:r>
              <a:rPr lang="en-US" sz="1600" spc="-1" dirty="0">
                <a:solidFill>
                  <a:schemeClr val="accent3"/>
                </a:solidFill>
                <a:latin typeface="Abadi Extra Light" panose="020B0604020202020204" pitchFamily="34" charset="0"/>
                <a:ea typeface="Tahoma"/>
                <a:cs typeface="Calibri Light" panose="020F0302020204030204" pitchFamily="34" charset="0"/>
              </a:rPr>
              <a:t>and </a:t>
            </a:r>
            <a:r>
              <a:rPr lang="en-US" sz="1600" b="1" spc="-1" dirty="0">
                <a:solidFill>
                  <a:schemeClr val="accent3"/>
                </a:solidFill>
                <a:latin typeface="Abadi Extra Light" panose="020B0604020202020204" pitchFamily="34" charset="0"/>
                <a:ea typeface="Tahoma"/>
                <a:cs typeface="Calibri Light" panose="020F0302020204030204" pitchFamily="34" charset="0"/>
              </a:rPr>
              <a:t>main.py</a:t>
            </a:r>
          </a:p>
        </p:txBody>
      </p:sp>
      <p:sp>
        <p:nvSpPr>
          <p:cNvPr id="14" name="Rectangle 13">
            <a:extLst>
              <a:ext uri="{FF2B5EF4-FFF2-40B4-BE49-F238E27FC236}">
                <a16:creationId xmlns:a16="http://schemas.microsoft.com/office/drawing/2014/main" id="{2E631CFB-57AC-449E-A569-53ABDD525C03}"/>
              </a:ext>
            </a:extLst>
          </p:cNvPr>
          <p:cNvSpPr/>
          <p:nvPr/>
        </p:nvSpPr>
        <p:spPr>
          <a:xfrm>
            <a:off x="685483" y="5457349"/>
            <a:ext cx="1384344" cy="795567"/>
          </a:xfrm>
          <a:prstGeom prst="rect">
            <a:avLst/>
          </a:prstGeom>
          <a:noFill/>
          <a:ln>
            <a:solidFill>
              <a:schemeClr val="accent3"/>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5" name="CustomShape 2">
            <a:extLst>
              <a:ext uri="{FF2B5EF4-FFF2-40B4-BE49-F238E27FC236}">
                <a16:creationId xmlns:a16="http://schemas.microsoft.com/office/drawing/2014/main" id="{568A13B6-BC35-4E39-8DDC-60E19D6A6F1E}"/>
              </a:ext>
            </a:extLst>
          </p:cNvPr>
          <p:cNvSpPr/>
          <p:nvPr/>
        </p:nvSpPr>
        <p:spPr>
          <a:xfrm>
            <a:off x="2079987" y="2464621"/>
            <a:ext cx="610616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1600" b="1" spc="-1" dirty="0">
                <a:solidFill>
                  <a:schemeClr val="accent4"/>
                </a:solidFill>
                <a:latin typeface="Abadi Extra Light" panose="020B0604020202020204" pitchFamily="34" charset="0"/>
                <a:ea typeface="Tahoma"/>
                <a:cs typeface="Calibri Light" panose="020F0302020204030204" pitchFamily="34" charset="0"/>
              </a:rPr>
              <a:t>Available for the entire project settings</a:t>
            </a:r>
          </a:p>
        </p:txBody>
      </p:sp>
      <p:sp>
        <p:nvSpPr>
          <p:cNvPr id="16" name="Rectangle 15">
            <a:extLst>
              <a:ext uri="{FF2B5EF4-FFF2-40B4-BE49-F238E27FC236}">
                <a16:creationId xmlns:a16="http://schemas.microsoft.com/office/drawing/2014/main" id="{049E8BF5-AB3C-4A87-B3E3-CED4E4702740}"/>
              </a:ext>
            </a:extLst>
          </p:cNvPr>
          <p:cNvSpPr/>
          <p:nvPr/>
        </p:nvSpPr>
        <p:spPr>
          <a:xfrm>
            <a:off x="695643" y="2568126"/>
            <a:ext cx="1384344" cy="223520"/>
          </a:xfrm>
          <a:prstGeom prst="rect">
            <a:avLst/>
          </a:prstGeom>
          <a:noFill/>
          <a:ln>
            <a:solidFill>
              <a:schemeClr val="accent5"/>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7" name="CustomShape 2">
            <a:extLst>
              <a:ext uri="{FF2B5EF4-FFF2-40B4-BE49-F238E27FC236}">
                <a16:creationId xmlns:a16="http://schemas.microsoft.com/office/drawing/2014/main" id="{B93137E8-E9B7-4251-8222-1891090A0FE0}"/>
              </a:ext>
            </a:extLst>
          </p:cNvPr>
          <p:cNvSpPr/>
          <p:nvPr/>
        </p:nvSpPr>
        <p:spPr>
          <a:xfrm>
            <a:off x="2059667" y="4528593"/>
            <a:ext cx="610616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1600" b="1" spc="-1" dirty="0">
                <a:solidFill>
                  <a:schemeClr val="accent1">
                    <a:lumMod val="60000"/>
                    <a:lumOff val="40000"/>
                  </a:schemeClr>
                </a:solidFill>
                <a:latin typeface="Abadi Extra Light" panose="020B0604020202020204" pitchFamily="34" charset="0"/>
                <a:ea typeface="Tahoma"/>
                <a:cs typeface="Calibri Light" panose="020F0302020204030204" pitchFamily="34" charset="0"/>
              </a:rPr>
              <a:t>Where this presentation is</a:t>
            </a:r>
          </a:p>
        </p:txBody>
      </p:sp>
      <p:sp>
        <p:nvSpPr>
          <p:cNvPr id="18" name="Rectangle 17">
            <a:extLst>
              <a:ext uri="{FF2B5EF4-FFF2-40B4-BE49-F238E27FC236}">
                <a16:creationId xmlns:a16="http://schemas.microsoft.com/office/drawing/2014/main" id="{F0211045-82F1-4F88-A852-D8FC8C250B92}"/>
              </a:ext>
            </a:extLst>
          </p:cNvPr>
          <p:cNvSpPr/>
          <p:nvPr/>
        </p:nvSpPr>
        <p:spPr>
          <a:xfrm>
            <a:off x="675323" y="4621938"/>
            <a:ext cx="1384344" cy="223520"/>
          </a:xfrm>
          <a:prstGeom prst="rect">
            <a:avLst/>
          </a:prstGeom>
          <a:noFill/>
          <a:ln>
            <a:solidFill>
              <a:schemeClr val="accent1">
                <a:lumMod val="40000"/>
                <a:lumOff val="60000"/>
              </a:schemeClr>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9" name="CustomShape 2">
            <a:extLst>
              <a:ext uri="{FF2B5EF4-FFF2-40B4-BE49-F238E27FC236}">
                <a16:creationId xmlns:a16="http://schemas.microsoft.com/office/drawing/2014/main" id="{94D96B60-3AA2-4E44-994E-91CA21A688A8}"/>
              </a:ext>
            </a:extLst>
          </p:cNvPr>
          <p:cNvSpPr/>
          <p:nvPr/>
        </p:nvSpPr>
        <p:spPr>
          <a:xfrm>
            <a:off x="2059667" y="3316029"/>
            <a:ext cx="610616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1600" b="1" spc="-1" dirty="0">
                <a:solidFill>
                  <a:schemeClr val="tx2"/>
                </a:solidFill>
                <a:latin typeface="Abadi Extra Light" panose="020B0604020202020204" pitchFamily="34" charset="0"/>
                <a:ea typeface="Tahoma"/>
                <a:cs typeface="Calibri Light" panose="020F0302020204030204" pitchFamily="34" charset="0"/>
              </a:rPr>
              <a:t>Intermediate matrices are stored at this level</a:t>
            </a:r>
          </a:p>
        </p:txBody>
      </p:sp>
      <p:sp>
        <p:nvSpPr>
          <p:cNvPr id="20" name="Rectangle 19">
            <a:extLst>
              <a:ext uri="{FF2B5EF4-FFF2-40B4-BE49-F238E27FC236}">
                <a16:creationId xmlns:a16="http://schemas.microsoft.com/office/drawing/2014/main" id="{82FF3AE2-0295-43E7-BDA5-98A6428DDD93}"/>
              </a:ext>
            </a:extLst>
          </p:cNvPr>
          <p:cNvSpPr/>
          <p:nvPr/>
        </p:nvSpPr>
        <p:spPr>
          <a:xfrm>
            <a:off x="685483" y="3419534"/>
            <a:ext cx="1384344" cy="223520"/>
          </a:xfrm>
          <a:prstGeom prst="rect">
            <a:avLst/>
          </a:prstGeom>
          <a:noFill/>
          <a:ln>
            <a:solidFill>
              <a:schemeClr val="tx2"/>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41983335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stomShape 2">
            <a:extLst>
              <a:ext uri="{FF2B5EF4-FFF2-40B4-BE49-F238E27FC236}">
                <a16:creationId xmlns:a16="http://schemas.microsoft.com/office/drawing/2014/main" id="{49E7E72C-58EB-4A00-8526-CA85934BCBB9}"/>
              </a:ext>
            </a:extLst>
          </p:cNvPr>
          <p:cNvSpPr/>
          <p:nvPr/>
        </p:nvSpPr>
        <p:spPr>
          <a:xfrm>
            <a:off x="250920" y="157644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Where is this protocol stored?</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4" name="CustomShape 2">
            <a:extLst>
              <a:ext uri="{FF2B5EF4-FFF2-40B4-BE49-F238E27FC236}">
                <a16:creationId xmlns:a16="http://schemas.microsoft.com/office/drawing/2014/main" id="{C96E61F9-A9F3-4AED-8993-6D2E3B462E15}"/>
              </a:ext>
            </a:extLst>
          </p:cNvPr>
          <p:cNvSpPr/>
          <p:nvPr/>
        </p:nvSpPr>
        <p:spPr>
          <a:xfrm>
            <a:off x="250920" y="2024009"/>
            <a:ext cx="8476520" cy="780151"/>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Up to now, the PBPM repository is at my private GitHub:</a:t>
            </a:r>
          </a:p>
          <a:p>
            <a:pPr algn="just">
              <a:lnSpc>
                <a:spcPct val="90000"/>
              </a:lnSpc>
            </a:pPr>
            <a:r>
              <a:rPr lang="en-US" sz="2000" spc="-1" dirty="0">
                <a:solidFill>
                  <a:schemeClr val="accent1"/>
                </a:solidFill>
                <a:latin typeface="Abadi Extra Light" panose="020B0604020202020204" pitchFamily="34" charset="0"/>
                <a:ea typeface="Tahoma"/>
                <a:cs typeface="Calibri Light" panose="020F0302020204030204" pitchFamily="34" charset="0"/>
                <a:hlinkClick r:id="rId2">
                  <a:extLst>
                    <a:ext uri="{A12FA001-AC4F-418D-AE19-62706E023703}">
                      <ahyp:hlinkClr xmlns:ahyp="http://schemas.microsoft.com/office/drawing/2018/hyperlinkcolor" val="tx"/>
                    </a:ext>
                  </a:extLst>
                </a:hlinkClick>
              </a:rPr>
              <a:t>https://github.com/mgmartinezl/Stalicla-PBPM</a:t>
            </a:r>
            <a:endParaRPr lang="en-US" sz="2000" spc="-1" dirty="0">
              <a:solidFill>
                <a:schemeClr val="accent1"/>
              </a:solidFill>
              <a:latin typeface="Abadi Extra Light" panose="020B0604020202020204" pitchFamily="34" charset="0"/>
              <a:ea typeface="Tahoma"/>
              <a:cs typeface="Calibri Light" panose="020F0302020204030204" pitchFamily="34" charset="0"/>
            </a:endParaRPr>
          </a:p>
        </p:txBody>
      </p:sp>
      <p:sp>
        <p:nvSpPr>
          <p:cNvPr id="16" name="CustomShape 2">
            <a:extLst>
              <a:ext uri="{FF2B5EF4-FFF2-40B4-BE49-F238E27FC236}">
                <a16:creationId xmlns:a16="http://schemas.microsoft.com/office/drawing/2014/main" id="{17CC5912-53C1-4E76-B909-EC1582CFFF69}"/>
              </a:ext>
            </a:extLst>
          </p:cNvPr>
          <p:cNvSpPr/>
          <p:nvPr/>
        </p:nvSpPr>
        <p:spPr>
          <a:xfrm>
            <a:off x="250920" y="2804160"/>
            <a:ext cx="8476520" cy="780151"/>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u="sng" spc="-1" dirty="0">
                <a:solidFill>
                  <a:schemeClr val="tx2"/>
                </a:solidFill>
                <a:latin typeface="Abadi Extra Light" panose="020B0604020202020204" pitchFamily="34" charset="0"/>
                <a:ea typeface="Tahoma"/>
                <a:cs typeface="Calibri Light" panose="020F0302020204030204" pitchFamily="34" charset="0"/>
              </a:rPr>
              <a:t>PENDING task: </a:t>
            </a:r>
            <a:r>
              <a:rPr lang="en-US" sz="2000" spc="-1" dirty="0">
                <a:solidFill>
                  <a:schemeClr val="tx2"/>
                </a:solidFill>
                <a:latin typeface="Abadi Extra Light" panose="020B0604020202020204" pitchFamily="34" charset="0"/>
                <a:ea typeface="Tahoma"/>
                <a:cs typeface="Calibri Light" panose="020F0302020204030204" pitchFamily="34" charset="0"/>
              </a:rPr>
              <a:t>upload to the cluster and schedule some tests with final users.</a:t>
            </a:r>
            <a:endParaRPr lang="en-US" sz="2000" spc="-1" dirty="0">
              <a:solidFill>
                <a:schemeClr val="accent1"/>
              </a:solidFill>
              <a:latin typeface="Abadi Extra Light" panose="020B0604020202020204" pitchFamily="34" charset="0"/>
              <a:ea typeface="Tahoma"/>
              <a:cs typeface="Calibri Light" panose="020F0302020204030204" pitchFamily="34" charset="0"/>
            </a:endParaRPr>
          </a:p>
        </p:txBody>
      </p:sp>
    </p:spTree>
    <p:extLst>
      <p:ext uri="{BB962C8B-B14F-4D97-AF65-F5344CB8AC3E}">
        <p14:creationId xmlns:p14="http://schemas.microsoft.com/office/powerpoint/2010/main" val="29476770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D4D4F"/>
      </a:dk2>
      <a:lt2>
        <a:srgbClr val="AEABAB"/>
      </a:lt2>
      <a:accent1>
        <a:srgbClr val="00AEEF"/>
      </a:accent1>
      <a:accent2>
        <a:srgbClr val="FDB913"/>
      </a:accent2>
      <a:accent3>
        <a:srgbClr val="5AB0AB"/>
      </a:accent3>
      <a:accent4>
        <a:srgbClr val="757070"/>
      </a:accent4>
      <a:accent5>
        <a:srgbClr val="AEABAB"/>
      </a:accent5>
      <a:accent6>
        <a:srgbClr val="5CD2FF"/>
      </a:accent6>
      <a:hlink>
        <a:srgbClr val="5AB0AB"/>
      </a:hlink>
      <a:folHlink>
        <a:srgbClr val="00AEE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D4D4F"/>
      </a:dk2>
      <a:lt2>
        <a:srgbClr val="AEABAB"/>
      </a:lt2>
      <a:accent1>
        <a:srgbClr val="00AEEF"/>
      </a:accent1>
      <a:accent2>
        <a:srgbClr val="FDB913"/>
      </a:accent2>
      <a:accent3>
        <a:srgbClr val="5AB0AB"/>
      </a:accent3>
      <a:accent4>
        <a:srgbClr val="757070"/>
      </a:accent4>
      <a:accent5>
        <a:srgbClr val="AEABAB"/>
      </a:accent5>
      <a:accent6>
        <a:srgbClr val="5CD2FF"/>
      </a:accent6>
      <a:hlink>
        <a:srgbClr val="5AB0AB"/>
      </a:hlink>
      <a:folHlink>
        <a:srgbClr val="00AEE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7648</TotalTime>
  <Words>1818</Words>
  <Application>Microsoft Office PowerPoint</Application>
  <PresentationFormat>On-screen Show (4:3)</PresentationFormat>
  <Paragraphs>322</Paragraphs>
  <Slides>26</Slides>
  <Notes>0</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26</vt:i4>
      </vt:variant>
    </vt:vector>
  </HeadingPairs>
  <TitlesOfParts>
    <vt:vector size="36" baseType="lpstr">
      <vt:lpstr>Abadi Extra Light</vt:lpstr>
      <vt:lpstr>Arial</vt:lpstr>
      <vt:lpstr>Calibri</vt:lpstr>
      <vt:lpstr>Consolas</vt:lpstr>
      <vt:lpstr>Source Sans Pro Light</vt:lpstr>
      <vt:lpstr>Symbol</vt:lpstr>
      <vt:lpstr>Tahoma</vt:lpstr>
      <vt:lpstr>Wingdings</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Beckie Best</dc:creator>
  <dc:description/>
  <cp:lastModifiedBy>Andres Felipe Gomez Lopera</cp:lastModifiedBy>
  <cp:revision>206</cp:revision>
  <cp:lastPrinted>2018-06-11T12:22:51Z</cp:lastPrinted>
  <dcterms:created xsi:type="dcterms:W3CDTF">2018-01-04T09:16:16Z</dcterms:created>
  <dcterms:modified xsi:type="dcterms:W3CDTF">2019-09-05T14:45:02Z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Microsoft</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vt:i4>
  </property>
</Properties>
</file>