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6"/>
  </p:notesMasterIdLst>
  <p:sldIdLst>
    <p:sldId id="256" r:id="rId3"/>
    <p:sldId id="302" r:id="rId4"/>
    <p:sldId id="319" r:id="rId5"/>
    <p:sldId id="320" r:id="rId6"/>
    <p:sldId id="321" r:id="rId7"/>
    <p:sldId id="322" r:id="rId8"/>
    <p:sldId id="323" r:id="rId9"/>
    <p:sldId id="324" r:id="rId10"/>
    <p:sldId id="325" r:id="rId11"/>
    <p:sldId id="326" r:id="rId12"/>
    <p:sldId id="327" r:id="rId13"/>
    <p:sldId id="328" r:id="rId14"/>
    <p:sldId id="329" r:id="rId15"/>
    <p:sldId id="330" r:id="rId16"/>
    <p:sldId id="332" r:id="rId17"/>
    <p:sldId id="331" r:id="rId18"/>
    <p:sldId id="333" r:id="rId19"/>
    <p:sldId id="336" r:id="rId20"/>
    <p:sldId id="337" r:id="rId21"/>
    <p:sldId id="338" r:id="rId22"/>
    <p:sldId id="335" r:id="rId23"/>
    <p:sldId id="339" r:id="rId24"/>
    <p:sldId id="334" r:id="rId2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17" autoAdjust="0"/>
  </p:normalViewPr>
  <p:slideViewPr>
    <p:cSldViewPr snapToGrid="0">
      <p:cViewPr varScale="1">
        <p:scale>
          <a:sx n="63" d="100"/>
          <a:sy n="63" d="100"/>
        </p:scale>
        <p:origin x="8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00FBA4-CB1D-4C58-B09A-B41F99C7A7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5146AC3-6495-487A-A59A-8678BB69A317}">
      <dgm:prSet phldrT="[Text]" custT="1"/>
      <dgm:spPr/>
      <dgm:t>
        <a:bodyPr/>
        <a:lstStyle/>
        <a:p>
          <a:r>
            <a:rPr lang="en-US" sz="2400" dirty="0">
              <a:latin typeface="Abadi Extra Light" panose="020B0204020104020204" pitchFamily="34" charset="0"/>
            </a:rPr>
            <a:t>Mandatory parameters</a:t>
          </a:r>
        </a:p>
      </dgm:t>
    </dgm:pt>
    <dgm:pt modelId="{2FFA81AC-5AFC-42A4-B3A4-35184807FF28}" type="parTrans" cxnId="{0F5BC447-51E4-4EAD-B79D-DDA804D903B2}">
      <dgm:prSet/>
      <dgm:spPr/>
      <dgm:t>
        <a:bodyPr/>
        <a:lstStyle/>
        <a:p>
          <a:endParaRPr lang="en-US" sz="1100">
            <a:latin typeface="Abadi Extra Light" panose="020B0204020104020204" pitchFamily="34" charset="0"/>
          </a:endParaRPr>
        </a:p>
      </dgm:t>
    </dgm:pt>
    <dgm:pt modelId="{0CDE5A4E-018E-458F-867E-86CE575CE5A4}" type="sibTrans" cxnId="{0F5BC447-51E4-4EAD-B79D-DDA804D903B2}">
      <dgm:prSet/>
      <dgm:spPr/>
      <dgm:t>
        <a:bodyPr/>
        <a:lstStyle/>
        <a:p>
          <a:endParaRPr lang="en-US" sz="1100">
            <a:latin typeface="Abadi Extra Light" panose="020B0204020104020204" pitchFamily="34" charset="0"/>
          </a:endParaRPr>
        </a:p>
      </dgm:t>
    </dgm:pt>
    <dgm:pt modelId="{86085957-A16E-4C72-9138-6C9B64D9352A}">
      <dgm:prSet phldrT="[Text]" custT="1"/>
      <dgm:spPr/>
      <dgm:t>
        <a:bodyPr/>
        <a:lstStyle/>
        <a:p>
          <a:r>
            <a:rPr lang="en-US" sz="1800" dirty="0">
              <a:latin typeface="Abadi Extra Light" panose="020B0204020104020204" pitchFamily="34" charset="0"/>
            </a:rPr>
            <a:t>Input file containing patients and mutations.</a:t>
          </a:r>
        </a:p>
      </dgm:t>
    </dgm:pt>
    <dgm:pt modelId="{CED142A3-A150-4AD6-BF64-C2D0D9AB8325}" type="parTrans" cxnId="{0C49B6A7-A54D-4DD3-B5E6-54CF23DD5FA0}">
      <dgm:prSet/>
      <dgm:spPr/>
      <dgm:t>
        <a:bodyPr/>
        <a:lstStyle/>
        <a:p>
          <a:endParaRPr lang="en-US" sz="1100">
            <a:latin typeface="Abadi Extra Light" panose="020B0204020104020204" pitchFamily="34" charset="0"/>
          </a:endParaRPr>
        </a:p>
      </dgm:t>
    </dgm:pt>
    <dgm:pt modelId="{34E2DA64-A300-4B38-B3C1-837FD4B7034D}" type="sibTrans" cxnId="{0C49B6A7-A54D-4DD3-B5E6-54CF23DD5FA0}">
      <dgm:prSet/>
      <dgm:spPr/>
      <dgm:t>
        <a:bodyPr/>
        <a:lstStyle/>
        <a:p>
          <a:endParaRPr lang="en-US" sz="1100">
            <a:latin typeface="Abadi Extra Light" panose="020B0204020104020204" pitchFamily="34" charset="0"/>
          </a:endParaRPr>
        </a:p>
      </dgm:t>
    </dgm:pt>
    <dgm:pt modelId="{65AB574B-B228-4761-B809-DE494ECE921E}">
      <dgm:prSet phldrT="[Text]" custT="1"/>
      <dgm:spPr/>
      <dgm:t>
        <a:bodyPr/>
        <a:lstStyle/>
        <a:p>
          <a:r>
            <a:rPr lang="en-US" sz="2400" dirty="0">
              <a:latin typeface="Abadi Extra Light" panose="020B0204020104020204" pitchFamily="34" charset="0"/>
            </a:rPr>
            <a:t>Optional parameters: act as filters</a:t>
          </a:r>
        </a:p>
      </dgm:t>
    </dgm:pt>
    <dgm:pt modelId="{E1C34707-C964-4D09-88EC-5261896B78BB}" type="parTrans" cxnId="{5DFAC81D-9472-4D8B-A593-93EF2E4BF5D8}">
      <dgm:prSet/>
      <dgm:spPr/>
      <dgm:t>
        <a:bodyPr/>
        <a:lstStyle/>
        <a:p>
          <a:endParaRPr lang="en-US" sz="1100">
            <a:latin typeface="Abadi Extra Light" panose="020B0204020104020204" pitchFamily="34" charset="0"/>
          </a:endParaRPr>
        </a:p>
      </dgm:t>
    </dgm:pt>
    <dgm:pt modelId="{57E6AB5F-BA01-469E-AA83-47E50ED48A78}" type="sibTrans" cxnId="{5DFAC81D-9472-4D8B-A593-93EF2E4BF5D8}">
      <dgm:prSet/>
      <dgm:spPr/>
      <dgm:t>
        <a:bodyPr/>
        <a:lstStyle/>
        <a:p>
          <a:endParaRPr lang="en-US" sz="1100">
            <a:latin typeface="Abadi Extra Light" panose="020B0204020104020204" pitchFamily="34" charset="0"/>
          </a:endParaRPr>
        </a:p>
      </dgm:t>
    </dgm:pt>
    <dgm:pt modelId="{BE88318D-37D8-4165-83D7-19E82BA6BC0A}">
      <dgm:prSet phldrT="[Text]" custT="1"/>
      <dgm:spPr/>
      <dgm:t>
        <a:bodyPr/>
        <a:lstStyle/>
        <a:p>
          <a:r>
            <a:rPr lang="en-US" sz="1800" dirty="0">
              <a:latin typeface="Abadi Extra Light" panose="020B0204020104020204" pitchFamily="34" charset="0"/>
            </a:rPr>
            <a:t>Pathways.</a:t>
          </a:r>
        </a:p>
      </dgm:t>
    </dgm:pt>
    <dgm:pt modelId="{CB49A4FD-3CA0-42AB-8A4E-58240ECE6291}" type="parTrans" cxnId="{E667E63A-7501-4F3C-ABA4-D2E95172116C}">
      <dgm:prSet/>
      <dgm:spPr/>
      <dgm:t>
        <a:bodyPr/>
        <a:lstStyle/>
        <a:p>
          <a:endParaRPr lang="en-US" sz="1100">
            <a:latin typeface="Abadi Extra Light" panose="020B0204020104020204" pitchFamily="34" charset="0"/>
          </a:endParaRPr>
        </a:p>
      </dgm:t>
    </dgm:pt>
    <dgm:pt modelId="{46217F2B-685A-4707-9E2A-940DCE7E9185}" type="sibTrans" cxnId="{E667E63A-7501-4F3C-ABA4-D2E95172116C}">
      <dgm:prSet/>
      <dgm:spPr/>
      <dgm:t>
        <a:bodyPr/>
        <a:lstStyle/>
        <a:p>
          <a:endParaRPr lang="en-US" sz="1100">
            <a:latin typeface="Abadi Extra Light" panose="020B0204020104020204" pitchFamily="34" charset="0"/>
          </a:endParaRPr>
        </a:p>
      </dgm:t>
    </dgm:pt>
    <dgm:pt modelId="{F329B068-9BC4-4462-B9D5-9A619FF5230B}">
      <dgm:prSet phldrT="[Text]" custT="1"/>
      <dgm:spPr/>
      <dgm:t>
        <a:bodyPr/>
        <a:lstStyle/>
        <a:p>
          <a:r>
            <a:rPr lang="en-US" sz="1800" dirty="0">
              <a:latin typeface="Abadi Extra Light" panose="020B0204020104020204" pitchFamily="34" charset="0"/>
            </a:rPr>
            <a:t>Folder containing pathways and their genes.</a:t>
          </a:r>
        </a:p>
      </dgm:t>
    </dgm:pt>
    <dgm:pt modelId="{38D78629-776E-4003-A22F-FEAF89B391DA}" type="parTrans" cxnId="{306B0FB6-47B7-4746-B8FC-E7C1E70997A7}">
      <dgm:prSet/>
      <dgm:spPr/>
      <dgm:t>
        <a:bodyPr/>
        <a:lstStyle/>
        <a:p>
          <a:endParaRPr lang="en-US"/>
        </a:p>
      </dgm:t>
    </dgm:pt>
    <dgm:pt modelId="{13BD7148-BC80-4FB7-8095-67E29808C76F}" type="sibTrans" cxnId="{306B0FB6-47B7-4746-B8FC-E7C1E70997A7}">
      <dgm:prSet/>
      <dgm:spPr/>
      <dgm:t>
        <a:bodyPr/>
        <a:lstStyle/>
        <a:p>
          <a:endParaRPr lang="en-US"/>
        </a:p>
      </dgm:t>
    </dgm:pt>
    <dgm:pt modelId="{A9944A70-02D3-410C-928B-EFEB24C5B54F}">
      <dgm:prSet phldrT="[Text]" custT="1"/>
      <dgm:spPr/>
      <dgm:t>
        <a:bodyPr/>
        <a:lstStyle/>
        <a:p>
          <a:r>
            <a:rPr lang="en-US" sz="1800" dirty="0">
              <a:latin typeface="Abadi Extra Light" panose="020B0204020104020204" pitchFamily="34" charset="0"/>
            </a:rPr>
            <a:t>Genes.</a:t>
          </a:r>
        </a:p>
      </dgm:t>
    </dgm:pt>
    <dgm:pt modelId="{29FC8D18-3575-46F2-9A9B-44A4C5833570}" type="parTrans" cxnId="{E54EE72F-66E4-4A51-8AEA-E978E107ED7F}">
      <dgm:prSet/>
      <dgm:spPr/>
      <dgm:t>
        <a:bodyPr/>
        <a:lstStyle/>
        <a:p>
          <a:endParaRPr lang="en-US"/>
        </a:p>
      </dgm:t>
    </dgm:pt>
    <dgm:pt modelId="{5DD62C38-8697-4B64-B030-E488026965BA}" type="sibTrans" cxnId="{E54EE72F-66E4-4A51-8AEA-E978E107ED7F}">
      <dgm:prSet/>
      <dgm:spPr/>
      <dgm:t>
        <a:bodyPr/>
        <a:lstStyle/>
        <a:p>
          <a:endParaRPr lang="en-US"/>
        </a:p>
      </dgm:t>
    </dgm:pt>
    <dgm:pt modelId="{8273C375-AA08-4264-9971-EE51802074C9}">
      <dgm:prSet phldrT="[Text]" custT="1"/>
      <dgm:spPr/>
      <dgm:t>
        <a:bodyPr/>
        <a:lstStyle/>
        <a:p>
          <a:r>
            <a:rPr lang="en-US" sz="1800" dirty="0">
              <a:latin typeface="Abadi Extra Light" panose="020B0204020104020204" pitchFamily="34" charset="0"/>
            </a:rPr>
            <a:t>Patients.</a:t>
          </a:r>
        </a:p>
      </dgm:t>
    </dgm:pt>
    <dgm:pt modelId="{BF77A1B3-F659-459D-8E42-8736713E2575}" type="parTrans" cxnId="{8A8CB847-C81D-41CA-A49B-3BC617977930}">
      <dgm:prSet/>
      <dgm:spPr/>
      <dgm:t>
        <a:bodyPr/>
        <a:lstStyle/>
        <a:p>
          <a:endParaRPr lang="en-US"/>
        </a:p>
      </dgm:t>
    </dgm:pt>
    <dgm:pt modelId="{8D2C53B3-4A71-41FB-90AB-5E7D0AA9BEF6}" type="sibTrans" cxnId="{8A8CB847-C81D-41CA-A49B-3BC617977930}">
      <dgm:prSet/>
      <dgm:spPr/>
      <dgm:t>
        <a:bodyPr/>
        <a:lstStyle/>
        <a:p>
          <a:endParaRPr lang="en-US"/>
        </a:p>
      </dgm:t>
    </dgm:pt>
    <dgm:pt modelId="{723998F3-6070-48DD-8746-FDB1F9EAA5F7}">
      <dgm:prSet phldrT="[Text]" custT="1"/>
      <dgm:spPr/>
      <dgm:t>
        <a:bodyPr/>
        <a:lstStyle/>
        <a:p>
          <a:r>
            <a:rPr lang="en-US" sz="1800" dirty="0">
              <a:latin typeface="Abadi Extra Light" panose="020B0204020104020204" pitchFamily="34" charset="0"/>
            </a:rPr>
            <a:t>Mutations.</a:t>
          </a:r>
        </a:p>
      </dgm:t>
    </dgm:pt>
    <dgm:pt modelId="{60BD2AFD-0384-4FB6-ACDF-22ADDFCBAD2F}" type="parTrans" cxnId="{C41EE296-3872-4B88-A9C8-9986915DA2EE}">
      <dgm:prSet/>
      <dgm:spPr/>
      <dgm:t>
        <a:bodyPr/>
        <a:lstStyle/>
        <a:p>
          <a:endParaRPr lang="en-US"/>
        </a:p>
      </dgm:t>
    </dgm:pt>
    <dgm:pt modelId="{A4DBD70C-B827-43EF-9F8F-82786E3BCFE9}" type="sibTrans" cxnId="{C41EE296-3872-4B88-A9C8-9986915DA2EE}">
      <dgm:prSet/>
      <dgm:spPr/>
      <dgm:t>
        <a:bodyPr/>
        <a:lstStyle/>
        <a:p>
          <a:endParaRPr lang="en-US"/>
        </a:p>
      </dgm:t>
    </dgm:pt>
    <dgm:pt modelId="{B1F82956-5461-4365-AAFC-99EA45EF28FE}">
      <dgm:prSet phldrT="[Text]" custT="1"/>
      <dgm:spPr/>
      <dgm:t>
        <a:bodyPr/>
        <a:lstStyle/>
        <a:p>
          <a:r>
            <a:rPr lang="en-US" sz="1800" dirty="0" err="1">
              <a:latin typeface="Abadi Extra Light" panose="020B0204020104020204" pitchFamily="34" charset="0"/>
            </a:rPr>
            <a:t>pLI</a:t>
          </a:r>
          <a:r>
            <a:rPr lang="en-US" sz="1800" dirty="0">
              <a:latin typeface="Abadi Extra Light" panose="020B0204020104020204" pitchFamily="34" charset="0"/>
            </a:rPr>
            <a:t>.</a:t>
          </a:r>
        </a:p>
      </dgm:t>
    </dgm:pt>
    <dgm:pt modelId="{83860D20-98E3-4D1D-B564-E3767D1A4035}" type="parTrans" cxnId="{46E18510-445B-4774-AAC9-E0F6BD6B13B3}">
      <dgm:prSet/>
      <dgm:spPr/>
      <dgm:t>
        <a:bodyPr/>
        <a:lstStyle/>
        <a:p>
          <a:endParaRPr lang="en-US"/>
        </a:p>
      </dgm:t>
    </dgm:pt>
    <dgm:pt modelId="{0395FDF7-664A-4BE8-8EB4-C743C6622177}" type="sibTrans" cxnId="{46E18510-445B-4774-AAC9-E0F6BD6B13B3}">
      <dgm:prSet/>
      <dgm:spPr/>
      <dgm:t>
        <a:bodyPr/>
        <a:lstStyle/>
        <a:p>
          <a:endParaRPr lang="en-US"/>
        </a:p>
      </dgm:t>
    </dgm:pt>
    <dgm:pt modelId="{8F93982F-0AA5-4A48-B18B-AF5AAB830105}">
      <dgm:prSet phldrT="[Text]" custT="1"/>
      <dgm:spPr/>
      <dgm:t>
        <a:bodyPr/>
        <a:lstStyle/>
        <a:p>
          <a:r>
            <a:rPr lang="en-US" sz="1800" dirty="0">
              <a:latin typeface="Abadi Extra Light" panose="020B0204020104020204" pitchFamily="34" charset="0"/>
            </a:rPr>
            <a:t>PolyPhen2 prediction label.</a:t>
          </a:r>
        </a:p>
      </dgm:t>
    </dgm:pt>
    <dgm:pt modelId="{7593248A-90C2-4261-8818-D7ABDBF69308}" type="parTrans" cxnId="{7DF2D91B-D504-41EC-A405-1AE472B34366}">
      <dgm:prSet/>
      <dgm:spPr/>
      <dgm:t>
        <a:bodyPr/>
        <a:lstStyle/>
        <a:p>
          <a:endParaRPr lang="en-US"/>
        </a:p>
      </dgm:t>
    </dgm:pt>
    <dgm:pt modelId="{74390B85-E602-425D-A885-5377C4479CD5}" type="sibTrans" cxnId="{7DF2D91B-D504-41EC-A405-1AE472B34366}">
      <dgm:prSet/>
      <dgm:spPr/>
      <dgm:t>
        <a:bodyPr/>
        <a:lstStyle/>
        <a:p>
          <a:endParaRPr lang="en-US"/>
        </a:p>
      </dgm:t>
    </dgm:pt>
    <dgm:pt modelId="{059EDBCB-948C-4167-9E05-D7FA4430C710}">
      <dgm:prSet phldrT="[Text]" custT="1"/>
      <dgm:spPr/>
      <dgm:t>
        <a:bodyPr/>
        <a:lstStyle/>
        <a:p>
          <a:r>
            <a:rPr lang="en-US" sz="1800" dirty="0">
              <a:latin typeface="Abadi Extra Light" panose="020B0204020104020204" pitchFamily="34" charset="0"/>
            </a:rPr>
            <a:t>MPC.</a:t>
          </a:r>
        </a:p>
      </dgm:t>
    </dgm:pt>
    <dgm:pt modelId="{C30138CD-322E-4752-BF80-6BA24B2A04EE}" type="parTrans" cxnId="{BE1412A9-1119-4F21-B485-E7D97EB4536C}">
      <dgm:prSet/>
      <dgm:spPr/>
      <dgm:t>
        <a:bodyPr/>
        <a:lstStyle/>
        <a:p>
          <a:endParaRPr lang="en-US"/>
        </a:p>
      </dgm:t>
    </dgm:pt>
    <dgm:pt modelId="{3FB4102A-92D2-49B6-A11A-EDEBCABA80E8}" type="sibTrans" cxnId="{BE1412A9-1119-4F21-B485-E7D97EB4536C}">
      <dgm:prSet/>
      <dgm:spPr/>
      <dgm:t>
        <a:bodyPr/>
        <a:lstStyle/>
        <a:p>
          <a:endParaRPr lang="en-US"/>
        </a:p>
      </dgm:t>
    </dgm:pt>
    <dgm:pt modelId="{7B9225A7-FD91-4913-B81A-EDEBE91C28E3}">
      <dgm:prSet phldrT="[Text]" custT="1"/>
      <dgm:spPr/>
      <dgm:t>
        <a:bodyPr/>
        <a:lstStyle/>
        <a:p>
          <a:r>
            <a:rPr lang="en-US" sz="1800" dirty="0">
              <a:latin typeface="Abadi Extra Light" panose="020B0204020104020204" pitchFamily="34" charset="0"/>
            </a:rPr>
            <a:t>Adjusted consequence.</a:t>
          </a:r>
        </a:p>
      </dgm:t>
    </dgm:pt>
    <dgm:pt modelId="{ED0B2524-25E1-4155-AFE6-71980C6486C3}" type="parTrans" cxnId="{95E485D1-0FB9-4070-BAF8-BFE66F220D00}">
      <dgm:prSet/>
      <dgm:spPr/>
      <dgm:t>
        <a:bodyPr/>
        <a:lstStyle/>
        <a:p>
          <a:endParaRPr lang="en-US"/>
        </a:p>
      </dgm:t>
    </dgm:pt>
    <dgm:pt modelId="{F7EB1606-4867-4AC3-9E4B-E5F8C276A8C6}" type="sibTrans" cxnId="{95E485D1-0FB9-4070-BAF8-BFE66F220D00}">
      <dgm:prSet/>
      <dgm:spPr/>
      <dgm:t>
        <a:bodyPr/>
        <a:lstStyle/>
        <a:p>
          <a:endParaRPr lang="en-US"/>
        </a:p>
      </dgm:t>
    </dgm:pt>
    <dgm:pt modelId="{65CEB2A9-5BD6-4535-A528-21B33C174249}">
      <dgm:prSet phldrT="[Text]" custT="1"/>
      <dgm:spPr/>
      <dgm:t>
        <a:bodyPr/>
        <a:lstStyle/>
        <a:p>
          <a:r>
            <a:rPr lang="en-US" sz="1800" dirty="0">
              <a:latin typeface="Abadi Extra Light" panose="020B0204020104020204" pitchFamily="34" charset="0"/>
            </a:rPr>
            <a:t>Max control AF.</a:t>
          </a:r>
        </a:p>
      </dgm:t>
    </dgm:pt>
    <dgm:pt modelId="{6AA51B85-3061-4B8B-8CC3-7BD1525B3C9D}" type="parTrans" cxnId="{47F4F0A4-64CD-4B8B-B8B7-AC2A3915F493}">
      <dgm:prSet/>
      <dgm:spPr/>
      <dgm:t>
        <a:bodyPr/>
        <a:lstStyle/>
        <a:p>
          <a:endParaRPr lang="en-US"/>
        </a:p>
      </dgm:t>
    </dgm:pt>
    <dgm:pt modelId="{E9C6E380-18D9-4FD4-AD4E-13117399E6C6}" type="sibTrans" cxnId="{47F4F0A4-64CD-4B8B-B8B7-AC2A3915F493}">
      <dgm:prSet/>
      <dgm:spPr/>
      <dgm:t>
        <a:bodyPr/>
        <a:lstStyle/>
        <a:p>
          <a:endParaRPr lang="en-US"/>
        </a:p>
      </dgm:t>
    </dgm:pt>
    <dgm:pt modelId="{8CCB2EA1-111B-46B8-8079-7492E1B5542B}" type="pres">
      <dgm:prSet presAssocID="{2B00FBA4-CB1D-4C58-B09A-B41F99C7A7E0}" presName="linear" presStyleCnt="0">
        <dgm:presLayoutVars>
          <dgm:animLvl val="lvl"/>
          <dgm:resizeHandles val="exact"/>
        </dgm:presLayoutVars>
      </dgm:prSet>
      <dgm:spPr/>
    </dgm:pt>
    <dgm:pt modelId="{3F3C2C25-13E4-4654-B5C1-D27896EACFE2}" type="pres">
      <dgm:prSet presAssocID="{15146AC3-6495-487A-A59A-8678BB69A317}" presName="parentText" presStyleLbl="node1" presStyleIdx="0" presStyleCnt="2" custScaleY="57090">
        <dgm:presLayoutVars>
          <dgm:chMax val="0"/>
          <dgm:bulletEnabled val="1"/>
        </dgm:presLayoutVars>
      </dgm:prSet>
      <dgm:spPr/>
    </dgm:pt>
    <dgm:pt modelId="{133D3FF6-4C61-4E47-9673-BECA49670E51}" type="pres">
      <dgm:prSet presAssocID="{15146AC3-6495-487A-A59A-8678BB69A317}" presName="childText" presStyleLbl="revTx" presStyleIdx="0" presStyleCnt="2">
        <dgm:presLayoutVars>
          <dgm:bulletEnabled val="1"/>
        </dgm:presLayoutVars>
      </dgm:prSet>
      <dgm:spPr/>
    </dgm:pt>
    <dgm:pt modelId="{CA1DEA98-0227-4375-B7C1-4CDD8CECB021}" type="pres">
      <dgm:prSet presAssocID="{65AB574B-B228-4761-B809-DE494ECE921E}" presName="parentText" presStyleLbl="node1" presStyleIdx="1" presStyleCnt="2" custScaleY="55232">
        <dgm:presLayoutVars>
          <dgm:chMax val="0"/>
          <dgm:bulletEnabled val="1"/>
        </dgm:presLayoutVars>
      </dgm:prSet>
      <dgm:spPr/>
    </dgm:pt>
    <dgm:pt modelId="{031E98BD-2ED7-4F07-82B3-A3B4BCE7E46A}" type="pres">
      <dgm:prSet presAssocID="{65AB574B-B228-4761-B809-DE494ECE921E}" presName="childText" presStyleLbl="revTx" presStyleIdx="1" presStyleCnt="2">
        <dgm:presLayoutVars>
          <dgm:bulletEnabled val="1"/>
        </dgm:presLayoutVars>
      </dgm:prSet>
      <dgm:spPr/>
    </dgm:pt>
  </dgm:ptLst>
  <dgm:cxnLst>
    <dgm:cxn modelId="{A7ECFE09-ADE5-4537-BCB9-D84A0EE83820}" type="presOf" srcId="{8273C375-AA08-4264-9971-EE51802074C9}" destId="{031E98BD-2ED7-4F07-82B3-A3B4BCE7E46A}" srcOrd="0" destOrd="2" presId="urn:microsoft.com/office/officeart/2005/8/layout/vList2"/>
    <dgm:cxn modelId="{E07A700A-3804-4490-AE76-097DE8876F4D}" type="presOf" srcId="{65CEB2A9-5BD6-4535-A528-21B33C174249}" destId="{031E98BD-2ED7-4F07-82B3-A3B4BCE7E46A}" srcOrd="0" destOrd="5" presId="urn:microsoft.com/office/officeart/2005/8/layout/vList2"/>
    <dgm:cxn modelId="{46E18510-445B-4774-AAC9-E0F6BD6B13B3}" srcId="{65AB574B-B228-4761-B809-DE494ECE921E}" destId="{B1F82956-5461-4365-AAFC-99EA45EF28FE}" srcOrd="4" destOrd="0" parTransId="{83860D20-98E3-4D1D-B564-E3767D1A4035}" sibTransId="{0395FDF7-664A-4BE8-8EB4-C743C6622177}"/>
    <dgm:cxn modelId="{E804601A-D1FE-407F-A5F7-8D8F974EBCA7}" type="presOf" srcId="{059EDBCB-948C-4167-9E05-D7FA4430C710}" destId="{031E98BD-2ED7-4F07-82B3-A3B4BCE7E46A}" srcOrd="0" destOrd="7" presId="urn:microsoft.com/office/officeart/2005/8/layout/vList2"/>
    <dgm:cxn modelId="{7DF2D91B-D504-41EC-A405-1AE472B34366}" srcId="{65AB574B-B228-4761-B809-DE494ECE921E}" destId="{8F93982F-0AA5-4A48-B18B-AF5AAB830105}" srcOrd="6" destOrd="0" parTransId="{7593248A-90C2-4261-8818-D7ABDBF69308}" sibTransId="{74390B85-E602-425D-A885-5377C4479CD5}"/>
    <dgm:cxn modelId="{5DFAC81D-9472-4D8B-A593-93EF2E4BF5D8}" srcId="{2B00FBA4-CB1D-4C58-B09A-B41F99C7A7E0}" destId="{65AB574B-B228-4761-B809-DE494ECE921E}" srcOrd="1" destOrd="0" parTransId="{E1C34707-C964-4D09-88EC-5261896B78BB}" sibTransId="{57E6AB5F-BA01-469E-AA83-47E50ED48A78}"/>
    <dgm:cxn modelId="{7B596C27-5ADA-4587-BB88-56BD94602F59}" type="presOf" srcId="{65AB574B-B228-4761-B809-DE494ECE921E}" destId="{CA1DEA98-0227-4375-B7C1-4CDD8CECB021}" srcOrd="0" destOrd="0" presId="urn:microsoft.com/office/officeart/2005/8/layout/vList2"/>
    <dgm:cxn modelId="{E54EE72F-66E4-4A51-8AEA-E978E107ED7F}" srcId="{65AB574B-B228-4761-B809-DE494ECE921E}" destId="{A9944A70-02D3-410C-928B-EFEB24C5B54F}" srcOrd="1" destOrd="0" parTransId="{29FC8D18-3575-46F2-9A9B-44A4C5833570}" sibTransId="{5DD62C38-8697-4B64-B030-E488026965BA}"/>
    <dgm:cxn modelId="{E667E63A-7501-4F3C-ABA4-D2E95172116C}" srcId="{65AB574B-B228-4761-B809-DE494ECE921E}" destId="{BE88318D-37D8-4165-83D7-19E82BA6BC0A}" srcOrd="0" destOrd="0" parTransId="{CB49A4FD-3CA0-42AB-8A4E-58240ECE6291}" sibTransId="{46217F2B-685A-4707-9E2A-940DCE7E9185}"/>
    <dgm:cxn modelId="{8A8CB847-C81D-41CA-A49B-3BC617977930}" srcId="{65AB574B-B228-4761-B809-DE494ECE921E}" destId="{8273C375-AA08-4264-9971-EE51802074C9}" srcOrd="2" destOrd="0" parTransId="{BF77A1B3-F659-459D-8E42-8736713E2575}" sibTransId="{8D2C53B3-4A71-41FB-90AB-5E7D0AA9BEF6}"/>
    <dgm:cxn modelId="{0F5BC447-51E4-4EAD-B79D-DDA804D903B2}" srcId="{2B00FBA4-CB1D-4C58-B09A-B41F99C7A7E0}" destId="{15146AC3-6495-487A-A59A-8678BB69A317}" srcOrd="0" destOrd="0" parTransId="{2FFA81AC-5AFC-42A4-B3A4-35184807FF28}" sibTransId="{0CDE5A4E-018E-458F-867E-86CE575CE5A4}"/>
    <dgm:cxn modelId="{44CFDE47-FD69-49B2-8201-320F00EE300A}" type="presOf" srcId="{2B00FBA4-CB1D-4C58-B09A-B41F99C7A7E0}" destId="{8CCB2EA1-111B-46B8-8079-7492E1B5542B}" srcOrd="0" destOrd="0" presId="urn:microsoft.com/office/officeart/2005/8/layout/vList2"/>
    <dgm:cxn modelId="{776B586E-CF13-4546-A2C0-84CC4D390865}" type="presOf" srcId="{86085957-A16E-4C72-9138-6C9B64D9352A}" destId="{133D3FF6-4C61-4E47-9673-BECA49670E51}" srcOrd="0" destOrd="0" presId="urn:microsoft.com/office/officeart/2005/8/layout/vList2"/>
    <dgm:cxn modelId="{227DCC87-3609-415A-A229-897E65A8AF71}" type="presOf" srcId="{F329B068-9BC4-4462-B9D5-9A619FF5230B}" destId="{133D3FF6-4C61-4E47-9673-BECA49670E51}" srcOrd="0" destOrd="1" presId="urn:microsoft.com/office/officeart/2005/8/layout/vList2"/>
    <dgm:cxn modelId="{922F408F-926F-4A21-84F0-DB761FA85E53}" type="presOf" srcId="{8F93982F-0AA5-4A48-B18B-AF5AAB830105}" destId="{031E98BD-2ED7-4F07-82B3-A3B4BCE7E46A}" srcOrd="0" destOrd="6" presId="urn:microsoft.com/office/officeart/2005/8/layout/vList2"/>
    <dgm:cxn modelId="{C41EE296-3872-4B88-A9C8-9986915DA2EE}" srcId="{65AB574B-B228-4761-B809-DE494ECE921E}" destId="{723998F3-6070-48DD-8746-FDB1F9EAA5F7}" srcOrd="3" destOrd="0" parTransId="{60BD2AFD-0384-4FB6-ACDF-22ADDFCBAD2F}" sibTransId="{A4DBD70C-B827-43EF-9F8F-82786E3BCFE9}"/>
    <dgm:cxn modelId="{91DF299A-1729-4D19-92EC-294C6F396355}" type="presOf" srcId="{B1F82956-5461-4365-AAFC-99EA45EF28FE}" destId="{031E98BD-2ED7-4F07-82B3-A3B4BCE7E46A}" srcOrd="0" destOrd="4" presId="urn:microsoft.com/office/officeart/2005/8/layout/vList2"/>
    <dgm:cxn modelId="{B2FE969A-562E-44A5-8F9D-F29BDEECB6DC}" type="presOf" srcId="{BE88318D-37D8-4165-83D7-19E82BA6BC0A}" destId="{031E98BD-2ED7-4F07-82B3-A3B4BCE7E46A}" srcOrd="0" destOrd="0" presId="urn:microsoft.com/office/officeart/2005/8/layout/vList2"/>
    <dgm:cxn modelId="{47F4F0A4-64CD-4B8B-B8B7-AC2A3915F493}" srcId="{65AB574B-B228-4761-B809-DE494ECE921E}" destId="{65CEB2A9-5BD6-4535-A528-21B33C174249}" srcOrd="5" destOrd="0" parTransId="{6AA51B85-3061-4B8B-8CC3-7BD1525B3C9D}" sibTransId="{E9C6E380-18D9-4FD4-AD4E-13117399E6C6}"/>
    <dgm:cxn modelId="{0C49B6A7-A54D-4DD3-B5E6-54CF23DD5FA0}" srcId="{15146AC3-6495-487A-A59A-8678BB69A317}" destId="{86085957-A16E-4C72-9138-6C9B64D9352A}" srcOrd="0" destOrd="0" parTransId="{CED142A3-A150-4AD6-BF64-C2D0D9AB8325}" sibTransId="{34E2DA64-A300-4B38-B3C1-837FD4B7034D}"/>
    <dgm:cxn modelId="{BE1412A9-1119-4F21-B485-E7D97EB4536C}" srcId="{65AB574B-B228-4761-B809-DE494ECE921E}" destId="{059EDBCB-948C-4167-9E05-D7FA4430C710}" srcOrd="7" destOrd="0" parTransId="{C30138CD-322E-4752-BF80-6BA24B2A04EE}" sibTransId="{3FB4102A-92D2-49B6-A11A-EDEBCABA80E8}"/>
    <dgm:cxn modelId="{BDB0B6B5-0797-4743-9A13-174B6ECCC4F9}" type="presOf" srcId="{15146AC3-6495-487A-A59A-8678BB69A317}" destId="{3F3C2C25-13E4-4654-B5C1-D27896EACFE2}" srcOrd="0" destOrd="0" presId="urn:microsoft.com/office/officeart/2005/8/layout/vList2"/>
    <dgm:cxn modelId="{306B0FB6-47B7-4746-B8FC-E7C1E70997A7}" srcId="{15146AC3-6495-487A-A59A-8678BB69A317}" destId="{F329B068-9BC4-4462-B9D5-9A619FF5230B}" srcOrd="1" destOrd="0" parTransId="{38D78629-776E-4003-A22F-FEAF89B391DA}" sibTransId="{13BD7148-BC80-4FB7-8095-67E29808C76F}"/>
    <dgm:cxn modelId="{7C61CDC6-5FC6-4052-990B-51D7AC3358FB}" type="presOf" srcId="{723998F3-6070-48DD-8746-FDB1F9EAA5F7}" destId="{031E98BD-2ED7-4F07-82B3-A3B4BCE7E46A}" srcOrd="0" destOrd="3" presId="urn:microsoft.com/office/officeart/2005/8/layout/vList2"/>
    <dgm:cxn modelId="{95E485D1-0FB9-4070-BAF8-BFE66F220D00}" srcId="{65AB574B-B228-4761-B809-DE494ECE921E}" destId="{7B9225A7-FD91-4913-B81A-EDEBE91C28E3}" srcOrd="8" destOrd="0" parTransId="{ED0B2524-25E1-4155-AFE6-71980C6486C3}" sibTransId="{F7EB1606-4867-4AC3-9E4B-E5F8C276A8C6}"/>
    <dgm:cxn modelId="{B3A839ED-EB96-4088-8ABD-9E6808581660}" type="presOf" srcId="{A9944A70-02D3-410C-928B-EFEB24C5B54F}" destId="{031E98BD-2ED7-4F07-82B3-A3B4BCE7E46A}" srcOrd="0" destOrd="1" presId="urn:microsoft.com/office/officeart/2005/8/layout/vList2"/>
    <dgm:cxn modelId="{0DED66ED-72AC-463E-A3B3-2C7058AE774A}" type="presOf" srcId="{7B9225A7-FD91-4913-B81A-EDEBE91C28E3}" destId="{031E98BD-2ED7-4F07-82B3-A3B4BCE7E46A}" srcOrd="0" destOrd="8" presId="urn:microsoft.com/office/officeart/2005/8/layout/vList2"/>
    <dgm:cxn modelId="{FDB199B1-7E72-43AB-B9C2-F3D265C450B9}" type="presParOf" srcId="{8CCB2EA1-111B-46B8-8079-7492E1B5542B}" destId="{3F3C2C25-13E4-4654-B5C1-D27896EACFE2}" srcOrd="0" destOrd="0" presId="urn:microsoft.com/office/officeart/2005/8/layout/vList2"/>
    <dgm:cxn modelId="{2329F8B0-0E3C-4A8A-A2FC-EDA3AD5061BB}" type="presParOf" srcId="{8CCB2EA1-111B-46B8-8079-7492E1B5542B}" destId="{133D3FF6-4C61-4E47-9673-BECA49670E51}" srcOrd="1" destOrd="0" presId="urn:microsoft.com/office/officeart/2005/8/layout/vList2"/>
    <dgm:cxn modelId="{29134945-F12C-4B0A-927A-FE5B8314DD38}" type="presParOf" srcId="{8CCB2EA1-111B-46B8-8079-7492E1B5542B}" destId="{CA1DEA98-0227-4375-B7C1-4CDD8CECB021}" srcOrd="2" destOrd="0" presId="urn:microsoft.com/office/officeart/2005/8/layout/vList2"/>
    <dgm:cxn modelId="{C3CDAE7C-6E37-401D-AB71-D79FAAAE42C1}" type="presParOf" srcId="{8CCB2EA1-111B-46B8-8079-7492E1B5542B}" destId="{031E98BD-2ED7-4F07-82B3-A3B4BCE7E46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C2C25-13E4-4654-B5C1-D27896EACFE2}">
      <dsp:nvSpPr>
        <dsp:cNvPr id="0" name=""/>
        <dsp:cNvSpPr/>
      </dsp:nvSpPr>
      <dsp:spPr>
        <a:xfrm>
          <a:off x="0" y="1047"/>
          <a:ext cx="8097520" cy="4381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badi Extra Light" panose="020B0204020104020204" pitchFamily="34" charset="0"/>
            </a:rPr>
            <a:t>Mandatory parameters</a:t>
          </a:r>
        </a:p>
      </dsp:txBody>
      <dsp:txXfrm>
        <a:off x="21390" y="22437"/>
        <a:ext cx="8054740" cy="395397"/>
      </dsp:txXfrm>
    </dsp:sp>
    <dsp:sp modelId="{133D3FF6-4C61-4E47-9673-BECA49670E51}">
      <dsp:nvSpPr>
        <dsp:cNvPr id="0" name=""/>
        <dsp:cNvSpPr/>
      </dsp:nvSpPr>
      <dsp:spPr>
        <a:xfrm>
          <a:off x="0" y="439224"/>
          <a:ext cx="8097520"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Input file containing patients and mutations.</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Folder containing pathways and their genes.</a:t>
          </a:r>
        </a:p>
      </dsp:txBody>
      <dsp:txXfrm>
        <a:off x="0" y="439224"/>
        <a:ext cx="8097520" cy="678960"/>
      </dsp:txXfrm>
    </dsp:sp>
    <dsp:sp modelId="{CA1DEA98-0227-4375-B7C1-4CDD8CECB021}">
      <dsp:nvSpPr>
        <dsp:cNvPr id="0" name=""/>
        <dsp:cNvSpPr/>
      </dsp:nvSpPr>
      <dsp:spPr>
        <a:xfrm>
          <a:off x="0" y="1118184"/>
          <a:ext cx="8097520" cy="42391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badi Extra Light" panose="020B0204020104020204" pitchFamily="34" charset="0"/>
            </a:rPr>
            <a:t>Optional parameters: act as filters</a:t>
          </a:r>
        </a:p>
      </dsp:txBody>
      <dsp:txXfrm>
        <a:off x="20694" y="1138878"/>
        <a:ext cx="8056132" cy="382528"/>
      </dsp:txXfrm>
    </dsp:sp>
    <dsp:sp modelId="{031E98BD-2ED7-4F07-82B3-A3B4BCE7E46A}">
      <dsp:nvSpPr>
        <dsp:cNvPr id="0" name=""/>
        <dsp:cNvSpPr/>
      </dsp:nvSpPr>
      <dsp:spPr>
        <a:xfrm>
          <a:off x="0" y="1542101"/>
          <a:ext cx="8097520" cy="263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Pathways.</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Genes.</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Patients.</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Mutations.</a:t>
          </a:r>
        </a:p>
        <a:p>
          <a:pPr marL="171450" lvl="1" indent="-171450" algn="l" defTabSz="800100">
            <a:lnSpc>
              <a:spcPct val="90000"/>
            </a:lnSpc>
            <a:spcBef>
              <a:spcPct val="0"/>
            </a:spcBef>
            <a:spcAft>
              <a:spcPct val="20000"/>
            </a:spcAft>
            <a:buChar char="•"/>
          </a:pPr>
          <a:r>
            <a:rPr lang="en-US" sz="1800" kern="1200" dirty="0" err="1">
              <a:latin typeface="Abadi Extra Light" panose="020B0204020104020204" pitchFamily="34" charset="0"/>
            </a:rPr>
            <a:t>pLI</a:t>
          </a:r>
          <a:r>
            <a:rPr lang="en-US" sz="1800" kern="1200" dirty="0">
              <a:latin typeface="Abadi Extra Light" panose="020B0204020104020204" pitchFamily="34" charset="0"/>
            </a:rPr>
            <a:t>.</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Max control AF.</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PolyPhen2 prediction label.</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MPC.</a:t>
          </a:r>
        </a:p>
        <a:p>
          <a:pPr marL="171450" lvl="1" indent="-171450" algn="l" defTabSz="800100">
            <a:lnSpc>
              <a:spcPct val="90000"/>
            </a:lnSpc>
            <a:spcBef>
              <a:spcPct val="0"/>
            </a:spcBef>
            <a:spcAft>
              <a:spcPct val="20000"/>
            </a:spcAft>
            <a:buChar char="•"/>
          </a:pPr>
          <a:r>
            <a:rPr lang="en-US" sz="1800" kern="1200" dirty="0">
              <a:latin typeface="Abadi Extra Light" panose="020B0204020104020204" pitchFamily="34" charset="0"/>
            </a:rPr>
            <a:t>Adjusted consequence.</a:t>
          </a:r>
        </a:p>
      </dsp:txBody>
      <dsp:txXfrm>
        <a:off x="0" y="1542101"/>
        <a:ext cx="8097520" cy="26309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A641305-E248-4842-AEF6-36C2F2A111BC}" type="datetimeFigureOut">
              <a:rPr lang="en-US" smtClean="0"/>
              <a:t>9/3/2019</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0B20743B-7677-4FA6-A7F0-12EE4ABB5816}" type="slidenum">
              <a:rPr lang="en-US" smtClean="0"/>
              <a:t>‹#›</a:t>
            </a:fld>
            <a:endParaRPr lang="en-US"/>
          </a:p>
        </p:txBody>
      </p:sp>
    </p:spTree>
    <p:extLst>
      <p:ext uri="{BB962C8B-B14F-4D97-AF65-F5344CB8AC3E}">
        <p14:creationId xmlns:p14="http://schemas.microsoft.com/office/powerpoint/2010/main" val="169374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0"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3"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7"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9"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7"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8"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9"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40"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41"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42"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6"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4"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65"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9"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3"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5"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76"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80"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81"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3"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84"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85"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86"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87"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88"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12"/>
          <p:cNvPicPr/>
          <p:nvPr/>
        </p:nvPicPr>
        <p:blipFill>
          <a:blip r:embed="rId14"/>
          <a:srcRect l="19261" t="20543" r="23607" b="31256"/>
          <a:stretch/>
        </p:blipFill>
        <p:spPr>
          <a:xfrm>
            <a:off x="0" y="1507320"/>
            <a:ext cx="9142920" cy="5131800"/>
          </a:xfrm>
          <a:prstGeom prst="rect">
            <a:avLst/>
          </a:prstGeom>
          <a:ln>
            <a:noFill/>
          </a:ln>
        </p:spPr>
      </p:pic>
      <p:sp>
        <p:nvSpPr>
          <p:cNvPr id="8" name="Line 1"/>
          <p:cNvSpPr/>
          <p:nvPr/>
        </p:nvSpPr>
        <p:spPr>
          <a:xfrm>
            <a:off x="-11880" y="1388520"/>
            <a:ext cx="9155880" cy="360"/>
          </a:xfrm>
          <a:prstGeom prst="line">
            <a:avLst/>
          </a:prstGeom>
          <a:ln w="241200">
            <a:solidFill>
              <a:srgbClr val="00AAE9"/>
            </a:solidFill>
            <a:round/>
          </a:ln>
        </p:spPr>
        <p:style>
          <a:lnRef idx="1">
            <a:schemeClr val="accent1"/>
          </a:lnRef>
          <a:fillRef idx="0">
            <a:schemeClr val="accent1"/>
          </a:fillRef>
          <a:effectRef idx="0">
            <a:schemeClr val="accent1"/>
          </a:effectRef>
          <a:fontRef idx="minor"/>
        </p:style>
      </p:sp>
      <p:sp>
        <p:nvSpPr>
          <p:cNvPr id="2" name="Line 2"/>
          <p:cNvSpPr/>
          <p:nvPr/>
        </p:nvSpPr>
        <p:spPr>
          <a:xfrm>
            <a:off x="-11880" y="6748920"/>
            <a:ext cx="9155880" cy="360"/>
          </a:xfrm>
          <a:prstGeom prst="line">
            <a:avLst/>
          </a:prstGeom>
          <a:ln w="241200">
            <a:solidFill>
              <a:schemeClr val="accent2"/>
            </a:solidFill>
            <a:round/>
          </a:ln>
        </p:spPr>
        <p:style>
          <a:lnRef idx="1">
            <a:schemeClr val="accent1"/>
          </a:lnRef>
          <a:fillRef idx="0">
            <a:schemeClr val="accent1"/>
          </a:fillRef>
          <a:effectRef idx="0">
            <a:schemeClr val="accent1"/>
          </a:effectRef>
          <a:fontRef idx="minor"/>
        </p:style>
      </p:sp>
      <p:pic>
        <p:nvPicPr>
          <p:cNvPr id="3" name="Picture 11"/>
          <p:cNvPicPr/>
          <p:nvPr/>
        </p:nvPicPr>
        <p:blipFill>
          <a:blip r:embed="rId15"/>
          <a:stretch/>
        </p:blipFill>
        <p:spPr>
          <a:xfrm>
            <a:off x="285840" y="357480"/>
            <a:ext cx="2799360" cy="628200"/>
          </a:xfrm>
          <a:prstGeom prst="rect">
            <a:avLst/>
          </a:prstGeom>
          <a:ln>
            <a:noFill/>
          </a:ln>
        </p:spPr>
      </p:pic>
      <p:sp>
        <p:nvSpPr>
          <p:cNvPr id="4" name="PlaceHolder 3"/>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 name="PlaceHolder 4"/>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pic>
        <p:nvPicPr>
          <p:cNvPr id="6" name="Picture 5"/>
          <p:cNvPicPr/>
          <p:nvPr/>
        </p:nvPicPr>
        <p:blipFill>
          <a:blip r:embed="rId16"/>
          <a:stretch/>
        </p:blipFill>
        <p:spPr>
          <a:xfrm>
            <a:off x="3295800" y="512640"/>
            <a:ext cx="544320" cy="32976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Line 1"/>
          <p:cNvSpPr/>
          <p:nvPr/>
        </p:nvSpPr>
        <p:spPr>
          <a:xfrm>
            <a:off x="200160" y="6352560"/>
            <a:ext cx="8691120" cy="360"/>
          </a:xfrm>
          <a:prstGeom prst="line">
            <a:avLst/>
          </a:prstGeom>
          <a:ln>
            <a:solidFill>
              <a:schemeClr val="accent1"/>
            </a:solidFill>
            <a:round/>
          </a:ln>
        </p:spPr>
        <p:style>
          <a:lnRef idx="1">
            <a:schemeClr val="accent1"/>
          </a:lnRef>
          <a:fillRef idx="0">
            <a:schemeClr val="accent1"/>
          </a:fillRef>
          <a:effectRef idx="0">
            <a:schemeClr val="accent1"/>
          </a:effectRef>
          <a:fontRef idx="minor"/>
        </p:style>
      </p:sp>
      <p:sp>
        <p:nvSpPr>
          <p:cNvPr id="44" name="CustomShape 2"/>
          <p:cNvSpPr/>
          <p:nvPr/>
        </p:nvSpPr>
        <p:spPr>
          <a:xfrm>
            <a:off x="200520" y="6481080"/>
            <a:ext cx="7480080" cy="393480"/>
          </a:xfrm>
          <a:prstGeom prst="rect">
            <a:avLst/>
          </a:prstGeom>
          <a:noFill/>
          <a:ln>
            <a:noFill/>
          </a:ln>
        </p:spPr>
        <p:style>
          <a:lnRef idx="0">
            <a:scrgbClr r="0" g="0" b="0"/>
          </a:lnRef>
          <a:fillRef idx="0">
            <a:scrgbClr r="0" g="0" b="0"/>
          </a:fillRef>
          <a:effectRef idx="0">
            <a:scrgbClr r="0" g="0" b="0"/>
          </a:effectRef>
          <a:fontRef idx="minor"/>
        </p:style>
        <p:txBody>
          <a:bodyPr lIns="0" tIns="45000" rIns="90000" bIns="45000"/>
          <a:lstStyle/>
          <a:p>
            <a:pPr>
              <a:lnSpc>
                <a:spcPct val="100000"/>
              </a:lnSpc>
            </a:pPr>
            <a:r>
              <a:rPr lang="en-US" sz="1000" b="1" strike="noStrike" spc="-1">
                <a:solidFill>
                  <a:srgbClr val="00AEEF"/>
                </a:solidFill>
                <a:latin typeface="Tahoma"/>
                <a:ea typeface="Tahoma"/>
              </a:rPr>
              <a:t>CONFIDENTIAL</a:t>
            </a:r>
            <a:r>
              <a:rPr lang="en-US" sz="1000" b="0" strike="noStrike" spc="-1">
                <a:solidFill>
                  <a:srgbClr val="4D4D4F"/>
                </a:solidFill>
                <a:latin typeface="Tahoma"/>
                <a:ea typeface="Tahoma"/>
              </a:rPr>
              <a:t> </a:t>
            </a:r>
            <a:r>
              <a:rPr lang="en-US" sz="1000" b="0" strike="noStrike" spc="-1">
                <a:solidFill>
                  <a:srgbClr val="757070"/>
                </a:solidFill>
                <a:latin typeface="Tahoma"/>
                <a:ea typeface="Tahoma"/>
              </a:rPr>
              <a:t>STALICLA R&amp;D – Do not use, modify or transmit content without prior authorization  </a:t>
            </a:r>
            <a:endParaRPr lang="en-US" sz="1000" b="0" strike="noStrike" spc="-1">
              <a:latin typeface="Arial"/>
            </a:endParaRPr>
          </a:p>
        </p:txBody>
      </p:sp>
      <p:grpSp>
        <p:nvGrpSpPr>
          <p:cNvPr id="45" name="Group 3"/>
          <p:cNvGrpSpPr/>
          <p:nvPr/>
        </p:nvGrpSpPr>
        <p:grpSpPr>
          <a:xfrm>
            <a:off x="-7200" y="158040"/>
            <a:ext cx="9151200" cy="1213560"/>
            <a:chOff x="-7200" y="158040"/>
            <a:chExt cx="9151200" cy="1213560"/>
          </a:xfrm>
        </p:grpSpPr>
        <p:pic>
          <p:nvPicPr>
            <p:cNvPr id="46" name="Picture 29"/>
            <p:cNvPicPr/>
            <p:nvPr/>
          </p:nvPicPr>
          <p:blipFill>
            <a:blip r:embed="rId14"/>
            <a:srcRect t="20824" r="3163" b="28132"/>
            <a:stretch/>
          </p:blipFill>
          <p:spPr>
            <a:xfrm>
              <a:off x="-4320" y="712440"/>
              <a:ext cx="9147240" cy="646920"/>
            </a:xfrm>
            <a:prstGeom prst="rect">
              <a:avLst/>
            </a:prstGeom>
            <a:ln>
              <a:noFill/>
            </a:ln>
          </p:spPr>
        </p:pic>
        <p:sp>
          <p:nvSpPr>
            <p:cNvPr id="47" name="Line 4"/>
            <p:cNvSpPr/>
            <p:nvPr/>
          </p:nvSpPr>
          <p:spPr>
            <a:xfrm>
              <a:off x="-7200" y="704520"/>
              <a:ext cx="9151200" cy="360"/>
            </a:xfrm>
            <a:prstGeom prst="line">
              <a:avLst/>
            </a:prstGeom>
            <a:ln w="34920">
              <a:solidFill>
                <a:srgbClr val="00AAE9"/>
              </a:solidFill>
              <a:round/>
            </a:ln>
          </p:spPr>
          <p:style>
            <a:lnRef idx="1">
              <a:schemeClr val="accent1"/>
            </a:lnRef>
            <a:fillRef idx="0">
              <a:schemeClr val="accent1"/>
            </a:fillRef>
            <a:effectRef idx="0">
              <a:schemeClr val="accent1"/>
            </a:effectRef>
            <a:fontRef idx="minor"/>
          </p:style>
        </p:sp>
        <p:sp>
          <p:nvSpPr>
            <p:cNvPr id="48" name="Line 5"/>
            <p:cNvSpPr/>
            <p:nvPr/>
          </p:nvSpPr>
          <p:spPr>
            <a:xfrm>
              <a:off x="-7200" y="1371240"/>
              <a:ext cx="9151200" cy="360"/>
            </a:xfrm>
            <a:prstGeom prst="line">
              <a:avLst/>
            </a:prstGeom>
            <a:ln w="34920">
              <a:solidFill>
                <a:schemeClr val="accent2"/>
              </a:solidFill>
              <a:round/>
            </a:ln>
          </p:spPr>
          <p:style>
            <a:lnRef idx="1">
              <a:schemeClr val="accent1"/>
            </a:lnRef>
            <a:fillRef idx="0">
              <a:schemeClr val="accent1"/>
            </a:fillRef>
            <a:effectRef idx="0">
              <a:schemeClr val="accent1"/>
            </a:effectRef>
            <a:fontRef idx="minor"/>
          </p:style>
        </p:sp>
        <p:pic>
          <p:nvPicPr>
            <p:cNvPr id="49" name="Picture 32"/>
            <p:cNvPicPr/>
            <p:nvPr/>
          </p:nvPicPr>
          <p:blipFill>
            <a:blip r:embed="rId15"/>
            <a:stretch/>
          </p:blipFill>
          <p:spPr>
            <a:xfrm>
              <a:off x="274680" y="158040"/>
              <a:ext cx="1650600" cy="370080"/>
            </a:xfrm>
            <a:prstGeom prst="rect">
              <a:avLst/>
            </a:prstGeom>
            <a:ln>
              <a:noFill/>
            </a:ln>
          </p:spPr>
        </p:pic>
      </p:grpSp>
      <p:pic>
        <p:nvPicPr>
          <p:cNvPr id="50" name="Picture 49"/>
          <p:cNvPicPr/>
          <p:nvPr/>
        </p:nvPicPr>
        <p:blipFill>
          <a:blip r:embed="rId16"/>
          <a:stretch/>
        </p:blipFill>
        <p:spPr>
          <a:xfrm>
            <a:off x="2047680" y="216360"/>
            <a:ext cx="421200" cy="255240"/>
          </a:xfrm>
          <a:prstGeom prst="rect">
            <a:avLst/>
          </a:prstGeom>
          <a:ln>
            <a:noFill/>
          </a:ln>
        </p:spPr>
      </p:pic>
      <p:sp>
        <p:nvSpPr>
          <p:cNvPr id="51" name="PlaceHolder 6"/>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2"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mgmartinezl/Stalicla-PBP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4561840" y="2828160"/>
            <a:ext cx="3459599" cy="65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90000"/>
              </a:lnSpc>
            </a:pPr>
            <a:r>
              <a:rPr lang="en-US" sz="3200" b="1" strike="noStrike" spc="-1" dirty="0">
                <a:solidFill>
                  <a:srgbClr val="FFFFFF"/>
                </a:solidFill>
                <a:latin typeface="Abadi Extra Light" panose="020B0604020202020204" pitchFamily="34" charset="0"/>
                <a:ea typeface="Tahoma"/>
              </a:rPr>
              <a:t>Overview of the PBPM protocol</a:t>
            </a: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r>
              <a:rPr lang="en-US" sz="2400" b="1" spc="-1" dirty="0">
                <a:solidFill>
                  <a:srgbClr val="FFFFFF"/>
                </a:solidFill>
                <a:latin typeface="Abadi Extra Light" panose="020B0604020202020204" pitchFamily="34" charset="0"/>
                <a:ea typeface="Tahoma"/>
              </a:rPr>
              <a:t>Gabriela Martínez</a:t>
            </a:r>
          </a:p>
          <a:p>
            <a:pPr algn="r">
              <a:lnSpc>
                <a:spcPct val="90000"/>
              </a:lnSpc>
            </a:pPr>
            <a:r>
              <a:rPr lang="en-US" sz="2400" spc="-1" dirty="0">
                <a:solidFill>
                  <a:srgbClr val="FFFFFF"/>
                </a:solidFill>
                <a:latin typeface="Abadi Extra Light" panose="020B0604020202020204" pitchFamily="34" charset="0"/>
                <a:ea typeface="Tahoma"/>
              </a:rPr>
              <a:t>September 2019</a:t>
            </a:r>
            <a:br>
              <a:rPr dirty="0">
                <a:latin typeface="Abadi Extra Light" panose="020B0604020202020204" pitchFamily="34" charset="0"/>
              </a:rPr>
            </a:br>
            <a:endParaRPr lang="en-US" sz="3200" b="0" strike="noStrike" spc="-1" dirty="0">
              <a:latin typeface="Abadi Extra Light" panose="020B0604020202020204" pitchFamily="34" charset="0"/>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The PBPM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9" name="CustomShape 2">
            <a:extLst>
              <a:ext uri="{FF2B5EF4-FFF2-40B4-BE49-F238E27FC236}">
                <a16:creationId xmlns:a16="http://schemas.microsoft.com/office/drawing/2014/main" id="{E02F744F-5BBC-48CD-BB68-2132C42DA5E2}"/>
              </a:ext>
            </a:extLst>
          </p:cNvPr>
          <p:cNvSpPr/>
          <p:nvPr/>
        </p:nvSpPr>
        <p:spPr>
          <a:xfrm>
            <a:off x="250920" y="2024009"/>
            <a:ext cx="8476520" cy="36859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A command line inter</a:t>
            </a:r>
            <a:r>
              <a:rPr lang="en-US" sz="2000" spc="-1" dirty="0">
                <a:solidFill>
                  <a:schemeClr val="tx2"/>
                </a:solidFill>
                <a:latin typeface="Abadi Extra Light" panose="020B0604020202020204" pitchFamily="34" charset="0"/>
                <a:ea typeface="Tahoma"/>
                <a:cs typeface="Calibri Light" panose="020F0302020204030204" pitchFamily="34" charset="0"/>
              </a:rPr>
              <a:t>face program built in Python 3 to generate Patient by Disrupted Pathways Matrices (PBPMs). It generates three types of matrices: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Binary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binary (1 or 0) indicators for each column when a mutation was found for any gene in that pathway for a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Normalized 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 normalized considering the number of genes of each pathway.</a:t>
            </a:r>
          </a:p>
        </p:txBody>
      </p:sp>
    </p:spTree>
    <p:extLst>
      <p:ext uri="{BB962C8B-B14F-4D97-AF65-F5344CB8AC3E}">
        <p14:creationId xmlns:p14="http://schemas.microsoft.com/office/powerpoint/2010/main" val="780479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8FEF70-E7FD-4B4E-994A-B37726FD216B}"/>
              </a:ext>
            </a:extLst>
          </p:cNvPr>
          <p:cNvSpPr/>
          <p:nvPr/>
        </p:nvSpPr>
        <p:spPr>
          <a:xfrm>
            <a:off x="762000" y="3631115"/>
            <a:ext cx="2895600" cy="1137920"/>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Brace 2">
            <a:extLst>
              <a:ext uri="{FF2B5EF4-FFF2-40B4-BE49-F238E27FC236}">
                <a16:creationId xmlns:a16="http://schemas.microsoft.com/office/drawing/2014/main" id="{C37089EA-4BD2-45FA-AAFD-D188603CB342}"/>
              </a:ext>
            </a:extLst>
          </p:cNvPr>
          <p:cNvSpPr/>
          <p:nvPr/>
        </p:nvSpPr>
        <p:spPr>
          <a:xfrm>
            <a:off x="3718560" y="3671755"/>
            <a:ext cx="416560" cy="1097280"/>
          </a:xfrm>
          <a:prstGeom prst="rightBrace">
            <a:avLst>
              <a:gd name="adj1" fmla="val 6585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2" name="Diagram 1">
            <a:extLst>
              <a:ext uri="{FF2B5EF4-FFF2-40B4-BE49-F238E27FC236}">
                <a16:creationId xmlns:a16="http://schemas.microsoft.com/office/drawing/2014/main" id="{A2B350E0-EB28-4401-9D2E-617711966083}"/>
              </a:ext>
            </a:extLst>
          </p:cNvPr>
          <p:cNvGraphicFramePr/>
          <p:nvPr>
            <p:extLst>
              <p:ext uri="{D42A27DB-BD31-4B8C-83A1-F6EECF244321}">
                <p14:modId xmlns:p14="http://schemas.microsoft.com/office/powerpoint/2010/main" val="3152509555"/>
              </p:ext>
            </p:extLst>
          </p:nvPr>
        </p:nvGraphicFramePr>
        <p:xfrm>
          <a:off x="523240" y="2084440"/>
          <a:ext cx="8097520" cy="4174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protocol arguments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7" name="CustomShape 2">
            <a:extLst>
              <a:ext uri="{FF2B5EF4-FFF2-40B4-BE49-F238E27FC236}">
                <a16:creationId xmlns:a16="http://schemas.microsoft.com/office/drawing/2014/main" id="{FD41FB29-01BB-4BE2-A880-062C8C985758}"/>
              </a:ext>
            </a:extLst>
          </p:cNvPr>
          <p:cNvSpPr/>
          <p:nvPr/>
        </p:nvSpPr>
        <p:spPr>
          <a:xfrm>
            <a:off x="4135120" y="3848470"/>
            <a:ext cx="31333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The protocol accepts a explicit subset of them and also external files</a:t>
            </a:r>
          </a:p>
        </p:txBody>
      </p:sp>
      <p:sp>
        <p:nvSpPr>
          <p:cNvPr id="5" name="Rectangle 4">
            <a:extLst>
              <a:ext uri="{FF2B5EF4-FFF2-40B4-BE49-F238E27FC236}">
                <a16:creationId xmlns:a16="http://schemas.microsoft.com/office/drawing/2014/main" id="{6C970AE1-7AB1-4B87-A8C5-80B353FE4FD7}"/>
              </a:ext>
            </a:extLst>
          </p:cNvPr>
          <p:cNvSpPr/>
          <p:nvPr/>
        </p:nvSpPr>
        <p:spPr>
          <a:xfrm>
            <a:off x="4712700" y="6041991"/>
            <a:ext cx="4572000" cy="276999"/>
          </a:xfrm>
          <a:prstGeom prst="rect">
            <a:avLst/>
          </a:prstGeom>
        </p:spPr>
        <p:txBody>
          <a:bodyPr>
            <a:spAutoFit/>
          </a:bodyPr>
          <a:lstStyle/>
          <a:p>
            <a:r>
              <a:rPr lang="en-US" sz="1200" b="1" dirty="0">
                <a:solidFill>
                  <a:srgbClr val="24292E"/>
                </a:solidFill>
                <a:latin typeface="Abadi Extra Light" panose="020B0204020104020204" pitchFamily="34" charset="0"/>
              </a:rPr>
              <a:t>Note:</a:t>
            </a:r>
            <a:r>
              <a:rPr lang="en-US" sz="1200" dirty="0">
                <a:solidFill>
                  <a:srgbClr val="24292E"/>
                </a:solidFill>
                <a:latin typeface="Abadi Extra Light" panose="020B0204020104020204" pitchFamily="34" charset="0"/>
              </a:rPr>
              <a:t> help() is available for all the parameters via the command line.</a:t>
            </a:r>
            <a:endParaRPr lang="en-US" sz="1200" dirty="0">
              <a:latin typeface="Abadi Extra Light" panose="020B0204020104020204" pitchFamily="34" charset="0"/>
            </a:endParaRPr>
          </a:p>
        </p:txBody>
      </p:sp>
    </p:spTree>
    <p:extLst>
      <p:ext uri="{BB962C8B-B14F-4D97-AF65-F5344CB8AC3E}">
        <p14:creationId xmlns:p14="http://schemas.microsoft.com/office/powerpoint/2010/main" val="2375506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input file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The input file containing patients and mutations has the following columns*.</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Only observations with a valid </a:t>
            </a:r>
            <a:r>
              <a:rPr lang="en-US" sz="2000" b="1" spc="-1" dirty="0" err="1">
                <a:solidFill>
                  <a:schemeClr val="tx2"/>
                </a:solidFill>
                <a:latin typeface="Abadi Extra Light" panose="020B0604020202020204" pitchFamily="34" charset="0"/>
                <a:ea typeface="Tahoma"/>
                <a:cs typeface="Calibri Light" panose="020F0302020204030204" pitchFamily="34" charset="0"/>
              </a:rPr>
              <a:t>HGNC_symbol</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will be considered.</a:t>
            </a:r>
          </a:p>
        </p:txBody>
      </p:sp>
      <p:graphicFrame>
        <p:nvGraphicFramePr>
          <p:cNvPr id="5" name="Table 4">
            <a:extLst>
              <a:ext uri="{FF2B5EF4-FFF2-40B4-BE49-F238E27FC236}">
                <a16:creationId xmlns:a16="http://schemas.microsoft.com/office/drawing/2014/main" id="{F2400F9B-05E2-4D91-996C-C20E3D9D5109}"/>
              </a:ext>
            </a:extLst>
          </p:cNvPr>
          <p:cNvGraphicFramePr>
            <a:graphicFrameLocks noGrp="1"/>
          </p:cNvGraphicFramePr>
          <p:nvPr>
            <p:extLst>
              <p:ext uri="{D42A27DB-BD31-4B8C-83A1-F6EECF244321}">
                <p14:modId xmlns:p14="http://schemas.microsoft.com/office/powerpoint/2010/main" val="475802651"/>
              </p:ext>
            </p:extLst>
          </p:nvPr>
        </p:nvGraphicFramePr>
        <p:xfrm>
          <a:off x="333741" y="2919147"/>
          <a:ext cx="8393699" cy="2849880"/>
        </p:xfrm>
        <a:graphic>
          <a:graphicData uri="http://schemas.openxmlformats.org/drawingml/2006/table">
            <a:tbl>
              <a:tblPr firstRow="1" bandRow="1">
                <a:tableStyleId>{69012ECD-51FC-41F1-AA8D-1B2483CD663E}</a:tableStyleId>
              </a:tblPr>
              <a:tblGrid>
                <a:gridCol w="637647">
                  <a:extLst>
                    <a:ext uri="{9D8B030D-6E8A-4147-A177-3AD203B41FA5}">
                      <a16:colId xmlns:a16="http://schemas.microsoft.com/office/drawing/2014/main" val="566549421"/>
                    </a:ext>
                  </a:extLst>
                </a:gridCol>
                <a:gridCol w="783555">
                  <a:extLst>
                    <a:ext uri="{9D8B030D-6E8A-4147-A177-3AD203B41FA5}">
                      <a16:colId xmlns:a16="http://schemas.microsoft.com/office/drawing/2014/main" val="4270458755"/>
                    </a:ext>
                  </a:extLst>
                </a:gridCol>
                <a:gridCol w="374743">
                  <a:extLst>
                    <a:ext uri="{9D8B030D-6E8A-4147-A177-3AD203B41FA5}">
                      <a16:colId xmlns:a16="http://schemas.microsoft.com/office/drawing/2014/main" val="4148601070"/>
                    </a:ext>
                  </a:extLst>
                </a:gridCol>
                <a:gridCol w="987959">
                  <a:extLst>
                    <a:ext uri="{9D8B030D-6E8A-4147-A177-3AD203B41FA5}">
                      <a16:colId xmlns:a16="http://schemas.microsoft.com/office/drawing/2014/main" val="3977579580"/>
                    </a:ext>
                  </a:extLst>
                </a:gridCol>
                <a:gridCol w="1283212">
                  <a:extLst>
                    <a:ext uri="{9D8B030D-6E8A-4147-A177-3AD203B41FA5}">
                      <a16:colId xmlns:a16="http://schemas.microsoft.com/office/drawing/2014/main" val="460646814"/>
                    </a:ext>
                  </a:extLst>
                </a:gridCol>
                <a:gridCol w="1283212">
                  <a:extLst>
                    <a:ext uri="{9D8B030D-6E8A-4147-A177-3AD203B41FA5}">
                      <a16:colId xmlns:a16="http://schemas.microsoft.com/office/drawing/2014/main" val="2338258831"/>
                    </a:ext>
                  </a:extLst>
                </a:gridCol>
                <a:gridCol w="1374059">
                  <a:extLst>
                    <a:ext uri="{9D8B030D-6E8A-4147-A177-3AD203B41FA5}">
                      <a16:colId xmlns:a16="http://schemas.microsoft.com/office/drawing/2014/main" val="2298311088"/>
                    </a:ext>
                  </a:extLst>
                </a:gridCol>
                <a:gridCol w="352032">
                  <a:extLst>
                    <a:ext uri="{9D8B030D-6E8A-4147-A177-3AD203B41FA5}">
                      <a16:colId xmlns:a16="http://schemas.microsoft.com/office/drawing/2014/main" val="1457784495"/>
                    </a:ext>
                  </a:extLst>
                </a:gridCol>
                <a:gridCol w="658640">
                  <a:extLst>
                    <a:ext uri="{9D8B030D-6E8A-4147-A177-3AD203B41FA5}">
                      <a16:colId xmlns:a16="http://schemas.microsoft.com/office/drawing/2014/main" val="3670079129"/>
                    </a:ext>
                  </a:extLst>
                </a:gridCol>
                <a:gridCol w="658640">
                  <a:extLst>
                    <a:ext uri="{9D8B030D-6E8A-4147-A177-3AD203B41FA5}">
                      <a16:colId xmlns:a16="http://schemas.microsoft.com/office/drawing/2014/main" val="2039950121"/>
                    </a:ext>
                  </a:extLst>
                </a:gridCol>
              </a:tblGrid>
              <a:tr h="523240">
                <a:tc>
                  <a:txBody>
                    <a:bodyPr/>
                    <a:lstStyle/>
                    <a:p>
                      <a:pPr algn="ctr"/>
                      <a:r>
                        <a:rPr lang="en-US" sz="1200" dirty="0" err="1">
                          <a:latin typeface="Abadi Extra Light" panose="020B0204020104020204" pitchFamily="34" charset="0"/>
                        </a:rPr>
                        <a:t>Chr</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Position</a:t>
                      </a:r>
                    </a:p>
                  </a:txBody>
                  <a:tcPr anchor="ctr"/>
                </a:tc>
                <a:tc>
                  <a:txBody>
                    <a:bodyPr/>
                    <a:lstStyle/>
                    <a:p>
                      <a:pPr algn="ctr"/>
                      <a:r>
                        <a:rPr lang="en-US" sz="1200" dirty="0">
                          <a:latin typeface="Abadi Extra Light" panose="020B0204020104020204" pitchFamily="34" charset="0"/>
                        </a:rPr>
                        <a:t>…</a:t>
                      </a:r>
                    </a:p>
                  </a:txBody>
                  <a:tcPr anchor="ctr"/>
                </a:tc>
                <a:tc>
                  <a:txBody>
                    <a:bodyPr/>
                    <a:lstStyle/>
                    <a:p>
                      <a:pPr algn="ctr"/>
                      <a:r>
                        <a:rPr lang="en-US" sz="1200" dirty="0" err="1">
                          <a:latin typeface="Abadi Extra Light" panose="020B0204020104020204" pitchFamily="34" charset="0"/>
                        </a:rPr>
                        <a:t>child_id</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consequence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err="1">
                          <a:latin typeface="Abadi Extra Light" panose="020B0204020104020204" pitchFamily="34" charset="0"/>
                        </a:rPr>
                        <a:t>constraint_score</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pLI</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MPC</a:t>
                      </a:r>
                    </a:p>
                  </a:txBody>
                  <a:tcPr anchor="ctr"/>
                </a:tc>
                <a:extLst>
                  <a:ext uri="{0D108BD9-81ED-4DB2-BD59-A6C34878D82A}">
                    <a16:rowId xmlns:a16="http://schemas.microsoft.com/office/drawing/2014/main" val="1039042550"/>
                  </a:ext>
                </a:extLst>
              </a:tr>
              <a:tr h="467360">
                <a:tc>
                  <a:txBody>
                    <a:bodyPr/>
                    <a:lstStyle/>
                    <a:p>
                      <a:pPr algn="ctr"/>
                      <a:r>
                        <a:rPr lang="en-US" sz="1200" dirty="0">
                          <a:latin typeface="Abadi Extra Light" panose="020B0204020104020204" pitchFamily="34" charset="0"/>
                        </a:rPr>
                        <a:t>11</a:t>
                      </a:r>
                    </a:p>
                  </a:txBody>
                  <a:tcPr anchor="ctr"/>
                </a:tc>
                <a:tc>
                  <a:txBody>
                    <a:bodyPr/>
                    <a:lstStyle/>
                    <a:p>
                      <a:pPr algn="ctr"/>
                      <a:r>
                        <a:rPr lang="en-US" sz="1200" dirty="0">
                          <a:latin typeface="Abadi Extra Light" panose="020B0204020104020204" pitchFamily="34" charset="0"/>
                        </a:rPr>
                        <a:t>881802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Patient_10</a:t>
                      </a:r>
                    </a:p>
                  </a:txBody>
                  <a:tcPr anchor="ctr"/>
                </a:tc>
                <a:tc>
                  <a:txBody>
                    <a:bodyPr/>
                    <a:lstStyle/>
                    <a:p>
                      <a:pPr algn="ct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V595I</a:t>
                      </a:r>
                    </a:p>
                  </a:txBody>
                  <a:tcPr anchor="ctr"/>
                </a:tc>
                <a:tc>
                  <a:txBody>
                    <a:bodyPr/>
                    <a:lstStyle/>
                    <a:p>
                      <a:pPr algn="ctr"/>
                      <a:r>
                        <a:rPr lang="en-US" sz="1200" dirty="0">
                          <a:latin typeface="Abadi Extra Light" panose="020B0204020104020204" pitchFamily="34" charset="0"/>
                        </a:rPr>
                        <a:t>0.018</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0.14</a:t>
                      </a:r>
                    </a:p>
                  </a:txBody>
                  <a:tcPr anchor="ctr"/>
                </a:tc>
                <a:tc>
                  <a:txBody>
                    <a:bodyPr/>
                    <a:lstStyle/>
                    <a:p>
                      <a:pPr algn="ctr"/>
                      <a:r>
                        <a:rPr lang="en-US" sz="1200" dirty="0">
                          <a:latin typeface="Abadi Extra Light" panose="020B0204020104020204" pitchFamily="34" charset="0"/>
                        </a:rPr>
                        <a:t>1.7</a:t>
                      </a:r>
                    </a:p>
                  </a:txBody>
                  <a:tcPr anchor="ctr"/>
                </a:tc>
                <a:extLst>
                  <a:ext uri="{0D108BD9-81ED-4DB2-BD59-A6C34878D82A}">
                    <a16:rowId xmlns:a16="http://schemas.microsoft.com/office/drawing/2014/main" val="3447875338"/>
                  </a:ext>
                </a:extLst>
              </a:tr>
              <a:tr h="467360">
                <a:tc>
                  <a:txBody>
                    <a:bodyPr/>
                    <a:lstStyle/>
                    <a:p>
                      <a:pPr algn="ctr"/>
                      <a:r>
                        <a:rPr lang="en-US" sz="1200" dirty="0">
                          <a:latin typeface="Abadi Extra Light" panose="020B0204020104020204" pitchFamily="34" charset="0"/>
                        </a:rPr>
                        <a:t>12</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686702</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Patient_19</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Near_3splice</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0.651</a:t>
                      </a:r>
                    </a:p>
                  </a:txBody>
                  <a:tcPr anchor="ctr">
                    <a:solidFill>
                      <a:schemeClr val="accent6">
                        <a:lumMod val="40000"/>
                        <a:lumOff val="60000"/>
                      </a:schemeClr>
                    </a:solidFill>
                  </a:tcPr>
                </a:tc>
                <a:tc>
                  <a:txBody>
                    <a:bodyPr/>
                    <a:lstStyle/>
                    <a:p>
                      <a:pPr algn="ctr"/>
                      <a:endParaRPr lang="en-US" sz="120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2986409613"/>
                  </a:ext>
                </a:extLst>
              </a:tr>
              <a:tr h="477520">
                <a:tc>
                  <a:txBody>
                    <a:bodyPr/>
                    <a:lstStyle/>
                    <a:p>
                      <a:pPr algn="ctr"/>
                      <a:r>
                        <a:rPr lang="en-US" sz="1200" dirty="0">
                          <a:latin typeface="Abadi Extra Light" panose="020B0204020104020204" pitchFamily="34" charset="0"/>
                        </a:rPr>
                        <a:t>3</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981711</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Intron</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0.006</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0.35</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1146648037"/>
                  </a:ext>
                </a:extLst>
              </a:tr>
              <a:tr h="487680">
                <a:tc>
                  <a:txBody>
                    <a:bodyPr/>
                    <a:lstStyle/>
                    <a:p>
                      <a:pPr algn="ctr"/>
                      <a:r>
                        <a:rPr lang="en-US" sz="1200" dirty="0">
                          <a:latin typeface="Abadi Extra Light" panose="020B0204020104020204" pitchFamily="34" charset="0"/>
                        </a:rPr>
                        <a:t>15</a:t>
                      </a:r>
                    </a:p>
                  </a:txBody>
                  <a:tcPr anchor="ctr"/>
                </a:tc>
                <a:tc>
                  <a:txBody>
                    <a:bodyPr/>
                    <a:lstStyle/>
                    <a:p>
                      <a:pPr algn="ctr"/>
                      <a:r>
                        <a:rPr lang="en-US" sz="1200" dirty="0">
                          <a:latin typeface="Abadi Extra Light" panose="020B0204020104020204" pitchFamily="34" charset="0"/>
                        </a:rPr>
                        <a:t>1121834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Patient_31</a:t>
                      </a:r>
                    </a:p>
                  </a:txBody>
                  <a:tcPr anchor="ctr"/>
                </a:tc>
                <a:tc>
                  <a:txBody>
                    <a:bodyPr/>
                    <a:lstStyle/>
                    <a:p>
                      <a:pPr algn="ctr"/>
                      <a:r>
                        <a:rPr lang="en-US" sz="1200" dirty="0">
                          <a:latin typeface="Abadi Extra Light" panose="020B0204020104020204" pitchFamily="34" charset="0"/>
                        </a:rPr>
                        <a:t>Silent</a:t>
                      </a:r>
                    </a:p>
                  </a:txBody>
                  <a:tcPr anchor="ctr"/>
                </a:tc>
                <a:tc>
                  <a:txBody>
                    <a:bodyPr/>
                    <a:lstStyle/>
                    <a:p>
                      <a:pPr algn="ctr"/>
                      <a:r>
                        <a:rPr lang="en-US" sz="1200" dirty="0">
                          <a:latin typeface="Abadi Extra Light" panose="020B0204020104020204" pitchFamily="34" charset="0"/>
                        </a:rPr>
                        <a:t>R589R</a:t>
                      </a:r>
                    </a:p>
                  </a:txBody>
                  <a:tcPr anchor="ctr"/>
                </a:tc>
                <a:tc>
                  <a:txBody>
                    <a:bodyPr/>
                    <a:lstStyle/>
                    <a:p>
                      <a:pPr algn="ctr"/>
                      <a:r>
                        <a:rPr lang="en-US" sz="1200" dirty="0">
                          <a:latin typeface="Abadi Extra Light" panose="020B0204020104020204" pitchFamily="34" charset="0"/>
                        </a:rPr>
                        <a:t>0.124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0.05</a:t>
                      </a:r>
                    </a:p>
                  </a:txBody>
                  <a:tcPr anchor="ctr"/>
                </a:tc>
                <a:tc>
                  <a:txBody>
                    <a:bodyPr/>
                    <a:lstStyle/>
                    <a:p>
                      <a:pPr algn="ctr"/>
                      <a:r>
                        <a:rPr lang="en-US" sz="1200" dirty="0">
                          <a:latin typeface="Abadi Extra Light" panose="020B0204020104020204" pitchFamily="34" charset="0"/>
                        </a:rPr>
                        <a:t>NA</a:t>
                      </a:r>
                    </a:p>
                  </a:txBody>
                  <a:tcPr anchor="ctr"/>
                </a:tc>
                <a:extLst>
                  <a:ext uri="{0D108BD9-81ED-4DB2-BD59-A6C34878D82A}">
                    <a16:rowId xmlns:a16="http://schemas.microsoft.com/office/drawing/2014/main" val="3169565482"/>
                  </a:ext>
                </a:extLst>
              </a:tr>
              <a:tr h="426720">
                <a:tc>
                  <a:txBody>
                    <a:bodyPr/>
                    <a:lstStyle/>
                    <a:p>
                      <a:pPr algn="ctr"/>
                      <a:r>
                        <a:rPr lang="en-US" sz="1200" dirty="0">
                          <a:latin typeface="Abadi Extra Light" panose="020B0204020104020204" pitchFamily="34" charset="0"/>
                        </a:rPr>
                        <a:t>20</a:t>
                      </a:r>
                    </a:p>
                  </a:txBody>
                  <a:tcPr anchor="ctr"/>
                </a:tc>
                <a:tc>
                  <a:txBody>
                    <a:bodyPr/>
                    <a:lstStyle/>
                    <a:p>
                      <a:pPr algn="ctr"/>
                      <a:r>
                        <a:rPr lang="en-US" sz="1200" dirty="0">
                          <a:latin typeface="Abadi Extra Light" panose="020B0204020104020204" pitchFamily="34" charset="0"/>
                        </a:rPr>
                        <a:t>541255</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Patient_98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L239P</a:t>
                      </a:r>
                    </a:p>
                  </a:txBody>
                  <a:tcPr anchor="ctr"/>
                </a:tc>
                <a:tc>
                  <a:txBody>
                    <a:bodyPr/>
                    <a:lstStyle/>
                    <a:p>
                      <a:pPr algn="ctr"/>
                      <a:r>
                        <a:rPr lang="en-US" sz="1200" dirty="0">
                          <a:latin typeface="Abadi Extra Light" panose="020B0204020104020204" pitchFamily="34" charset="0"/>
                        </a:rPr>
                        <a:t>0.032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0.12</a:t>
                      </a:r>
                    </a:p>
                  </a:txBody>
                  <a:tcPr anchor="ctr"/>
                </a:tc>
                <a:tc>
                  <a:txBody>
                    <a:bodyPr/>
                    <a:lstStyle/>
                    <a:p>
                      <a:pPr algn="ctr"/>
                      <a:r>
                        <a:rPr lang="en-US" sz="1200" dirty="0">
                          <a:latin typeface="Abadi Extra Light" panose="020B0204020104020204" pitchFamily="34" charset="0"/>
                        </a:rPr>
                        <a:t>3.5</a:t>
                      </a:r>
                    </a:p>
                  </a:txBody>
                  <a:tcPr anchor="ctr"/>
                </a:tc>
                <a:extLst>
                  <a:ext uri="{0D108BD9-81ED-4DB2-BD59-A6C34878D82A}">
                    <a16:rowId xmlns:a16="http://schemas.microsoft.com/office/drawing/2014/main" val="3400704830"/>
                  </a:ext>
                </a:extLst>
              </a:tr>
            </a:tbl>
          </a:graphicData>
        </a:graphic>
      </p:graphicFrame>
      <p:sp>
        <p:nvSpPr>
          <p:cNvPr id="6" name="CustomShape 2">
            <a:extLst>
              <a:ext uri="{FF2B5EF4-FFF2-40B4-BE49-F238E27FC236}">
                <a16:creationId xmlns:a16="http://schemas.microsoft.com/office/drawing/2014/main" id="{FEF86476-B539-4D76-A7B1-278DAAD7170F}"/>
              </a:ext>
            </a:extLst>
          </p:cNvPr>
          <p:cNvSpPr/>
          <p:nvPr/>
        </p:nvSpPr>
        <p:spPr>
          <a:xfrm>
            <a:off x="129000" y="597990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200" spc="-1" dirty="0">
                <a:solidFill>
                  <a:schemeClr val="tx2"/>
                </a:solidFill>
                <a:latin typeface="Abadi Extra Light" panose="020B0604020202020204" pitchFamily="34" charset="0"/>
                <a:ea typeface="Tahoma"/>
                <a:cs typeface="Calibri Light" panose="020F0302020204030204" pitchFamily="34" charset="0"/>
              </a:rPr>
              <a:t>*and many more. This is not exhaustive.</a:t>
            </a:r>
          </a:p>
        </p:txBody>
      </p:sp>
    </p:spTree>
    <p:extLst>
      <p:ext uri="{BB962C8B-B14F-4D97-AF65-F5344CB8AC3E}">
        <p14:creationId xmlns:p14="http://schemas.microsoft.com/office/powerpoint/2010/main" val="253854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pathways folder</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sample folder to build the PBPM protocol contained 80 pathways, for which the files ended with </a:t>
            </a:r>
            <a:r>
              <a:rPr lang="en-US" sz="2000" b="1" spc="-1" dirty="0">
                <a:solidFill>
                  <a:schemeClr val="tx2"/>
                </a:solidFill>
                <a:latin typeface="Abadi Extra Light" panose="020B0604020202020204" pitchFamily="34" charset="0"/>
                <a:ea typeface="Tahoma"/>
                <a:cs typeface="Calibri Light" panose="020F0302020204030204" pitchFamily="34" charset="0"/>
              </a:rPr>
              <a:t>“_</a:t>
            </a:r>
            <a:r>
              <a:rPr lang="en-US" sz="2000" b="1" spc="-1" dirty="0" err="1">
                <a:solidFill>
                  <a:schemeClr val="tx2"/>
                </a:solidFill>
                <a:latin typeface="Abadi Extra Light" panose="020B0604020202020204" pitchFamily="34" charset="0"/>
                <a:ea typeface="Tahoma"/>
                <a:cs typeface="Calibri Light" panose="020F0302020204030204" pitchFamily="34" charset="0"/>
              </a:rPr>
              <a:t>gene_annotations</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were considered </a:t>
            </a:r>
          </a:p>
        </p:txBody>
      </p:sp>
      <p:sp>
        <p:nvSpPr>
          <p:cNvPr id="6" name="CustomShape 2">
            <a:extLst>
              <a:ext uri="{FF2B5EF4-FFF2-40B4-BE49-F238E27FC236}">
                <a16:creationId xmlns:a16="http://schemas.microsoft.com/office/drawing/2014/main" id="{FEF86476-B539-4D76-A7B1-278DAAD7170F}"/>
              </a:ext>
            </a:extLst>
          </p:cNvPr>
          <p:cNvSpPr/>
          <p:nvPr/>
        </p:nvSpPr>
        <p:spPr>
          <a:xfrm>
            <a:off x="416560" y="2621280"/>
            <a:ext cx="34879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Folder structure</a:t>
            </a:r>
          </a:p>
        </p:txBody>
      </p:sp>
      <p:pic>
        <p:nvPicPr>
          <p:cNvPr id="2" name="Picture 1">
            <a:extLst>
              <a:ext uri="{FF2B5EF4-FFF2-40B4-BE49-F238E27FC236}">
                <a16:creationId xmlns:a16="http://schemas.microsoft.com/office/drawing/2014/main" id="{C1205647-F7CB-47FC-BDF1-0C340F4742C2}"/>
              </a:ext>
            </a:extLst>
          </p:cNvPr>
          <p:cNvPicPr>
            <a:picLocks noChangeAspect="1"/>
          </p:cNvPicPr>
          <p:nvPr/>
        </p:nvPicPr>
        <p:blipFill>
          <a:blip r:embed="rId2"/>
          <a:stretch>
            <a:fillRect/>
          </a:stretch>
        </p:blipFill>
        <p:spPr>
          <a:xfrm>
            <a:off x="932632" y="3182991"/>
            <a:ext cx="2761064" cy="2902849"/>
          </a:xfrm>
          <a:prstGeom prst="rect">
            <a:avLst/>
          </a:prstGeom>
        </p:spPr>
      </p:pic>
      <p:sp>
        <p:nvSpPr>
          <p:cNvPr id="3" name="Arrow: Bent-Up 2">
            <a:extLst>
              <a:ext uri="{FF2B5EF4-FFF2-40B4-BE49-F238E27FC236}">
                <a16:creationId xmlns:a16="http://schemas.microsoft.com/office/drawing/2014/main" id="{B71BC966-EF6F-4F5C-B7D7-C0224706441D}"/>
              </a:ext>
            </a:extLst>
          </p:cNvPr>
          <p:cNvSpPr/>
          <p:nvPr/>
        </p:nvSpPr>
        <p:spPr>
          <a:xfrm rot="5400000">
            <a:off x="694871" y="318067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519A2CB0-B130-4B51-A023-C21C970B1477}"/>
              </a:ext>
            </a:extLst>
          </p:cNvPr>
          <p:cNvGraphicFramePr>
            <a:graphicFrameLocks noGrp="1"/>
          </p:cNvGraphicFramePr>
          <p:nvPr>
            <p:extLst>
              <p:ext uri="{D42A27DB-BD31-4B8C-83A1-F6EECF244321}">
                <p14:modId xmlns:p14="http://schemas.microsoft.com/office/powerpoint/2010/main" val="2297765367"/>
              </p:ext>
            </p:extLst>
          </p:nvPr>
        </p:nvGraphicFramePr>
        <p:xfrm>
          <a:off x="4564418" y="3375288"/>
          <a:ext cx="2272891" cy="2148467"/>
        </p:xfrm>
        <a:graphic>
          <a:graphicData uri="http://schemas.openxmlformats.org/drawingml/2006/table">
            <a:tbl>
              <a:tblPr firstRow="1" bandRow="1">
                <a:tableStyleId>{69012ECD-51FC-41F1-AA8D-1B2483CD663E}</a:tableStyleId>
              </a:tblPr>
              <a:tblGrid>
                <a:gridCol w="871908">
                  <a:extLst>
                    <a:ext uri="{9D8B030D-6E8A-4147-A177-3AD203B41FA5}">
                      <a16:colId xmlns:a16="http://schemas.microsoft.com/office/drawing/2014/main" val="566549421"/>
                    </a:ext>
                  </a:extLst>
                </a:gridCol>
                <a:gridCol w="1048951">
                  <a:extLst>
                    <a:ext uri="{9D8B030D-6E8A-4147-A177-3AD203B41FA5}">
                      <a16:colId xmlns:a16="http://schemas.microsoft.com/office/drawing/2014/main" val="2338258831"/>
                    </a:ext>
                  </a:extLst>
                </a:gridCol>
                <a:gridCol w="352032">
                  <a:extLst>
                    <a:ext uri="{9D8B030D-6E8A-4147-A177-3AD203B41FA5}">
                      <a16:colId xmlns:a16="http://schemas.microsoft.com/office/drawing/2014/main" val="1457784495"/>
                    </a:ext>
                  </a:extLst>
                </a:gridCol>
              </a:tblGrid>
              <a:tr h="394460">
                <a:tc>
                  <a:txBody>
                    <a:bodyPr/>
                    <a:lstStyle/>
                    <a:p>
                      <a:pPr algn="ctr"/>
                      <a:r>
                        <a:rPr lang="en-US" sz="1200" dirty="0">
                          <a:latin typeface="Abadi Extra Light" panose="020B0204020104020204" pitchFamily="34" charset="0"/>
                        </a:rPr>
                        <a:t>Pathway_1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extLst>
                  <a:ext uri="{0D108BD9-81ED-4DB2-BD59-A6C34878D82A}">
                    <a16:rowId xmlns:a16="http://schemas.microsoft.com/office/drawing/2014/main" val="1039042550"/>
                  </a:ext>
                </a:extLst>
              </a:tr>
              <a:tr h="352333">
                <a:tc>
                  <a:txBody>
                    <a:bodyPr/>
                    <a:lstStyle/>
                    <a:p>
                      <a:pPr algn="ctr"/>
                      <a:r>
                        <a:rPr lang="en-US" sz="1200" dirty="0">
                          <a:latin typeface="Abadi Extra Light" panose="020B0204020104020204" pitchFamily="34" charset="0"/>
                        </a:rPr>
                        <a:t>SCN4A</a:t>
                      </a:r>
                    </a:p>
                  </a:txBody>
                  <a:tcPr anchor="ctr">
                    <a:noFill/>
                  </a:tcPr>
                </a:tc>
                <a:tc>
                  <a:txBody>
                    <a:bodyPr/>
                    <a:lstStyle/>
                    <a:p>
                      <a:pPr algn="ctr"/>
                      <a:r>
                        <a:rPr lang="en-US" sz="1200" dirty="0">
                          <a:latin typeface="Abadi Extra Light" panose="020B0204020104020204" pitchFamily="34" charset="0"/>
                        </a:rPr>
                        <a:t>SCN4A</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447875338"/>
                  </a:ext>
                </a:extLst>
              </a:tr>
              <a:tr h="352333">
                <a:tc>
                  <a:txBody>
                    <a:bodyPr/>
                    <a:lstStyle/>
                    <a:p>
                      <a:pPr algn="ctr"/>
                      <a:r>
                        <a:rPr lang="en-US" sz="1200" dirty="0">
                          <a:latin typeface="Abadi Extra Light" panose="020B0204020104020204" pitchFamily="34" charset="0"/>
                        </a:rPr>
                        <a:t>ANK1</a:t>
                      </a:r>
                    </a:p>
                  </a:txBody>
                  <a:tcPr anchor="ctr">
                    <a:noFill/>
                  </a:tcPr>
                </a:tc>
                <a:tc>
                  <a:txBody>
                    <a:bodyPr/>
                    <a:lstStyle/>
                    <a:p>
                      <a:pPr algn="ctr"/>
                      <a:r>
                        <a:rPr lang="en-US" sz="1200" dirty="0">
                          <a:latin typeface="Abadi Extra Light" panose="020B0204020104020204" pitchFamily="34" charset="0"/>
                        </a:rPr>
                        <a:t>ANK1</a:t>
                      </a:r>
                    </a:p>
                  </a:txBody>
                  <a:tcPr anchor="ctr">
                    <a:noFill/>
                  </a:tcPr>
                </a:tc>
                <a:tc>
                  <a:txBody>
                    <a:bodyPr/>
                    <a:lstStyle/>
                    <a:p>
                      <a:pPr algn="ctr"/>
                      <a:endParaRPr lang="en-US" sz="1200">
                        <a:latin typeface="Abadi Extra Light" panose="020B0204020104020204" pitchFamily="34" charset="0"/>
                      </a:endParaRPr>
                    </a:p>
                  </a:txBody>
                  <a:tcPr anchor="ctr">
                    <a:noFill/>
                  </a:tcPr>
                </a:tc>
                <a:extLst>
                  <a:ext uri="{0D108BD9-81ED-4DB2-BD59-A6C34878D82A}">
                    <a16:rowId xmlns:a16="http://schemas.microsoft.com/office/drawing/2014/main" val="2986409613"/>
                  </a:ext>
                </a:extLst>
              </a:tr>
              <a:tr h="359993">
                <a:tc>
                  <a:txBody>
                    <a:bodyPr/>
                    <a:lstStyle/>
                    <a:p>
                      <a:pPr algn="ctr"/>
                      <a:r>
                        <a:rPr lang="en-US" sz="1200" dirty="0">
                          <a:latin typeface="Abadi Extra Light" panose="020B0204020104020204" pitchFamily="34" charset="0"/>
                        </a:rPr>
                        <a:t>SPTB</a:t>
                      </a:r>
                    </a:p>
                  </a:txBody>
                  <a:tcPr anchor="ctr">
                    <a:noFill/>
                  </a:tcPr>
                </a:tc>
                <a:tc>
                  <a:txBody>
                    <a:bodyPr/>
                    <a:lstStyle/>
                    <a:p>
                      <a:pPr algn="ctr"/>
                      <a:r>
                        <a:rPr lang="en-US" sz="1200" dirty="0">
                          <a:latin typeface="Abadi Extra Light" panose="020B0204020104020204" pitchFamily="34" charset="0"/>
                        </a:rPr>
                        <a:t>SPTB</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1146648037"/>
                  </a:ext>
                </a:extLst>
              </a:tr>
              <a:tr h="367652">
                <a:tc>
                  <a:txBody>
                    <a:bodyPr/>
                    <a:lstStyle/>
                    <a:p>
                      <a:pPr algn="ctr"/>
                      <a:r>
                        <a:rPr lang="en-US" sz="1200" dirty="0">
                          <a:latin typeface="Abadi Extra Light" panose="020B0204020104020204" pitchFamily="34" charset="0"/>
                        </a:rPr>
                        <a:t>KCNQ2</a:t>
                      </a:r>
                    </a:p>
                  </a:txBody>
                  <a:tcPr anchor="ctr">
                    <a:noFill/>
                  </a:tcPr>
                </a:tc>
                <a:tc>
                  <a:txBody>
                    <a:bodyPr/>
                    <a:lstStyle/>
                    <a:p>
                      <a:pPr algn="ctr"/>
                      <a:r>
                        <a:rPr lang="en-US" sz="1200" dirty="0">
                          <a:latin typeface="Abadi Extra Light" panose="020B0204020104020204" pitchFamily="34" charset="0"/>
                        </a:rPr>
                        <a:t>KCNQ2</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169565482"/>
                  </a:ext>
                </a:extLst>
              </a:tr>
              <a:tr h="321696">
                <a:tc>
                  <a:txBody>
                    <a:bodyPr/>
                    <a:lstStyle/>
                    <a:p>
                      <a:pPr algn="ctr"/>
                      <a:r>
                        <a:rPr lang="en-US" sz="1200" dirty="0">
                          <a:latin typeface="Abadi Extra Light" panose="020B0204020104020204" pitchFamily="34" charset="0"/>
                        </a:rPr>
                        <a:t>ACTB</a:t>
                      </a:r>
                    </a:p>
                  </a:txBody>
                  <a:tcPr anchor="ctr"/>
                </a:tc>
                <a:tc>
                  <a:txBody>
                    <a:bodyPr/>
                    <a:lstStyle/>
                    <a:p>
                      <a:pPr algn="ctr"/>
                      <a:r>
                        <a:rPr lang="en-US" sz="1200" dirty="0">
                          <a:latin typeface="Abadi Extra Light" panose="020B0204020104020204" pitchFamily="34" charset="0"/>
                        </a:rPr>
                        <a:t>ACTB</a:t>
                      </a:r>
                    </a:p>
                  </a:txBody>
                  <a:tcPr anchor="ctr"/>
                </a:tc>
                <a:tc>
                  <a:txBody>
                    <a:bodyPr/>
                    <a:lstStyle/>
                    <a:p>
                      <a:pPr algn="ctr"/>
                      <a:endParaRPr lang="en-US" sz="1200" dirty="0">
                        <a:latin typeface="Abadi Extra Light" panose="020B0204020104020204" pitchFamily="34" charset="0"/>
                      </a:endParaRPr>
                    </a:p>
                  </a:txBody>
                  <a:tcPr anchor="ctr"/>
                </a:tc>
                <a:extLst>
                  <a:ext uri="{0D108BD9-81ED-4DB2-BD59-A6C34878D82A}">
                    <a16:rowId xmlns:a16="http://schemas.microsoft.com/office/drawing/2014/main" val="3400704830"/>
                  </a:ext>
                </a:extLst>
              </a:tr>
            </a:tbl>
          </a:graphicData>
        </a:graphic>
      </p:graphicFrame>
      <p:cxnSp>
        <p:nvCxnSpPr>
          <p:cNvPr id="10" name="Straight Arrow Connector 9">
            <a:extLst>
              <a:ext uri="{FF2B5EF4-FFF2-40B4-BE49-F238E27FC236}">
                <a16:creationId xmlns:a16="http://schemas.microsoft.com/office/drawing/2014/main" id="{AB065B3B-1915-4FBB-AD5E-6E622329C38E}"/>
              </a:ext>
            </a:extLst>
          </p:cNvPr>
          <p:cNvCxnSpPr>
            <a:cxnSpLocks/>
          </p:cNvCxnSpPr>
          <p:nvPr/>
        </p:nvCxnSpPr>
        <p:spPr>
          <a:xfrm>
            <a:off x="3571694" y="3576320"/>
            <a:ext cx="6656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506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optional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Final PBPMs will be filtered according to the optional arguments included in the analysis. Examples will illustrate this as follows:</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86676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31432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extract only specific pathways. If no setting is provided, all available pathways will be extracted by default.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1: it will run only for pathway R-HSA-69620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2: it will run for all possible pathways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13" name="Picture 12">
            <a:extLst>
              <a:ext uri="{FF2B5EF4-FFF2-40B4-BE49-F238E27FC236}">
                <a16:creationId xmlns:a16="http://schemas.microsoft.com/office/drawing/2014/main" id="{C1187F47-4A4C-48B1-B906-84B20ACF29EB}"/>
              </a:ext>
            </a:extLst>
          </p:cNvPr>
          <p:cNvPicPr>
            <a:picLocks noChangeAspect="1"/>
          </p:cNvPicPr>
          <p:nvPr/>
        </p:nvPicPr>
        <p:blipFill>
          <a:blip r:embed="rId2"/>
          <a:stretch>
            <a:fillRect/>
          </a:stretch>
        </p:blipFill>
        <p:spPr>
          <a:xfrm>
            <a:off x="640080" y="4473506"/>
            <a:ext cx="7518400" cy="237924"/>
          </a:xfrm>
          <a:prstGeom prst="rect">
            <a:avLst/>
          </a:prstGeom>
        </p:spPr>
      </p:pic>
      <p:pic>
        <p:nvPicPr>
          <p:cNvPr id="14" name="Picture 13">
            <a:extLst>
              <a:ext uri="{FF2B5EF4-FFF2-40B4-BE49-F238E27FC236}">
                <a16:creationId xmlns:a16="http://schemas.microsoft.com/office/drawing/2014/main" id="{8BBE415A-FEBE-4434-B2C3-E39259156BD4}"/>
              </a:ext>
            </a:extLst>
          </p:cNvPr>
          <p:cNvPicPr>
            <a:picLocks noChangeAspect="1"/>
          </p:cNvPicPr>
          <p:nvPr/>
        </p:nvPicPr>
        <p:blipFill>
          <a:blip r:embed="rId3"/>
          <a:stretch>
            <a:fillRect/>
          </a:stretch>
        </p:blipFill>
        <p:spPr>
          <a:xfrm>
            <a:off x="630555" y="5309702"/>
            <a:ext cx="6085205" cy="257790"/>
          </a:xfrm>
          <a:prstGeom prst="rect">
            <a:avLst/>
          </a:prstGeom>
        </p:spPr>
      </p:pic>
      <p:sp>
        <p:nvSpPr>
          <p:cNvPr id="15" name="Oval 14">
            <a:extLst>
              <a:ext uri="{FF2B5EF4-FFF2-40B4-BE49-F238E27FC236}">
                <a16:creationId xmlns:a16="http://schemas.microsoft.com/office/drawing/2014/main" id="{0BFE9AAB-0147-4B97-B850-0BC49E6E2F5C}"/>
              </a:ext>
            </a:extLst>
          </p:cNvPr>
          <p:cNvSpPr/>
          <p:nvPr/>
        </p:nvSpPr>
        <p:spPr>
          <a:xfrm>
            <a:off x="6715760" y="4318000"/>
            <a:ext cx="1544320"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6464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31432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294FF8C0-B60C-4405-BD20-D6C388ABDF49}"/>
              </a:ext>
            </a:extLst>
          </p:cNvPr>
          <p:cNvSpPr/>
          <p:nvPr/>
        </p:nvSpPr>
        <p:spPr>
          <a:xfrm>
            <a:off x="250920" y="2082801"/>
            <a:ext cx="8476520" cy="238759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For more than one pathway,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pathways separated by comma (without spaces):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u="sng"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pathways to filter written in the first column: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2" name="Picture 1">
            <a:extLst>
              <a:ext uri="{FF2B5EF4-FFF2-40B4-BE49-F238E27FC236}">
                <a16:creationId xmlns:a16="http://schemas.microsoft.com/office/drawing/2014/main" id="{E2F63511-6400-43D3-A916-2771697500D8}"/>
              </a:ext>
            </a:extLst>
          </p:cNvPr>
          <p:cNvPicPr>
            <a:picLocks noChangeAspect="1"/>
          </p:cNvPicPr>
          <p:nvPr/>
        </p:nvPicPr>
        <p:blipFill>
          <a:blip r:embed="rId2"/>
          <a:stretch>
            <a:fillRect/>
          </a:stretch>
        </p:blipFill>
        <p:spPr>
          <a:xfrm>
            <a:off x="672147" y="2960262"/>
            <a:ext cx="2943225" cy="295275"/>
          </a:xfrm>
          <a:prstGeom prst="rect">
            <a:avLst/>
          </a:prstGeom>
        </p:spPr>
      </p:pic>
      <p:pic>
        <p:nvPicPr>
          <p:cNvPr id="3" name="Picture 2">
            <a:extLst>
              <a:ext uri="{FF2B5EF4-FFF2-40B4-BE49-F238E27FC236}">
                <a16:creationId xmlns:a16="http://schemas.microsoft.com/office/drawing/2014/main" id="{C9A3D412-7168-4DBC-867D-90F62995D6C5}"/>
              </a:ext>
            </a:extLst>
          </p:cNvPr>
          <p:cNvPicPr>
            <a:picLocks noChangeAspect="1"/>
          </p:cNvPicPr>
          <p:nvPr/>
        </p:nvPicPr>
        <p:blipFill>
          <a:blip r:embed="rId3"/>
          <a:stretch>
            <a:fillRect/>
          </a:stretch>
        </p:blipFill>
        <p:spPr>
          <a:xfrm>
            <a:off x="672147" y="4094527"/>
            <a:ext cx="6257925" cy="304800"/>
          </a:xfrm>
          <a:prstGeom prst="rect">
            <a:avLst/>
          </a:prstGeom>
        </p:spPr>
      </p:pic>
      <p:pic>
        <p:nvPicPr>
          <p:cNvPr id="5" name="Picture 4">
            <a:extLst>
              <a:ext uri="{FF2B5EF4-FFF2-40B4-BE49-F238E27FC236}">
                <a16:creationId xmlns:a16="http://schemas.microsoft.com/office/drawing/2014/main" id="{9AA32244-B955-4C98-95BD-766BC9CE4B71}"/>
              </a:ext>
            </a:extLst>
          </p:cNvPr>
          <p:cNvPicPr>
            <a:picLocks noChangeAspect="1"/>
          </p:cNvPicPr>
          <p:nvPr/>
        </p:nvPicPr>
        <p:blipFill>
          <a:blip r:embed="rId4"/>
          <a:stretch>
            <a:fillRect/>
          </a:stretch>
        </p:blipFill>
        <p:spPr>
          <a:xfrm>
            <a:off x="6695601" y="4529192"/>
            <a:ext cx="1798159" cy="1728101"/>
          </a:xfrm>
          <a:prstGeom prst="rect">
            <a:avLst/>
          </a:prstGeom>
        </p:spPr>
      </p:pic>
      <p:sp>
        <p:nvSpPr>
          <p:cNvPr id="16" name="Arrow: Bent-Up 15">
            <a:extLst>
              <a:ext uri="{FF2B5EF4-FFF2-40B4-BE49-F238E27FC236}">
                <a16:creationId xmlns:a16="http://schemas.microsoft.com/office/drawing/2014/main" id="{95661814-90FC-42B7-B05E-73CFCFBFE377}"/>
              </a:ext>
            </a:extLst>
          </p:cNvPr>
          <p:cNvSpPr/>
          <p:nvPr/>
        </p:nvSpPr>
        <p:spPr>
          <a:xfrm rot="5400000">
            <a:off x="6232071" y="4526877"/>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157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Genes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extract only specific genes. If no setting is provided, all available genes will be extracted by default.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it will run only for gene CTR9</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4" name="Picture 3">
            <a:extLst>
              <a:ext uri="{FF2B5EF4-FFF2-40B4-BE49-F238E27FC236}">
                <a16:creationId xmlns:a16="http://schemas.microsoft.com/office/drawing/2014/main" id="{7BB98D92-5757-4B35-835D-AAF069D80A5E}"/>
              </a:ext>
            </a:extLst>
          </p:cNvPr>
          <p:cNvPicPr>
            <a:picLocks noChangeAspect="1"/>
          </p:cNvPicPr>
          <p:nvPr/>
        </p:nvPicPr>
        <p:blipFill>
          <a:blip r:embed="rId2"/>
          <a:stretch>
            <a:fillRect/>
          </a:stretch>
        </p:blipFill>
        <p:spPr>
          <a:xfrm>
            <a:off x="660400" y="3309939"/>
            <a:ext cx="7752080" cy="270781"/>
          </a:xfrm>
          <a:prstGeom prst="rect">
            <a:avLst/>
          </a:prstGeom>
        </p:spPr>
      </p:pic>
      <p:sp>
        <p:nvSpPr>
          <p:cNvPr id="14" name="CustomShape 2">
            <a:extLst>
              <a:ext uri="{FF2B5EF4-FFF2-40B4-BE49-F238E27FC236}">
                <a16:creationId xmlns:a16="http://schemas.microsoft.com/office/drawing/2014/main" id="{1E27A6A5-3585-4F09-960C-AE419E5126B4}"/>
              </a:ext>
            </a:extLst>
          </p:cNvPr>
          <p:cNvSpPr/>
          <p:nvPr/>
        </p:nvSpPr>
        <p:spPr>
          <a:xfrm>
            <a:off x="250920" y="375932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For more than one gene,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genes separated by comma (without spaces):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u="sng"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genes to filter:</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6" name="Picture 5">
            <a:extLst>
              <a:ext uri="{FF2B5EF4-FFF2-40B4-BE49-F238E27FC236}">
                <a16:creationId xmlns:a16="http://schemas.microsoft.com/office/drawing/2014/main" id="{4B94F33C-5A43-4D4D-9A42-2063CEEA10DA}"/>
              </a:ext>
            </a:extLst>
          </p:cNvPr>
          <p:cNvPicPr>
            <a:picLocks noChangeAspect="1"/>
          </p:cNvPicPr>
          <p:nvPr/>
        </p:nvPicPr>
        <p:blipFill>
          <a:blip r:embed="rId3"/>
          <a:stretch>
            <a:fillRect/>
          </a:stretch>
        </p:blipFill>
        <p:spPr>
          <a:xfrm>
            <a:off x="660401" y="4586932"/>
            <a:ext cx="1371600" cy="232229"/>
          </a:xfrm>
          <a:prstGeom prst="rect">
            <a:avLst/>
          </a:prstGeom>
        </p:spPr>
      </p:pic>
      <p:pic>
        <p:nvPicPr>
          <p:cNvPr id="7" name="Picture 6">
            <a:extLst>
              <a:ext uri="{FF2B5EF4-FFF2-40B4-BE49-F238E27FC236}">
                <a16:creationId xmlns:a16="http://schemas.microsoft.com/office/drawing/2014/main" id="{C40399C6-6B08-4499-A295-66A180E5F513}"/>
              </a:ext>
            </a:extLst>
          </p:cNvPr>
          <p:cNvPicPr>
            <a:picLocks noChangeAspect="1"/>
          </p:cNvPicPr>
          <p:nvPr/>
        </p:nvPicPr>
        <p:blipFill>
          <a:blip r:embed="rId4"/>
          <a:stretch>
            <a:fillRect/>
          </a:stretch>
        </p:blipFill>
        <p:spPr>
          <a:xfrm>
            <a:off x="660401" y="5437234"/>
            <a:ext cx="4541520" cy="258646"/>
          </a:xfrm>
          <a:prstGeom prst="rect">
            <a:avLst/>
          </a:prstGeom>
        </p:spPr>
      </p:pic>
      <p:pic>
        <p:nvPicPr>
          <p:cNvPr id="8" name="Picture 7">
            <a:extLst>
              <a:ext uri="{FF2B5EF4-FFF2-40B4-BE49-F238E27FC236}">
                <a16:creationId xmlns:a16="http://schemas.microsoft.com/office/drawing/2014/main" id="{DCD4110A-0668-43DD-B282-AD5C9A197406}"/>
              </a:ext>
            </a:extLst>
          </p:cNvPr>
          <p:cNvPicPr>
            <a:picLocks noChangeAspect="1"/>
          </p:cNvPicPr>
          <p:nvPr/>
        </p:nvPicPr>
        <p:blipFill>
          <a:blip r:embed="rId5"/>
          <a:stretch>
            <a:fillRect/>
          </a:stretch>
        </p:blipFill>
        <p:spPr>
          <a:xfrm>
            <a:off x="5355589" y="5442800"/>
            <a:ext cx="1837691" cy="872387"/>
          </a:xfrm>
          <a:prstGeom prst="rect">
            <a:avLst/>
          </a:prstGeom>
        </p:spPr>
      </p:pic>
      <p:sp>
        <p:nvSpPr>
          <p:cNvPr id="17" name="Arrow: Bent-Up 16">
            <a:extLst>
              <a:ext uri="{FF2B5EF4-FFF2-40B4-BE49-F238E27FC236}">
                <a16:creationId xmlns:a16="http://schemas.microsoft.com/office/drawing/2014/main" id="{E4756863-C52B-412E-BB18-9394678C6B1D}"/>
              </a:ext>
            </a:extLst>
          </p:cNvPr>
          <p:cNvSpPr/>
          <p:nvPr/>
        </p:nvSpPr>
        <p:spPr>
          <a:xfrm rot="5400000">
            <a:off x="4809302" y="5784893"/>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069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Patients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extract only specific child IDs. If no setting is provided, all available patients will be extracted by default.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it will run only for patient with ID 1</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75932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For more than one patient,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patients IDs separated by comma (without spaces):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u="sng"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patients to filter:</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7" name="Arrow: Bent-Up 16">
            <a:extLst>
              <a:ext uri="{FF2B5EF4-FFF2-40B4-BE49-F238E27FC236}">
                <a16:creationId xmlns:a16="http://schemas.microsoft.com/office/drawing/2014/main" id="{E4756863-C52B-412E-BB18-9394678C6B1D}"/>
              </a:ext>
            </a:extLst>
          </p:cNvPr>
          <p:cNvSpPr/>
          <p:nvPr/>
        </p:nvSpPr>
        <p:spPr>
          <a:xfrm rot="5400000">
            <a:off x="5073462" y="57902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FC74F5E-B0BD-4180-93A6-D88E3D799DEF}"/>
              </a:ext>
            </a:extLst>
          </p:cNvPr>
          <p:cNvPicPr>
            <a:picLocks noChangeAspect="1"/>
          </p:cNvPicPr>
          <p:nvPr/>
        </p:nvPicPr>
        <p:blipFill>
          <a:blip r:embed="rId2"/>
          <a:stretch>
            <a:fillRect/>
          </a:stretch>
        </p:blipFill>
        <p:spPr>
          <a:xfrm>
            <a:off x="629921" y="3317433"/>
            <a:ext cx="7772399" cy="228600"/>
          </a:xfrm>
          <a:prstGeom prst="rect">
            <a:avLst/>
          </a:prstGeom>
        </p:spPr>
      </p:pic>
      <p:pic>
        <p:nvPicPr>
          <p:cNvPr id="3" name="Picture 2">
            <a:extLst>
              <a:ext uri="{FF2B5EF4-FFF2-40B4-BE49-F238E27FC236}">
                <a16:creationId xmlns:a16="http://schemas.microsoft.com/office/drawing/2014/main" id="{65DF43BF-D8EA-4CC4-A63C-BBA62EF71C83}"/>
              </a:ext>
            </a:extLst>
          </p:cNvPr>
          <p:cNvPicPr>
            <a:picLocks noChangeAspect="1"/>
          </p:cNvPicPr>
          <p:nvPr/>
        </p:nvPicPr>
        <p:blipFill>
          <a:blip r:embed="rId3"/>
          <a:stretch>
            <a:fillRect/>
          </a:stretch>
        </p:blipFill>
        <p:spPr>
          <a:xfrm>
            <a:off x="629921" y="4585362"/>
            <a:ext cx="2286611" cy="233775"/>
          </a:xfrm>
          <a:prstGeom prst="rect">
            <a:avLst/>
          </a:prstGeom>
        </p:spPr>
      </p:pic>
      <p:pic>
        <p:nvPicPr>
          <p:cNvPr id="5" name="Picture 4">
            <a:extLst>
              <a:ext uri="{FF2B5EF4-FFF2-40B4-BE49-F238E27FC236}">
                <a16:creationId xmlns:a16="http://schemas.microsoft.com/office/drawing/2014/main" id="{3A322F65-CE28-4123-B883-EA4C2363578B}"/>
              </a:ext>
            </a:extLst>
          </p:cNvPr>
          <p:cNvPicPr>
            <a:picLocks noChangeAspect="1"/>
          </p:cNvPicPr>
          <p:nvPr/>
        </p:nvPicPr>
        <p:blipFill>
          <a:blip r:embed="rId4"/>
          <a:stretch>
            <a:fillRect/>
          </a:stretch>
        </p:blipFill>
        <p:spPr>
          <a:xfrm>
            <a:off x="645162" y="5444073"/>
            <a:ext cx="4810758" cy="240538"/>
          </a:xfrm>
          <a:prstGeom prst="rect">
            <a:avLst/>
          </a:prstGeom>
        </p:spPr>
      </p:pic>
      <p:pic>
        <p:nvPicPr>
          <p:cNvPr id="9" name="Picture 8">
            <a:extLst>
              <a:ext uri="{FF2B5EF4-FFF2-40B4-BE49-F238E27FC236}">
                <a16:creationId xmlns:a16="http://schemas.microsoft.com/office/drawing/2014/main" id="{538C9DCA-9C39-4EDC-8FC5-3309DBE78275}"/>
              </a:ext>
            </a:extLst>
          </p:cNvPr>
          <p:cNvPicPr>
            <a:picLocks noChangeAspect="1"/>
          </p:cNvPicPr>
          <p:nvPr/>
        </p:nvPicPr>
        <p:blipFill rotWithShape="1">
          <a:blip r:embed="rId5"/>
          <a:srcRect b="12754"/>
          <a:stretch/>
        </p:blipFill>
        <p:spPr>
          <a:xfrm>
            <a:off x="5568950" y="5444073"/>
            <a:ext cx="2387637" cy="829563"/>
          </a:xfrm>
          <a:prstGeom prst="rect">
            <a:avLst/>
          </a:prstGeom>
        </p:spPr>
      </p:pic>
    </p:spTree>
    <p:extLst>
      <p:ext uri="{BB962C8B-B14F-4D97-AF65-F5344CB8AC3E}">
        <p14:creationId xmlns:p14="http://schemas.microsoft.com/office/powerpoint/2010/main" val="3989859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Mutations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476520" cy="248703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extract only specific mutations. If no setting is provided, all available consequences will be extracted by default.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it will run only for mutations of type '</a:t>
            </a:r>
            <a:r>
              <a:rPr lang="en-US" sz="2000" spc="-1" dirty="0" err="1">
                <a:solidFill>
                  <a:schemeClr val="tx2"/>
                </a:solidFill>
                <a:latin typeface="Abadi Extra Light" panose="020B0604020202020204" pitchFamily="34" charset="0"/>
                <a:ea typeface="Tahoma"/>
                <a:cs typeface="Calibri Light" panose="020F0302020204030204" pitchFamily="34" charset="0"/>
              </a:rPr>
              <a:t>missense_variant</a:t>
            </a:r>
            <a:r>
              <a:rPr lang="en-US" sz="2000" spc="-1" dirty="0">
                <a:solidFill>
                  <a:schemeClr val="tx2"/>
                </a:solidFill>
                <a:latin typeface="Abadi Extra Light" panose="020B0604020202020204" pitchFamily="34" charset="0"/>
                <a:ea typeface="Tahoma"/>
                <a:cs typeface="Calibri Light" panose="020F0302020204030204" pitchFamily="34" charset="0"/>
              </a:rPr>
              <a:t>'</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83044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For more than one mutation,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mutations separated by comma (without spaces):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u="sng"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mutations to filter.</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4" name="Picture 3">
            <a:extLst>
              <a:ext uri="{FF2B5EF4-FFF2-40B4-BE49-F238E27FC236}">
                <a16:creationId xmlns:a16="http://schemas.microsoft.com/office/drawing/2014/main" id="{DEF71B9A-9C06-42AA-949F-BBA897684116}"/>
              </a:ext>
            </a:extLst>
          </p:cNvPr>
          <p:cNvPicPr>
            <a:picLocks noChangeAspect="1"/>
          </p:cNvPicPr>
          <p:nvPr/>
        </p:nvPicPr>
        <p:blipFill>
          <a:blip r:embed="rId2"/>
          <a:stretch>
            <a:fillRect/>
          </a:stretch>
        </p:blipFill>
        <p:spPr>
          <a:xfrm>
            <a:off x="653780" y="3331433"/>
            <a:ext cx="7670800" cy="539654"/>
          </a:xfrm>
          <a:prstGeom prst="rect">
            <a:avLst/>
          </a:prstGeom>
        </p:spPr>
      </p:pic>
      <p:pic>
        <p:nvPicPr>
          <p:cNvPr id="6" name="Picture 5">
            <a:extLst>
              <a:ext uri="{FF2B5EF4-FFF2-40B4-BE49-F238E27FC236}">
                <a16:creationId xmlns:a16="http://schemas.microsoft.com/office/drawing/2014/main" id="{E72ACC08-617F-4DEE-A2FD-BEFC602A5009}"/>
              </a:ext>
            </a:extLst>
          </p:cNvPr>
          <p:cNvPicPr>
            <a:picLocks noChangeAspect="1"/>
          </p:cNvPicPr>
          <p:nvPr/>
        </p:nvPicPr>
        <p:blipFill>
          <a:blip r:embed="rId3"/>
          <a:stretch>
            <a:fillRect/>
          </a:stretch>
        </p:blipFill>
        <p:spPr>
          <a:xfrm>
            <a:off x="653780" y="4903392"/>
            <a:ext cx="2720975" cy="270594"/>
          </a:xfrm>
          <a:prstGeom prst="rect">
            <a:avLst/>
          </a:prstGeom>
        </p:spPr>
      </p:pic>
    </p:spTree>
    <p:extLst>
      <p:ext uri="{BB962C8B-B14F-4D97-AF65-F5344CB8AC3E}">
        <p14:creationId xmlns:p14="http://schemas.microsoft.com/office/powerpoint/2010/main" val="2874642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err="1">
                <a:solidFill>
                  <a:schemeClr val="accent1"/>
                </a:solidFill>
                <a:latin typeface="Abadi Extra Light" panose="020B0604020202020204" pitchFamily="34" charset="0"/>
                <a:ea typeface="Tahoma"/>
                <a:cs typeface="Calibri Light" panose="020F0302020204030204" pitchFamily="34" charset="0"/>
              </a:rPr>
              <a:t>pLI</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10"/>
            <a:ext cx="8334280" cy="1512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a:t>
            </a:r>
            <a:r>
              <a:rPr lang="en-US" sz="2000" spc="-1" dirty="0" err="1">
                <a:solidFill>
                  <a:schemeClr val="tx2"/>
                </a:solidFill>
                <a:latin typeface="Abadi Extra Light" panose="020B0604020202020204" pitchFamily="34" charset="0"/>
                <a:ea typeface="Tahoma"/>
                <a:cs typeface="Calibri Light" panose="020F0302020204030204" pitchFamily="34" charset="0"/>
              </a:rPr>
              <a:t>pLI</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2" name="Picture 1">
            <a:extLst>
              <a:ext uri="{FF2B5EF4-FFF2-40B4-BE49-F238E27FC236}">
                <a16:creationId xmlns:a16="http://schemas.microsoft.com/office/drawing/2014/main" id="{2482199D-209D-4E67-A1C7-1D1149A9F8FB}"/>
              </a:ext>
            </a:extLst>
          </p:cNvPr>
          <p:cNvPicPr>
            <a:picLocks noChangeAspect="1"/>
          </p:cNvPicPr>
          <p:nvPr/>
        </p:nvPicPr>
        <p:blipFill>
          <a:blip r:embed="rId2"/>
          <a:stretch>
            <a:fillRect/>
          </a:stretch>
        </p:blipFill>
        <p:spPr>
          <a:xfrm>
            <a:off x="423640" y="2805610"/>
            <a:ext cx="7982220" cy="251409"/>
          </a:xfrm>
          <a:prstGeom prst="rect">
            <a:avLst/>
          </a:prstGeom>
        </p:spPr>
      </p:pic>
      <p:sp>
        <p:nvSpPr>
          <p:cNvPr id="8" name="Oval 7">
            <a:extLst>
              <a:ext uri="{FF2B5EF4-FFF2-40B4-BE49-F238E27FC236}">
                <a16:creationId xmlns:a16="http://schemas.microsoft.com/office/drawing/2014/main" id="{2A2DDEBC-D2CA-40D1-A569-0863DD24C081}"/>
              </a:ext>
            </a:extLst>
          </p:cNvPr>
          <p:cNvSpPr/>
          <p:nvPr/>
        </p:nvSpPr>
        <p:spPr>
          <a:xfrm>
            <a:off x="7389630" y="2684477"/>
            <a:ext cx="1016230"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stomShape 2">
            <a:extLst>
              <a:ext uri="{FF2B5EF4-FFF2-40B4-BE49-F238E27FC236}">
                <a16:creationId xmlns:a16="http://schemas.microsoft.com/office/drawing/2014/main" id="{5869EA53-7B7E-4870-8336-D24D39865CEE}"/>
              </a:ext>
            </a:extLst>
          </p:cNvPr>
          <p:cNvSpPr/>
          <p:nvPr/>
        </p:nvSpPr>
        <p:spPr>
          <a:xfrm>
            <a:off x="250920" y="333309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Max control AF</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96518C84-16EE-4B11-A2BF-49F4202C6A11}"/>
              </a:ext>
            </a:extLst>
          </p:cNvPr>
          <p:cNvSpPr/>
          <p:nvPr/>
        </p:nvSpPr>
        <p:spPr>
          <a:xfrm>
            <a:off x="250920" y="3780662"/>
            <a:ext cx="8334280" cy="1512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less than a </a:t>
            </a:r>
            <a:r>
              <a:rPr lang="en-US" sz="2000" spc="-1" dirty="0" err="1">
                <a:solidFill>
                  <a:schemeClr val="tx2"/>
                </a:solidFill>
                <a:latin typeface="Abadi Extra Light" panose="020B0604020202020204" pitchFamily="34" charset="0"/>
                <a:ea typeface="Tahoma"/>
                <a:cs typeface="Calibri Light" panose="020F0302020204030204" pitchFamily="34" charset="0"/>
              </a:rPr>
              <a:t>max_control_AF</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3" name="Picture 2">
            <a:extLst>
              <a:ext uri="{FF2B5EF4-FFF2-40B4-BE49-F238E27FC236}">
                <a16:creationId xmlns:a16="http://schemas.microsoft.com/office/drawing/2014/main" id="{11A0CF7F-99FB-46D9-87F1-073225209817}"/>
              </a:ext>
            </a:extLst>
          </p:cNvPr>
          <p:cNvPicPr>
            <a:picLocks noChangeAspect="1"/>
          </p:cNvPicPr>
          <p:nvPr/>
        </p:nvPicPr>
        <p:blipFill>
          <a:blip r:embed="rId3"/>
          <a:stretch>
            <a:fillRect/>
          </a:stretch>
        </p:blipFill>
        <p:spPr>
          <a:xfrm>
            <a:off x="365760" y="4543418"/>
            <a:ext cx="8219440" cy="261194"/>
          </a:xfrm>
          <a:prstGeom prst="rect">
            <a:avLst/>
          </a:prstGeom>
        </p:spPr>
      </p:pic>
      <p:sp>
        <p:nvSpPr>
          <p:cNvPr id="13" name="Oval 12">
            <a:extLst>
              <a:ext uri="{FF2B5EF4-FFF2-40B4-BE49-F238E27FC236}">
                <a16:creationId xmlns:a16="http://schemas.microsoft.com/office/drawing/2014/main" id="{7882ECF5-3D6D-4805-A34F-A9A0BDF6678B}"/>
              </a:ext>
            </a:extLst>
          </p:cNvPr>
          <p:cNvSpPr/>
          <p:nvPr/>
        </p:nvSpPr>
        <p:spPr>
          <a:xfrm>
            <a:off x="7568970" y="4404475"/>
            <a:ext cx="1016230"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624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err="1">
                <a:solidFill>
                  <a:schemeClr val="accent1"/>
                </a:solidFill>
                <a:latin typeface="Abadi Extra Light" panose="020B0604020202020204" pitchFamily="34" charset="0"/>
                <a:ea typeface="Tahoma"/>
                <a:cs typeface="Calibri Light" panose="020F0302020204030204" pitchFamily="34" charset="0"/>
              </a:rPr>
              <a:t>PolyPhen</a:t>
            </a: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 predictions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10"/>
            <a:ext cx="8334280" cy="37265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for qualifiers of pph2 predictions. Available options for this parameter are: </a:t>
            </a:r>
            <a:r>
              <a:rPr lang="en-US" sz="2000" b="1" spc="-1" dirty="0">
                <a:solidFill>
                  <a:schemeClr val="tx2"/>
                </a:solidFill>
                <a:latin typeface="Abadi Extra Light" panose="020B0604020202020204" pitchFamily="34" charset="0"/>
                <a:ea typeface="Tahoma"/>
                <a:cs typeface="Calibri Light" panose="020F0302020204030204" pitchFamily="34" charset="0"/>
              </a:rPr>
              <a:t>benign, possibly damaging, and probably damaging.</a:t>
            </a:r>
            <a:r>
              <a:rPr lang="en-US" sz="2000" spc="-1" dirty="0">
                <a:solidFill>
                  <a:schemeClr val="tx2"/>
                </a:solidFill>
                <a:latin typeface="Abadi Extra Light" panose="020B0604020202020204" pitchFamily="34" charset="0"/>
                <a:ea typeface="Tahoma"/>
                <a:cs typeface="Calibri Light" panose="020F0302020204030204" pitchFamily="34" charset="0"/>
              </a:rPr>
              <a:t> Note that qualifiers must be enclosed with quotes as they hold blank spaces.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To filter more than one qualifier, you must separate their labels with comma and without spaces while keeping the quotes: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grpSp>
        <p:nvGrpSpPr>
          <p:cNvPr id="15" name="Group 14">
            <a:extLst>
              <a:ext uri="{FF2B5EF4-FFF2-40B4-BE49-F238E27FC236}">
                <a16:creationId xmlns:a16="http://schemas.microsoft.com/office/drawing/2014/main" id="{C938BDBB-45FE-4731-B1EB-2C48E2A0F587}"/>
              </a:ext>
            </a:extLst>
          </p:cNvPr>
          <p:cNvGrpSpPr/>
          <p:nvPr/>
        </p:nvGrpSpPr>
        <p:grpSpPr>
          <a:xfrm>
            <a:off x="365760" y="3307716"/>
            <a:ext cx="7599680" cy="639089"/>
            <a:chOff x="365760" y="3267076"/>
            <a:chExt cx="7599680" cy="639089"/>
          </a:xfrm>
        </p:grpSpPr>
        <p:pic>
          <p:nvPicPr>
            <p:cNvPr id="4" name="Picture 3">
              <a:extLst>
                <a:ext uri="{FF2B5EF4-FFF2-40B4-BE49-F238E27FC236}">
                  <a16:creationId xmlns:a16="http://schemas.microsoft.com/office/drawing/2014/main" id="{0F9E81F5-609E-4B64-942C-BA195BE94BAA}"/>
                </a:ext>
              </a:extLst>
            </p:cNvPr>
            <p:cNvPicPr>
              <a:picLocks noChangeAspect="1"/>
            </p:cNvPicPr>
            <p:nvPr/>
          </p:nvPicPr>
          <p:blipFill rotWithShape="1">
            <a:blip r:embed="rId2"/>
            <a:srcRect t="1" r="6383" b="10176"/>
            <a:stretch/>
          </p:blipFill>
          <p:spPr>
            <a:xfrm>
              <a:off x="365760" y="3267076"/>
              <a:ext cx="7599680" cy="260418"/>
            </a:xfrm>
            <a:prstGeom prst="rect">
              <a:avLst/>
            </a:prstGeom>
          </p:spPr>
        </p:pic>
        <p:pic>
          <p:nvPicPr>
            <p:cNvPr id="14" name="Picture 13">
              <a:extLst>
                <a:ext uri="{FF2B5EF4-FFF2-40B4-BE49-F238E27FC236}">
                  <a16:creationId xmlns:a16="http://schemas.microsoft.com/office/drawing/2014/main" id="{700C4F1A-6F36-41FC-BBEF-E4D462D93752}"/>
                </a:ext>
              </a:extLst>
            </p:cNvPr>
            <p:cNvPicPr>
              <a:picLocks noChangeAspect="1"/>
            </p:cNvPicPr>
            <p:nvPr/>
          </p:nvPicPr>
          <p:blipFill rotWithShape="1">
            <a:blip r:embed="rId2"/>
            <a:srcRect l="93742"/>
            <a:stretch/>
          </p:blipFill>
          <p:spPr>
            <a:xfrm>
              <a:off x="406400" y="3550428"/>
              <a:ext cx="508000" cy="289923"/>
            </a:xfrm>
            <a:prstGeom prst="rect">
              <a:avLst/>
            </a:prstGeom>
          </p:spPr>
        </p:pic>
        <p:pic>
          <p:nvPicPr>
            <p:cNvPr id="6" name="Picture 5">
              <a:extLst>
                <a:ext uri="{FF2B5EF4-FFF2-40B4-BE49-F238E27FC236}">
                  <a16:creationId xmlns:a16="http://schemas.microsoft.com/office/drawing/2014/main" id="{98B0A8B4-FEFA-4E4E-9817-A90E59D77A12}"/>
                </a:ext>
              </a:extLst>
            </p:cNvPr>
            <p:cNvPicPr>
              <a:picLocks noChangeAspect="1"/>
            </p:cNvPicPr>
            <p:nvPr/>
          </p:nvPicPr>
          <p:blipFill>
            <a:blip r:embed="rId3"/>
            <a:stretch>
              <a:fillRect/>
            </a:stretch>
          </p:blipFill>
          <p:spPr>
            <a:xfrm>
              <a:off x="914400" y="3560588"/>
              <a:ext cx="1879600" cy="345577"/>
            </a:xfrm>
            <a:prstGeom prst="rect">
              <a:avLst/>
            </a:prstGeom>
          </p:spPr>
        </p:pic>
      </p:grpSp>
      <p:pic>
        <p:nvPicPr>
          <p:cNvPr id="7" name="Picture 6">
            <a:extLst>
              <a:ext uri="{FF2B5EF4-FFF2-40B4-BE49-F238E27FC236}">
                <a16:creationId xmlns:a16="http://schemas.microsoft.com/office/drawing/2014/main" id="{A27E1917-290D-47AF-A766-6AADF029EE29}"/>
              </a:ext>
            </a:extLst>
          </p:cNvPr>
          <p:cNvPicPr>
            <a:picLocks noChangeAspect="1"/>
          </p:cNvPicPr>
          <p:nvPr/>
        </p:nvPicPr>
        <p:blipFill>
          <a:blip r:embed="rId4"/>
          <a:stretch>
            <a:fillRect/>
          </a:stretch>
        </p:blipFill>
        <p:spPr>
          <a:xfrm>
            <a:off x="406400" y="4696917"/>
            <a:ext cx="3606800" cy="268928"/>
          </a:xfrm>
          <a:prstGeom prst="rect">
            <a:avLst/>
          </a:prstGeom>
        </p:spPr>
      </p:pic>
    </p:spTree>
    <p:extLst>
      <p:ext uri="{BB962C8B-B14F-4D97-AF65-F5344CB8AC3E}">
        <p14:creationId xmlns:p14="http://schemas.microsoft.com/office/powerpoint/2010/main" val="1479727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MPC</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10"/>
            <a:ext cx="8334280" cy="1512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MPC threshold. Example: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4" name="Picture 3">
            <a:extLst>
              <a:ext uri="{FF2B5EF4-FFF2-40B4-BE49-F238E27FC236}">
                <a16:creationId xmlns:a16="http://schemas.microsoft.com/office/drawing/2014/main" id="{9999DA28-77CD-4C0A-8194-FF2280BC4F3A}"/>
              </a:ext>
            </a:extLst>
          </p:cNvPr>
          <p:cNvPicPr>
            <a:picLocks noChangeAspect="1"/>
          </p:cNvPicPr>
          <p:nvPr/>
        </p:nvPicPr>
        <p:blipFill>
          <a:blip r:embed="rId2"/>
          <a:stretch>
            <a:fillRect/>
          </a:stretch>
        </p:blipFill>
        <p:spPr>
          <a:xfrm>
            <a:off x="365760" y="2780211"/>
            <a:ext cx="8219440" cy="282040"/>
          </a:xfrm>
          <a:prstGeom prst="rect">
            <a:avLst/>
          </a:prstGeom>
        </p:spPr>
      </p:pic>
      <p:sp>
        <p:nvSpPr>
          <p:cNvPr id="8" name="Oval 7">
            <a:extLst>
              <a:ext uri="{FF2B5EF4-FFF2-40B4-BE49-F238E27FC236}">
                <a16:creationId xmlns:a16="http://schemas.microsoft.com/office/drawing/2014/main" id="{2A2DDEBC-D2CA-40D1-A569-0863DD24C081}"/>
              </a:ext>
            </a:extLst>
          </p:cNvPr>
          <p:cNvSpPr/>
          <p:nvPr/>
        </p:nvSpPr>
        <p:spPr>
          <a:xfrm>
            <a:off x="7568970" y="2674394"/>
            <a:ext cx="1016230"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stomShape 2">
            <a:extLst>
              <a:ext uri="{FF2B5EF4-FFF2-40B4-BE49-F238E27FC236}">
                <a16:creationId xmlns:a16="http://schemas.microsoft.com/office/drawing/2014/main" id="{3C8C4346-CD7B-4231-85EB-7B150AC67FEE}"/>
              </a:ext>
            </a:extLst>
          </p:cNvPr>
          <p:cNvSpPr/>
          <p:nvPr/>
        </p:nvSpPr>
        <p:spPr>
          <a:xfrm>
            <a:off x="250920" y="32567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Adjusted consequence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5" name="CustomShape 2">
            <a:extLst>
              <a:ext uri="{FF2B5EF4-FFF2-40B4-BE49-F238E27FC236}">
                <a16:creationId xmlns:a16="http://schemas.microsoft.com/office/drawing/2014/main" id="{5F2F4259-9275-483E-86DE-C438F4E64FE2}"/>
              </a:ext>
            </a:extLst>
          </p:cNvPr>
          <p:cNvSpPr/>
          <p:nvPr/>
        </p:nvSpPr>
        <p:spPr>
          <a:xfrm>
            <a:off x="250920" y="3704310"/>
            <a:ext cx="8334280" cy="299113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by specific value(s) of adjusted consequence. Available options for this parameter include: PTV, Missense3, Missense, etc. Example: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more than one pph2 qualifier, you must separate their labels with comma: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5" name="Picture 4">
            <a:extLst>
              <a:ext uri="{FF2B5EF4-FFF2-40B4-BE49-F238E27FC236}">
                <a16:creationId xmlns:a16="http://schemas.microsoft.com/office/drawing/2014/main" id="{18930307-A8B9-4F23-9AC2-92B94EB66BF0}"/>
              </a:ext>
            </a:extLst>
          </p:cNvPr>
          <p:cNvPicPr>
            <a:picLocks noChangeAspect="1"/>
          </p:cNvPicPr>
          <p:nvPr/>
        </p:nvPicPr>
        <p:blipFill>
          <a:blip r:embed="rId3"/>
          <a:stretch>
            <a:fillRect/>
          </a:stretch>
        </p:blipFill>
        <p:spPr>
          <a:xfrm>
            <a:off x="365760" y="4738258"/>
            <a:ext cx="8026400" cy="299674"/>
          </a:xfrm>
          <a:prstGeom prst="rect">
            <a:avLst/>
          </a:prstGeom>
        </p:spPr>
      </p:pic>
      <p:sp>
        <p:nvSpPr>
          <p:cNvPr id="16" name="Oval 15">
            <a:extLst>
              <a:ext uri="{FF2B5EF4-FFF2-40B4-BE49-F238E27FC236}">
                <a16:creationId xmlns:a16="http://schemas.microsoft.com/office/drawing/2014/main" id="{98778595-7691-4230-8675-22E770ED5C62}"/>
              </a:ext>
            </a:extLst>
          </p:cNvPr>
          <p:cNvSpPr/>
          <p:nvPr/>
        </p:nvSpPr>
        <p:spPr>
          <a:xfrm>
            <a:off x="7558810" y="4641258"/>
            <a:ext cx="904470"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958B736-E56D-413E-844B-1F03DF604EB6}"/>
              </a:ext>
            </a:extLst>
          </p:cNvPr>
          <p:cNvPicPr>
            <a:picLocks noChangeAspect="1"/>
          </p:cNvPicPr>
          <p:nvPr/>
        </p:nvPicPr>
        <p:blipFill>
          <a:blip r:embed="rId4"/>
          <a:stretch>
            <a:fillRect/>
          </a:stretch>
        </p:blipFill>
        <p:spPr>
          <a:xfrm>
            <a:off x="365760" y="5522824"/>
            <a:ext cx="1966278" cy="269881"/>
          </a:xfrm>
          <a:prstGeom prst="rect">
            <a:avLst/>
          </a:prstGeom>
        </p:spPr>
      </p:pic>
    </p:spTree>
    <p:extLst>
      <p:ext uri="{BB962C8B-B14F-4D97-AF65-F5344CB8AC3E}">
        <p14:creationId xmlns:p14="http://schemas.microsoft.com/office/powerpoint/2010/main" val="1076672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208887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Besides filtering, this protocol allows to extract a base matrix used to compute the final PBPMs. This base matrix serves as raw data for individual exploratory analysis, and can be also appended to an existing dataset of the same nature.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By default, this Boolean parameter is set to NO (‘no’), case in which only a final PBPM will be generated. To download this data as well as the final PBPM, a yes (‘y’) must be explicitly passed to the argument </a:t>
            </a:r>
            <a:r>
              <a:rPr lang="en-US" sz="2000" b="1" spc="-1" dirty="0">
                <a:solidFill>
                  <a:schemeClr val="tx2"/>
                </a:solidFill>
                <a:latin typeface="Abadi Extra Light" panose="020B0604020202020204" pitchFamily="34" charset="0"/>
                <a:ea typeface="Tahoma"/>
                <a:cs typeface="Calibri Light" panose="020F0302020204030204" pitchFamily="34" charset="0"/>
              </a:rPr>
              <a:t>–r, </a:t>
            </a:r>
            <a:r>
              <a:rPr lang="en-US" sz="2000" spc="-1" dirty="0">
                <a:solidFill>
                  <a:schemeClr val="tx2"/>
                </a:solidFill>
                <a:latin typeface="Abadi Extra Light" panose="020B0604020202020204" pitchFamily="34" charset="0"/>
                <a:ea typeface="Tahoma"/>
                <a:cs typeface="Calibri Light" panose="020F0302020204030204" pitchFamily="34" charset="0"/>
              </a:rPr>
              <a:t>as follows:</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base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E013D7D8-AD7E-446F-B2D4-10E8DF61D81E}"/>
              </a:ext>
            </a:extLst>
          </p:cNvPr>
          <p:cNvPicPr>
            <a:picLocks noChangeAspect="1"/>
          </p:cNvPicPr>
          <p:nvPr/>
        </p:nvPicPr>
        <p:blipFill>
          <a:blip r:embed="rId2"/>
          <a:stretch>
            <a:fillRect/>
          </a:stretch>
        </p:blipFill>
        <p:spPr>
          <a:xfrm>
            <a:off x="441960" y="4766204"/>
            <a:ext cx="8133080" cy="284313"/>
          </a:xfrm>
          <a:prstGeom prst="rect">
            <a:avLst/>
          </a:prstGeom>
        </p:spPr>
      </p:pic>
      <p:sp>
        <p:nvSpPr>
          <p:cNvPr id="10" name="Oval 9">
            <a:extLst>
              <a:ext uri="{FF2B5EF4-FFF2-40B4-BE49-F238E27FC236}">
                <a16:creationId xmlns:a16="http://schemas.microsoft.com/office/drawing/2014/main" id="{EE73D959-03D6-4EFB-AA67-7DCF91006187}"/>
              </a:ext>
            </a:extLst>
          </p:cNvPr>
          <p:cNvSpPr/>
          <p:nvPr/>
        </p:nvSpPr>
        <p:spPr>
          <a:xfrm>
            <a:off x="8112645" y="4651363"/>
            <a:ext cx="452235"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28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base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base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922F8043-3368-41CA-9E42-72857A31E2EE}"/>
              </a:ext>
            </a:extLst>
          </p:cNvPr>
          <p:cNvPicPr>
            <a:picLocks noChangeAspect="1"/>
          </p:cNvPicPr>
          <p:nvPr/>
        </p:nvPicPr>
        <p:blipFill>
          <a:blip r:embed="rId2"/>
          <a:stretch>
            <a:fillRect/>
          </a:stretch>
        </p:blipFill>
        <p:spPr>
          <a:xfrm>
            <a:off x="345440" y="3185343"/>
            <a:ext cx="8492025" cy="2096218"/>
          </a:xfrm>
          <a:prstGeom prst="rect">
            <a:avLst/>
          </a:prstGeom>
        </p:spPr>
      </p:pic>
      <p:sp>
        <p:nvSpPr>
          <p:cNvPr id="9" name="Rectangle 8">
            <a:extLst>
              <a:ext uri="{FF2B5EF4-FFF2-40B4-BE49-F238E27FC236}">
                <a16:creationId xmlns:a16="http://schemas.microsoft.com/office/drawing/2014/main" id="{BAC76100-0BC8-401E-93A3-E0160D01079B}"/>
              </a:ext>
            </a:extLst>
          </p:cNvPr>
          <p:cNvSpPr/>
          <p:nvPr/>
        </p:nvSpPr>
        <p:spPr>
          <a:xfrm>
            <a:off x="345440" y="3151683"/>
            <a:ext cx="8492025" cy="216357"/>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Bent-Up 11">
            <a:extLst>
              <a:ext uri="{FF2B5EF4-FFF2-40B4-BE49-F238E27FC236}">
                <a16:creationId xmlns:a16="http://schemas.microsoft.com/office/drawing/2014/main" id="{EBE89D8D-27FA-4E78-93AC-100502105177}"/>
              </a:ext>
            </a:extLst>
          </p:cNvPr>
          <p:cNvSpPr/>
          <p:nvPr/>
        </p:nvSpPr>
        <p:spPr>
          <a:xfrm rot="5400000">
            <a:off x="613222" y="54854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stomShape 2">
            <a:extLst>
              <a:ext uri="{FF2B5EF4-FFF2-40B4-BE49-F238E27FC236}">
                <a16:creationId xmlns:a16="http://schemas.microsoft.com/office/drawing/2014/main" id="{7FCD225F-74C1-471E-9D7F-1D0FA9E110A5}"/>
              </a:ext>
            </a:extLst>
          </p:cNvPr>
          <p:cNvSpPr/>
          <p:nvPr/>
        </p:nvSpPr>
        <p:spPr>
          <a:xfrm>
            <a:off x="1005840" y="5355861"/>
            <a:ext cx="462280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Patient-level data for more in-depth information</a:t>
            </a:r>
          </a:p>
        </p:txBody>
      </p:sp>
    </p:spTree>
    <p:extLst>
      <p:ext uri="{BB962C8B-B14F-4D97-AF65-F5344CB8AC3E}">
        <p14:creationId xmlns:p14="http://schemas.microsoft.com/office/powerpoint/2010/main" val="155758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289151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base matrix will not only be downloaded, but also appended to an existing file, when the parameter </a:t>
            </a:r>
            <a:r>
              <a:rPr lang="en-US" sz="2000" b="1" spc="-1" dirty="0">
                <a:solidFill>
                  <a:schemeClr val="tx2"/>
                </a:solidFill>
                <a:latin typeface="Abadi Extra Light" panose="020B0604020202020204" pitchFamily="34" charset="0"/>
                <a:ea typeface="Tahoma"/>
                <a:cs typeface="Calibri Light" panose="020F0302020204030204" pitchFamily="34" charset="0"/>
              </a:rPr>
              <a:t>–append</a:t>
            </a:r>
            <a:r>
              <a:rPr lang="en-US" sz="2000" spc="-1" dirty="0">
                <a:solidFill>
                  <a:schemeClr val="tx2"/>
                </a:solidFill>
                <a:latin typeface="Abadi Extra Light" panose="020B0604020202020204" pitchFamily="34" charset="0"/>
                <a:ea typeface="Tahoma"/>
                <a:cs typeface="Calibri Light" panose="020F0302020204030204" pitchFamily="34" charset="0"/>
              </a:rPr>
              <a:t> is set. Thus, it will not be necessary to explicitly set the download (</a:t>
            </a:r>
            <a:r>
              <a:rPr lang="en-US" sz="2000" b="1" spc="-1" dirty="0">
                <a:solidFill>
                  <a:schemeClr val="tx2"/>
                </a:solidFill>
                <a:latin typeface="Abadi Extra Light" panose="020B0604020202020204" pitchFamily="34" charset="0"/>
                <a:ea typeface="Tahoma"/>
                <a:cs typeface="Calibri Light" panose="020F0302020204030204" pitchFamily="34" charset="0"/>
              </a:rPr>
              <a:t>-r</a:t>
            </a:r>
            <a:r>
              <a:rPr lang="en-US" sz="2000" spc="-1" dirty="0">
                <a:solidFill>
                  <a:schemeClr val="tx2"/>
                </a:solidFill>
                <a:latin typeface="Abadi Extra Light" panose="020B0604020202020204" pitchFamily="34" charset="0"/>
                <a:ea typeface="Tahoma"/>
                <a:cs typeface="Calibri Light" panose="020F0302020204030204" pitchFamily="34" charset="0"/>
              </a:rPr>
              <a:t>) parameter to yes (‘y’), unless a separate copy of the base matrix is desired.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appended file will be overwritten and it will contain the commands used to generate all the information of the base matrix.</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base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ED4EA7C1-CD5E-41C2-96CB-ED34A458D237}"/>
              </a:ext>
            </a:extLst>
          </p:cNvPr>
          <p:cNvPicPr>
            <a:picLocks noChangeAspect="1"/>
          </p:cNvPicPr>
          <p:nvPr/>
        </p:nvPicPr>
        <p:blipFill>
          <a:blip r:embed="rId2"/>
          <a:stretch>
            <a:fillRect/>
          </a:stretch>
        </p:blipFill>
        <p:spPr>
          <a:xfrm>
            <a:off x="354060" y="3857760"/>
            <a:ext cx="8270240" cy="330076"/>
          </a:xfrm>
          <a:prstGeom prst="rect">
            <a:avLst/>
          </a:prstGeom>
        </p:spPr>
      </p:pic>
      <p:pic>
        <p:nvPicPr>
          <p:cNvPr id="5" name="Picture 4">
            <a:extLst>
              <a:ext uri="{FF2B5EF4-FFF2-40B4-BE49-F238E27FC236}">
                <a16:creationId xmlns:a16="http://schemas.microsoft.com/office/drawing/2014/main" id="{2221F977-84AA-44D8-8D84-EFF9E1E17E66}"/>
              </a:ext>
            </a:extLst>
          </p:cNvPr>
          <p:cNvPicPr>
            <a:picLocks noChangeAspect="1"/>
          </p:cNvPicPr>
          <p:nvPr/>
        </p:nvPicPr>
        <p:blipFill>
          <a:blip r:embed="rId3"/>
          <a:stretch>
            <a:fillRect/>
          </a:stretch>
        </p:blipFill>
        <p:spPr>
          <a:xfrm>
            <a:off x="354060" y="4187836"/>
            <a:ext cx="800100" cy="314325"/>
          </a:xfrm>
          <a:prstGeom prst="rect">
            <a:avLst/>
          </a:prstGeom>
        </p:spPr>
      </p:pic>
      <p:pic>
        <p:nvPicPr>
          <p:cNvPr id="6" name="Picture 5">
            <a:extLst>
              <a:ext uri="{FF2B5EF4-FFF2-40B4-BE49-F238E27FC236}">
                <a16:creationId xmlns:a16="http://schemas.microsoft.com/office/drawing/2014/main" id="{A2608015-EBCB-4847-BEB2-EA67566520AB}"/>
              </a:ext>
            </a:extLst>
          </p:cNvPr>
          <p:cNvPicPr>
            <a:picLocks noChangeAspect="1"/>
          </p:cNvPicPr>
          <p:nvPr/>
        </p:nvPicPr>
        <p:blipFill>
          <a:blip r:embed="rId4"/>
          <a:stretch>
            <a:fillRect/>
          </a:stretch>
        </p:blipFill>
        <p:spPr>
          <a:xfrm>
            <a:off x="1133840" y="4167516"/>
            <a:ext cx="2819400" cy="352425"/>
          </a:xfrm>
          <a:prstGeom prst="rect">
            <a:avLst/>
          </a:prstGeom>
        </p:spPr>
      </p:pic>
    </p:spTree>
    <p:extLst>
      <p:ext uri="{BB962C8B-B14F-4D97-AF65-F5344CB8AC3E}">
        <p14:creationId xmlns:p14="http://schemas.microsoft.com/office/powerpoint/2010/main" val="2826106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An appended base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base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B8979319-AF49-48C9-8626-68F3C7A7C262}"/>
              </a:ext>
            </a:extLst>
          </p:cNvPr>
          <p:cNvPicPr>
            <a:picLocks noChangeAspect="1"/>
          </p:cNvPicPr>
          <p:nvPr/>
        </p:nvPicPr>
        <p:blipFill>
          <a:blip r:embed="rId2"/>
          <a:stretch>
            <a:fillRect/>
          </a:stretch>
        </p:blipFill>
        <p:spPr>
          <a:xfrm>
            <a:off x="301720" y="3099800"/>
            <a:ext cx="8408480" cy="2102120"/>
          </a:xfrm>
          <a:prstGeom prst="rect">
            <a:avLst/>
          </a:prstGeom>
        </p:spPr>
      </p:pic>
      <p:sp>
        <p:nvSpPr>
          <p:cNvPr id="6" name="Rectangle 5">
            <a:extLst>
              <a:ext uri="{FF2B5EF4-FFF2-40B4-BE49-F238E27FC236}">
                <a16:creationId xmlns:a16="http://schemas.microsoft.com/office/drawing/2014/main" id="{D90C14BE-45CC-4198-9EEE-9633B4254E66}"/>
              </a:ext>
            </a:extLst>
          </p:cNvPr>
          <p:cNvSpPr/>
          <p:nvPr/>
        </p:nvSpPr>
        <p:spPr>
          <a:xfrm>
            <a:off x="325120" y="3089641"/>
            <a:ext cx="8492025" cy="499452"/>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Bent-Up 6">
            <a:extLst>
              <a:ext uri="{FF2B5EF4-FFF2-40B4-BE49-F238E27FC236}">
                <a16:creationId xmlns:a16="http://schemas.microsoft.com/office/drawing/2014/main" id="{400F7DB0-BAF7-4CC4-9A4D-50550DDFC5B5}"/>
              </a:ext>
            </a:extLst>
          </p:cNvPr>
          <p:cNvSpPr/>
          <p:nvPr/>
        </p:nvSpPr>
        <p:spPr>
          <a:xfrm rot="5400000">
            <a:off x="613222" y="535354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stomShape 2">
            <a:extLst>
              <a:ext uri="{FF2B5EF4-FFF2-40B4-BE49-F238E27FC236}">
                <a16:creationId xmlns:a16="http://schemas.microsoft.com/office/drawing/2014/main" id="{4A4A1531-6F64-46AF-89AF-12E166995A22}"/>
              </a:ext>
            </a:extLst>
          </p:cNvPr>
          <p:cNvSpPr/>
          <p:nvPr/>
        </p:nvSpPr>
        <p:spPr>
          <a:xfrm>
            <a:off x="955899" y="5222240"/>
            <a:ext cx="61061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This is an appended-like base matrix coming from three different runs </a:t>
            </a:r>
          </a:p>
        </p:txBody>
      </p:sp>
    </p:spTree>
    <p:extLst>
      <p:ext uri="{BB962C8B-B14F-4D97-AF65-F5344CB8AC3E}">
        <p14:creationId xmlns:p14="http://schemas.microsoft.com/office/powerpoint/2010/main" val="2718501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choosing the </a:t>
            </a:r>
            <a:r>
              <a:rPr lang="en-US" sz="2400" b="1" spc="-1" dirty="0">
                <a:solidFill>
                  <a:schemeClr val="accent1"/>
                </a:solidFill>
                <a:latin typeface="Abadi Extra Light" panose="020B0604020202020204" pitchFamily="34" charset="0"/>
                <a:ea typeface="Tahoma"/>
                <a:cs typeface="Calibri Light" panose="020F0302020204030204" pitchFamily="34" charset="0"/>
              </a:rPr>
              <a:t>final PBPM</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208887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argument </a:t>
            </a:r>
            <a:r>
              <a:rPr lang="en-US" sz="2000" b="1" spc="-1" dirty="0">
                <a:solidFill>
                  <a:schemeClr val="tx2"/>
                </a:solidFill>
                <a:latin typeface="Abadi Extra Light" panose="020B0604020202020204" pitchFamily="34" charset="0"/>
                <a:ea typeface="Tahoma"/>
                <a:cs typeface="Calibri Light" panose="020F0302020204030204" pitchFamily="34" charset="0"/>
              </a:rPr>
              <a:t>–matrix </a:t>
            </a:r>
            <a:r>
              <a:rPr lang="en-US" sz="2000" spc="-1" dirty="0">
                <a:solidFill>
                  <a:schemeClr val="tx2"/>
                </a:solidFill>
                <a:latin typeface="Abadi Extra Light" panose="020B0604020202020204" pitchFamily="34" charset="0"/>
                <a:ea typeface="Tahoma"/>
                <a:cs typeface="Calibri Light" panose="020F0302020204030204" pitchFamily="34" charset="0"/>
              </a:rPr>
              <a:t>will allow choosing the type of matrix that is desired: binary (b), numerical (n) or normalized (</a:t>
            </a:r>
            <a:r>
              <a:rPr lang="en-US" sz="2000" spc="-1" dirty="0" err="1">
                <a:solidFill>
                  <a:schemeClr val="tx2"/>
                </a:solidFill>
                <a:latin typeface="Abadi Extra Light" panose="020B0604020202020204" pitchFamily="34" charset="0"/>
                <a:ea typeface="Tahoma"/>
                <a:cs typeface="Calibri Light" panose="020F0302020204030204" pitchFamily="34" charset="0"/>
              </a:rPr>
              <a:t>nn</a:t>
            </a:r>
            <a:r>
              <a:rPr lang="en-US" sz="2000" spc="-1" dirty="0">
                <a:solidFill>
                  <a:schemeClr val="tx2"/>
                </a:solidFill>
                <a:latin typeface="Abadi Extra Light" panose="020B0604020202020204" pitchFamily="34" charset="0"/>
                <a:ea typeface="Tahoma"/>
                <a:cs typeface="Calibri Light" panose="020F0302020204030204" pitchFamily="34" charset="0"/>
              </a:rPr>
              <a:t>). By default, this parameter will extract a binary PBPM.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explicitly generate a binary matrix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numerical matrix (not normalized): </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normalized numerical matrix: </a:t>
            </a:r>
          </a:p>
        </p:txBody>
      </p:sp>
      <p:pic>
        <p:nvPicPr>
          <p:cNvPr id="3" name="Picture 2">
            <a:extLst>
              <a:ext uri="{FF2B5EF4-FFF2-40B4-BE49-F238E27FC236}">
                <a16:creationId xmlns:a16="http://schemas.microsoft.com/office/drawing/2014/main" id="{8B590DD6-0951-4A7E-81AC-71495110E9E9}"/>
              </a:ext>
            </a:extLst>
          </p:cNvPr>
          <p:cNvPicPr>
            <a:picLocks noChangeAspect="1"/>
          </p:cNvPicPr>
          <p:nvPr/>
        </p:nvPicPr>
        <p:blipFill>
          <a:blip r:embed="rId2"/>
          <a:stretch>
            <a:fillRect/>
          </a:stretch>
        </p:blipFill>
        <p:spPr>
          <a:xfrm>
            <a:off x="629920" y="3497998"/>
            <a:ext cx="8190195" cy="271362"/>
          </a:xfrm>
          <a:prstGeom prst="rect">
            <a:avLst/>
          </a:prstGeom>
        </p:spPr>
      </p:pic>
      <p:pic>
        <p:nvPicPr>
          <p:cNvPr id="5" name="Picture 4">
            <a:extLst>
              <a:ext uri="{FF2B5EF4-FFF2-40B4-BE49-F238E27FC236}">
                <a16:creationId xmlns:a16="http://schemas.microsoft.com/office/drawing/2014/main" id="{5885A71F-9D7D-4ED4-A778-419D7CF353A8}"/>
              </a:ext>
            </a:extLst>
          </p:cNvPr>
          <p:cNvPicPr>
            <a:picLocks noChangeAspect="1"/>
          </p:cNvPicPr>
          <p:nvPr/>
        </p:nvPicPr>
        <p:blipFill>
          <a:blip r:embed="rId3"/>
          <a:stretch>
            <a:fillRect/>
          </a:stretch>
        </p:blipFill>
        <p:spPr>
          <a:xfrm>
            <a:off x="629920" y="4303834"/>
            <a:ext cx="8190195" cy="320379"/>
          </a:xfrm>
          <a:prstGeom prst="rect">
            <a:avLst/>
          </a:prstGeom>
        </p:spPr>
      </p:pic>
      <p:pic>
        <p:nvPicPr>
          <p:cNvPr id="6" name="Picture 5">
            <a:extLst>
              <a:ext uri="{FF2B5EF4-FFF2-40B4-BE49-F238E27FC236}">
                <a16:creationId xmlns:a16="http://schemas.microsoft.com/office/drawing/2014/main" id="{7593473A-649C-42D3-9968-8F14372B7962}"/>
              </a:ext>
            </a:extLst>
          </p:cNvPr>
          <p:cNvPicPr>
            <a:picLocks noChangeAspect="1"/>
          </p:cNvPicPr>
          <p:nvPr/>
        </p:nvPicPr>
        <p:blipFill>
          <a:blip r:embed="rId4"/>
          <a:stretch>
            <a:fillRect/>
          </a:stretch>
        </p:blipFill>
        <p:spPr>
          <a:xfrm>
            <a:off x="629920" y="5163441"/>
            <a:ext cx="8190195" cy="299740"/>
          </a:xfrm>
          <a:prstGeom prst="rect">
            <a:avLst/>
          </a:prstGeom>
        </p:spPr>
      </p:pic>
      <p:sp>
        <p:nvSpPr>
          <p:cNvPr id="10" name="Oval 9">
            <a:extLst>
              <a:ext uri="{FF2B5EF4-FFF2-40B4-BE49-F238E27FC236}">
                <a16:creationId xmlns:a16="http://schemas.microsoft.com/office/drawing/2014/main" id="{EE73D959-03D6-4EFB-AA67-7DCF91006187}"/>
              </a:ext>
            </a:extLst>
          </p:cNvPr>
          <p:cNvSpPr/>
          <p:nvPr/>
        </p:nvSpPr>
        <p:spPr>
          <a:xfrm>
            <a:off x="7929765" y="3380322"/>
            <a:ext cx="932835"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DBDA4DB-5835-44AF-8327-0EBEA028E464}"/>
              </a:ext>
            </a:extLst>
          </p:cNvPr>
          <p:cNvSpPr/>
          <p:nvPr/>
        </p:nvSpPr>
        <p:spPr>
          <a:xfrm>
            <a:off x="7929765" y="4208864"/>
            <a:ext cx="932835"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8197461-0B2E-4E5E-88FD-D0C1D0672C2B}"/>
              </a:ext>
            </a:extLst>
          </p:cNvPr>
          <p:cNvSpPr/>
          <p:nvPr/>
        </p:nvSpPr>
        <p:spPr>
          <a:xfrm>
            <a:off x="7887280" y="5054051"/>
            <a:ext cx="932835" cy="493674"/>
          </a:xfrm>
          <a:prstGeom prst="ellipse">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505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binary PBPM</a:t>
            </a:r>
          </a:p>
        </p:txBody>
      </p:sp>
      <p:pic>
        <p:nvPicPr>
          <p:cNvPr id="2" name="Picture 1">
            <a:extLst>
              <a:ext uri="{FF2B5EF4-FFF2-40B4-BE49-F238E27FC236}">
                <a16:creationId xmlns:a16="http://schemas.microsoft.com/office/drawing/2014/main" id="{A57CF161-E770-4687-8DE2-2B61FC5C49CE}"/>
              </a:ext>
            </a:extLst>
          </p:cNvPr>
          <p:cNvPicPr>
            <a:picLocks noChangeAspect="1"/>
          </p:cNvPicPr>
          <p:nvPr/>
        </p:nvPicPr>
        <p:blipFill>
          <a:blip r:embed="rId2"/>
          <a:stretch>
            <a:fillRect/>
          </a:stretch>
        </p:blipFill>
        <p:spPr>
          <a:xfrm>
            <a:off x="381000" y="2615778"/>
            <a:ext cx="8382000" cy="2850653"/>
          </a:xfrm>
          <a:prstGeom prst="rect">
            <a:avLst/>
          </a:prstGeom>
        </p:spPr>
      </p:pic>
    </p:spTree>
    <p:extLst>
      <p:ext uri="{BB962C8B-B14F-4D97-AF65-F5344CB8AC3E}">
        <p14:creationId xmlns:p14="http://schemas.microsoft.com/office/powerpoint/2010/main" val="974376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numerical PBPM</a:t>
            </a:r>
          </a:p>
        </p:txBody>
      </p:sp>
      <p:pic>
        <p:nvPicPr>
          <p:cNvPr id="3" name="Picture 2">
            <a:extLst>
              <a:ext uri="{FF2B5EF4-FFF2-40B4-BE49-F238E27FC236}">
                <a16:creationId xmlns:a16="http://schemas.microsoft.com/office/drawing/2014/main" id="{F4E9A8ED-E977-471E-8352-314275341A8B}"/>
              </a:ext>
            </a:extLst>
          </p:cNvPr>
          <p:cNvPicPr>
            <a:picLocks noChangeAspect="1"/>
          </p:cNvPicPr>
          <p:nvPr/>
        </p:nvPicPr>
        <p:blipFill>
          <a:blip r:embed="rId2"/>
          <a:stretch>
            <a:fillRect/>
          </a:stretch>
        </p:blipFill>
        <p:spPr>
          <a:xfrm>
            <a:off x="409940" y="2471578"/>
            <a:ext cx="8158480" cy="1593750"/>
          </a:xfrm>
          <a:prstGeom prst="rect">
            <a:avLst/>
          </a:prstGeom>
        </p:spPr>
      </p:pic>
      <p:pic>
        <p:nvPicPr>
          <p:cNvPr id="6" name="Picture 5">
            <a:extLst>
              <a:ext uri="{FF2B5EF4-FFF2-40B4-BE49-F238E27FC236}">
                <a16:creationId xmlns:a16="http://schemas.microsoft.com/office/drawing/2014/main" id="{339E0CC0-ACCE-4164-ACD8-76DF445E606B}"/>
              </a:ext>
            </a:extLst>
          </p:cNvPr>
          <p:cNvPicPr>
            <a:picLocks noChangeAspect="1"/>
          </p:cNvPicPr>
          <p:nvPr/>
        </p:nvPicPr>
        <p:blipFill>
          <a:blip r:embed="rId3"/>
          <a:stretch>
            <a:fillRect/>
          </a:stretch>
        </p:blipFill>
        <p:spPr>
          <a:xfrm>
            <a:off x="409940" y="4512897"/>
            <a:ext cx="8158480" cy="1513633"/>
          </a:xfrm>
          <a:prstGeom prst="rect">
            <a:avLst/>
          </a:prstGeom>
        </p:spPr>
      </p:pic>
      <p:sp>
        <p:nvSpPr>
          <p:cNvPr id="9" name="CustomShape 2">
            <a:extLst>
              <a:ext uri="{FF2B5EF4-FFF2-40B4-BE49-F238E27FC236}">
                <a16:creationId xmlns:a16="http://schemas.microsoft.com/office/drawing/2014/main" id="{7A6DFAAA-5F6E-4BA6-80A7-056DCCE219CC}"/>
              </a:ext>
            </a:extLst>
          </p:cNvPr>
          <p:cNvSpPr/>
          <p:nvPr/>
        </p:nvSpPr>
        <p:spPr>
          <a:xfrm>
            <a:off x="250920" y="4065328"/>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normalized PBPM</a:t>
            </a:r>
          </a:p>
        </p:txBody>
      </p:sp>
    </p:spTree>
    <p:extLst>
      <p:ext uri="{BB962C8B-B14F-4D97-AF65-F5344CB8AC3E}">
        <p14:creationId xmlns:p14="http://schemas.microsoft.com/office/powerpoint/2010/main" val="2490873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What is the project organization?</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It has the </a:t>
            </a:r>
            <a:r>
              <a:rPr lang="en-US" sz="2000" spc="-1" dirty="0" err="1">
                <a:solidFill>
                  <a:schemeClr val="tx2"/>
                </a:solidFill>
                <a:latin typeface="Abadi Extra Light" panose="020B0604020202020204" pitchFamily="34" charset="0"/>
                <a:ea typeface="Tahoma"/>
                <a:cs typeface="Calibri Light" panose="020F0302020204030204" pitchFamily="34" charset="0"/>
              </a:rPr>
              <a:t>Stalicla</a:t>
            </a: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err="1">
                <a:solidFill>
                  <a:schemeClr val="tx2"/>
                </a:solidFill>
                <a:latin typeface="Abadi Extra Light" panose="020B0604020202020204" pitchFamily="34" charset="0"/>
                <a:ea typeface="Tahoma"/>
                <a:cs typeface="Calibri Light" panose="020F0302020204030204" pitchFamily="34" charset="0"/>
              </a:rPr>
              <a:t>Cookiecutter</a:t>
            </a:r>
            <a:r>
              <a:rPr lang="en-US" sz="2000" spc="-1" dirty="0">
                <a:solidFill>
                  <a:schemeClr val="tx2"/>
                </a:solidFill>
                <a:latin typeface="Abadi Extra Light" panose="020B0604020202020204" pitchFamily="34" charset="0"/>
                <a:ea typeface="Tahoma"/>
                <a:cs typeface="Calibri Light" panose="020F0302020204030204" pitchFamily="34" charset="0"/>
              </a:rPr>
              <a:t> template for GitHub projects:</a:t>
            </a:r>
          </a:p>
        </p:txBody>
      </p:sp>
      <p:pic>
        <p:nvPicPr>
          <p:cNvPr id="2" name="Picture 1">
            <a:extLst>
              <a:ext uri="{FF2B5EF4-FFF2-40B4-BE49-F238E27FC236}">
                <a16:creationId xmlns:a16="http://schemas.microsoft.com/office/drawing/2014/main" id="{9431054E-3C57-46B6-8036-75894AC30410}"/>
              </a:ext>
            </a:extLst>
          </p:cNvPr>
          <p:cNvPicPr>
            <a:picLocks noChangeAspect="1"/>
          </p:cNvPicPr>
          <p:nvPr/>
        </p:nvPicPr>
        <p:blipFill rotWithShape="1">
          <a:blip r:embed="rId2"/>
          <a:srcRect b="41110"/>
          <a:stretch/>
        </p:blipFill>
        <p:spPr>
          <a:xfrm>
            <a:off x="644843" y="2578261"/>
            <a:ext cx="1384344" cy="2171540"/>
          </a:xfrm>
          <a:prstGeom prst="rect">
            <a:avLst/>
          </a:prstGeom>
        </p:spPr>
      </p:pic>
      <p:pic>
        <p:nvPicPr>
          <p:cNvPr id="5" name="Picture 4">
            <a:extLst>
              <a:ext uri="{FF2B5EF4-FFF2-40B4-BE49-F238E27FC236}">
                <a16:creationId xmlns:a16="http://schemas.microsoft.com/office/drawing/2014/main" id="{CE302A08-6B91-4BD5-9518-65147C51D037}"/>
              </a:ext>
            </a:extLst>
          </p:cNvPr>
          <p:cNvPicPr>
            <a:picLocks noChangeAspect="1"/>
          </p:cNvPicPr>
          <p:nvPr/>
        </p:nvPicPr>
        <p:blipFill rotWithShape="1">
          <a:blip r:embed="rId2"/>
          <a:srcRect t="66561"/>
          <a:stretch/>
        </p:blipFill>
        <p:spPr>
          <a:xfrm>
            <a:off x="644843" y="4856484"/>
            <a:ext cx="1384344" cy="1233065"/>
          </a:xfrm>
          <a:prstGeom prst="rect">
            <a:avLst/>
          </a:prstGeom>
        </p:spPr>
      </p:pic>
      <p:sp>
        <p:nvSpPr>
          <p:cNvPr id="6" name="CustomShape 2">
            <a:extLst>
              <a:ext uri="{FF2B5EF4-FFF2-40B4-BE49-F238E27FC236}">
                <a16:creationId xmlns:a16="http://schemas.microsoft.com/office/drawing/2014/main" id="{9CB47BAA-D2B8-4F6D-AC37-F53763BFCFF4}"/>
              </a:ext>
            </a:extLst>
          </p:cNvPr>
          <p:cNvSpPr/>
          <p:nvPr/>
        </p:nvSpPr>
        <p:spPr>
          <a:xfrm>
            <a:off x="2049507" y="5067935"/>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PBPMs and base matrices are stored at this level</a:t>
            </a:r>
          </a:p>
        </p:txBody>
      </p:sp>
      <p:sp>
        <p:nvSpPr>
          <p:cNvPr id="3" name="Rectangle 2">
            <a:extLst>
              <a:ext uri="{FF2B5EF4-FFF2-40B4-BE49-F238E27FC236}">
                <a16:creationId xmlns:a16="http://schemas.microsoft.com/office/drawing/2014/main" id="{A8E41BCD-27BA-4625-B334-E8694C567D35}"/>
              </a:ext>
            </a:extLst>
          </p:cNvPr>
          <p:cNvSpPr/>
          <p:nvPr/>
        </p:nvSpPr>
        <p:spPr>
          <a:xfrm>
            <a:off x="675323" y="5171440"/>
            <a:ext cx="1384344" cy="223520"/>
          </a:xfrm>
          <a:prstGeom prst="rect">
            <a:avLst/>
          </a:prstGeom>
          <a:noFill/>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CustomShape 2">
            <a:extLst>
              <a:ext uri="{FF2B5EF4-FFF2-40B4-BE49-F238E27FC236}">
                <a16:creationId xmlns:a16="http://schemas.microsoft.com/office/drawing/2014/main" id="{485909C8-91B2-4F8B-BB90-E426AFE47410}"/>
              </a:ext>
            </a:extLst>
          </p:cNvPr>
          <p:cNvSpPr/>
          <p:nvPr/>
        </p:nvSpPr>
        <p:spPr>
          <a:xfrm>
            <a:off x="2059667" y="2835729"/>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2">
                    <a:lumMod val="75000"/>
                  </a:schemeClr>
                </a:solidFill>
                <a:latin typeface="Abadi Extra Light" panose="020B0604020202020204" pitchFamily="34" charset="0"/>
                <a:ea typeface="Tahoma"/>
                <a:cs typeface="Calibri Light" panose="020F0302020204030204" pitchFamily="34" charset="0"/>
              </a:rPr>
              <a:t>Execution logs are stored at this level</a:t>
            </a:r>
          </a:p>
        </p:txBody>
      </p:sp>
      <p:sp>
        <p:nvSpPr>
          <p:cNvPr id="10" name="Rectangle 9">
            <a:extLst>
              <a:ext uri="{FF2B5EF4-FFF2-40B4-BE49-F238E27FC236}">
                <a16:creationId xmlns:a16="http://schemas.microsoft.com/office/drawing/2014/main" id="{94F0236E-7146-4A86-BA37-6C82766650F0}"/>
              </a:ext>
            </a:extLst>
          </p:cNvPr>
          <p:cNvSpPr/>
          <p:nvPr/>
        </p:nvSpPr>
        <p:spPr>
          <a:xfrm>
            <a:off x="685483" y="2939234"/>
            <a:ext cx="1384344" cy="223520"/>
          </a:xfrm>
          <a:prstGeom prst="rect">
            <a:avLst/>
          </a:prstGeom>
          <a:noFill/>
          <a:ln>
            <a:solidFill>
              <a:schemeClr val="accent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CustomShape 2">
            <a:extLst>
              <a:ext uri="{FF2B5EF4-FFF2-40B4-BE49-F238E27FC236}">
                <a16:creationId xmlns:a16="http://schemas.microsoft.com/office/drawing/2014/main" id="{1EAC8FFD-320B-42EE-B88A-21772C87A711}"/>
              </a:ext>
            </a:extLst>
          </p:cNvPr>
          <p:cNvSpPr/>
          <p:nvPr/>
        </p:nvSpPr>
        <p:spPr>
          <a:xfrm>
            <a:off x="2059667" y="3813726"/>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Specific libraries for the project can be found here</a:t>
            </a:r>
          </a:p>
        </p:txBody>
      </p:sp>
      <p:sp>
        <p:nvSpPr>
          <p:cNvPr id="12" name="Rectangle 11">
            <a:extLst>
              <a:ext uri="{FF2B5EF4-FFF2-40B4-BE49-F238E27FC236}">
                <a16:creationId xmlns:a16="http://schemas.microsoft.com/office/drawing/2014/main" id="{8959252F-04AF-44A6-8924-D7E88CC5283B}"/>
              </a:ext>
            </a:extLst>
          </p:cNvPr>
          <p:cNvSpPr/>
          <p:nvPr/>
        </p:nvSpPr>
        <p:spPr>
          <a:xfrm>
            <a:off x="685483" y="3917231"/>
            <a:ext cx="1384344" cy="223520"/>
          </a:xfrm>
          <a:prstGeom prst="rect">
            <a:avLst/>
          </a:prstGeom>
          <a:noFill/>
          <a:ln>
            <a:solidFill>
              <a:schemeClr val="tx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CustomShape 2">
            <a:extLst>
              <a:ext uri="{FF2B5EF4-FFF2-40B4-BE49-F238E27FC236}">
                <a16:creationId xmlns:a16="http://schemas.microsoft.com/office/drawing/2014/main" id="{3948A2C7-DF17-455D-A5A3-C6291E236147}"/>
              </a:ext>
            </a:extLst>
          </p:cNvPr>
          <p:cNvSpPr/>
          <p:nvPr/>
        </p:nvSpPr>
        <p:spPr>
          <a:xfrm>
            <a:off x="2069827" y="5660854"/>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spc="-1" dirty="0">
                <a:solidFill>
                  <a:schemeClr val="accent3"/>
                </a:solidFill>
                <a:latin typeface="Abadi Extra Light" panose="020B0604020202020204" pitchFamily="34" charset="0"/>
                <a:ea typeface="Tahoma"/>
                <a:cs typeface="Calibri Light" panose="020F0302020204030204" pitchFamily="34" charset="0"/>
              </a:rPr>
              <a:t>Source code for the project can be found here: </a:t>
            </a:r>
            <a:r>
              <a:rPr lang="en-US" sz="1600" b="1" spc="-1" dirty="0">
                <a:solidFill>
                  <a:schemeClr val="accent3"/>
                </a:solidFill>
                <a:latin typeface="Abadi Extra Light" panose="020B0604020202020204" pitchFamily="34" charset="0"/>
                <a:ea typeface="Tahoma"/>
                <a:cs typeface="Calibri Light" panose="020F0302020204030204" pitchFamily="34" charset="0"/>
              </a:rPr>
              <a:t>PBPM.py </a:t>
            </a:r>
            <a:r>
              <a:rPr lang="en-US" sz="1600" spc="-1" dirty="0">
                <a:solidFill>
                  <a:schemeClr val="accent3"/>
                </a:solidFill>
                <a:latin typeface="Abadi Extra Light" panose="020B0604020202020204" pitchFamily="34" charset="0"/>
                <a:ea typeface="Tahoma"/>
                <a:cs typeface="Calibri Light" panose="020F0302020204030204" pitchFamily="34" charset="0"/>
              </a:rPr>
              <a:t>and </a:t>
            </a:r>
            <a:r>
              <a:rPr lang="en-US" sz="1600" b="1" spc="-1" dirty="0">
                <a:solidFill>
                  <a:schemeClr val="accent3"/>
                </a:solidFill>
                <a:latin typeface="Abadi Extra Light" panose="020B0604020202020204" pitchFamily="34" charset="0"/>
                <a:ea typeface="Tahoma"/>
                <a:cs typeface="Calibri Light" panose="020F0302020204030204" pitchFamily="34" charset="0"/>
              </a:rPr>
              <a:t>main.py</a:t>
            </a:r>
          </a:p>
        </p:txBody>
      </p:sp>
      <p:sp>
        <p:nvSpPr>
          <p:cNvPr id="14" name="Rectangle 13">
            <a:extLst>
              <a:ext uri="{FF2B5EF4-FFF2-40B4-BE49-F238E27FC236}">
                <a16:creationId xmlns:a16="http://schemas.microsoft.com/office/drawing/2014/main" id="{2E631CFB-57AC-449E-A569-53ABDD525C03}"/>
              </a:ext>
            </a:extLst>
          </p:cNvPr>
          <p:cNvSpPr/>
          <p:nvPr/>
        </p:nvSpPr>
        <p:spPr>
          <a:xfrm>
            <a:off x="695643" y="5660855"/>
            <a:ext cx="1384344" cy="447569"/>
          </a:xfrm>
          <a:prstGeom prst="rect">
            <a:avLst/>
          </a:prstGeom>
          <a:noFill/>
          <a:ln>
            <a:solidFill>
              <a:schemeClr val="accent3"/>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CustomShape 2">
            <a:extLst>
              <a:ext uri="{FF2B5EF4-FFF2-40B4-BE49-F238E27FC236}">
                <a16:creationId xmlns:a16="http://schemas.microsoft.com/office/drawing/2014/main" id="{568A13B6-BC35-4E39-8DDC-60E19D6A6F1E}"/>
              </a:ext>
            </a:extLst>
          </p:cNvPr>
          <p:cNvSpPr/>
          <p:nvPr/>
        </p:nvSpPr>
        <p:spPr>
          <a:xfrm>
            <a:off x="2049507" y="2505261"/>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4"/>
                </a:solidFill>
                <a:latin typeface="Abadi Extra Light" panose="020B0604020202020204" pitchFamily="34" charset="0"/>
                <a:ea typeface="Tahoma"/>
                <a:cs typeface="Calibri Light" panose="020F0302020204030204" pitchFamily="34" charset="0"/>
              </a:rPr>
              <a:t>Available for the entire project settings</a:t>
            </a:r>
          </a:p>
        </p:txBody>
      </p:sp>
      <p:sp>
        <p:nvSpPr>
          <p:cNvPr id="16" name="Rectangle 15">
            <a:extLst>
              <a:ext uri="{FF2B5EF4-FFF2-40B4-BE49-F238E27FC236}">
                <a16:creationId xmlns:a16="http://schemas.microsoft.com/office/drawing/2014/main" id="{049E8BF5-AB3C-4A87-B3E3-CED4E4702740}"/>
              </a:ext>
            </a:extLst>
          </p:cNvPr>
          <p:cNvSpPr/>
          <p:nvPr/>
        </p:nvSpPr>
        <p:spPr>
          <a:xfrm>
            <a:off x="675323" y="2608766"/>
            <a:ext cx="1384344" cy="223520"/>
          </a:xfrm>
          <a:prstGeom prst="rect">
            <a:avLst/>
          </a:prstGeom>
          <a:noFill/>
          <a:ln>
            <a:solidFill>
              <a:schemeClr val="accent5"/>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CustomShape 2">
            <a:extLst>
              <a:ext uri="{FF2B5EF4-FFF2-40B4-BE49-F238E27FC236}">
                <a16:creationId xmlns:a16="http://schemas.microsoft.com/office/drawing/2014/main" id="{B93137E8-E9B7-4251-8222-1891090A0FE0}"/>
              </a:ext>
            </a:extLst>
          </p:cNvPr>
          <p:cNvSpPr/>
          <p:nvPr/>
        </p:nvSpPr>
        <p:spPr>
          <a:xfrm>
            <a:off x="2049507" y="4762273"/>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lumMod val="60000"/>
                    <a:lumOff val="40000"/>
                  </a:schemeClr>
                </a:solidFill>
                <a:latin typeface="Abadi Extra Light" panose="020B0604020202020204" pitchFamily="34" charset="0"/>
                <a:ea typeface="Tahoma"/>
                <a:cs typeface="Calibri Light" panose="020F0302020204030204" pitchFamily="34" charset="0"/>
              </a:rPr>
              <a:t>Where this presentation is</a:t>
            </a:r>
          </a:p>
        </p:txBody>
      </p:sp>
      <p:sp>
        <p:nvSpPr>
          <p:cNvPr id="18" name="Rectangle 17">
            <a:extLst>
              <a:ext uri="{FF2B5EF4-FFF2-40B4-BE49-F238E27FC236}">
                <a16:creationId xmlns:a16="http://schemas.microsoft.com/office/drawing/2014/main" id="{F0211045-82F1-4F88-A852-D8FC8C250B92}"/>
              </a:ext>
            </a:extLst>
          </p:cNvPr>
          <p:cNvSpPr/>
          <p:nvPr/>
        </p:nvSpPr>
        <p:spPr>
          <a:xfrm>
            <a:off x="675323" y="4865778"/>
            <a:ext cx="1384344" cy="223520"/>
          </a:xfrm>
          <a:prstGeom prst="rect">
            <a:avLst/>
          </a:prstGeom>
          <a:noFill/>
          <a:ln>
            <a:solidFill>
              <a:schemeClr val="accent1">
                <a:lumMod val="40000"/>
                <a:lumOff val="60000"/>
              </a:schemeClr>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98333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to execute this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12576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scripts PBPM.py, and main.py are written in Python 3, which uses up-to-date libraries for this version as well. To run the main module in a Linux environment, simply open a new terminal and call the script together with the arguments it needs: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pic>
        <p:nvPicPr>
          <p:cNvPr id="2" name="Picture 1">
            <a:extLst>
              <a:ext uri="{FF2B5EF4-FFF2-40B4-BE49-F238E27FC236}">
                <a16:creationId xmlns:a16="http://schemas.microsoft.com/office/drawing/2014/main" id="{796E7E7C-6657-4982-8AEF-7FC06642F981}"/>
              </a:ext>
            </a:extLst>
          </p:cNvPr>
          <p:cNvPicPr>
            <a:picLocks noChangeAspect="1"/>
          </p:cNvPicPr>
          <p:nvPr/>
        </p:nvPicPr>
        <p:blipFill>
          <a:blip r:embed="rId2"/>
          <a:stretch>
            <a:fillRect/>
          </a:stretch>
        </p:blipFill>
        <p:spPr>
          <a:xfrm>
            <a:off x="416560" y="3388360"/>
            <a:ext cx="8107680" cy="466935"/>
          </a:xfrm>
          <a:prstGeom prst="rect">
            <a:avLst/>
          </a:prstGeom>
        </p:spPr>
      </p:pic>
    </p:spTree>
    <p:extLst>
      <p:ext uri="{BB962C8B-B14F-4D97-AF65-F5344CB8AC3E}">
        <p14:creationId xmlns:p14="http://schemas.microsoft.com/office/powerpoint/2010/main" val="311099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Where is this protocol stored?</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Up to now, the PBPM repository is at my private GitHub:</a:t>
            </a:r>
          </a:p>
          <a:p>
            <a:pPr algn="just">
              <a:lnSpc>
                <a:spcPct val="90000"/>
              </a:lnSpc>
            </a:pPr>
            <a:r>
              <a:rPr lang="en-US" sz="2000" spc="-1" dirty="0">
                <a:solidFill>
                  <a:schemeClr val="accent1"/>
                </a:solidFill>
                <a:latin typeface="Abadi Extra Light" panose="020B0604020202020204" pitchFamily="34" charset="0"/>
                <a:ea typeface="Tahoma"/>
                <a:cs typeface="Calibri Light" panose="020F0302020204030204" pitchFamily="34" charset="0"/>
                <a:hlinkClick r:id="rId2">
                  <a:extLst>
                    <a:ext uri="{A12FA001-AC4F-418D-AE19-62706E023703}">
                      <ahyp:hlinkClr xmlns:ahyp="http://schemas.microsoft.com/office/drawing/2018/hyperlinkcolor" val="tx"/>
                    </a:ext>
                  </a:extLst>
                </a:hlinkClick>
              </a:rPr>
              <a:t>https://github.com/mgmartinezl/Stalicla-PBPM</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
        <p:nvSpPr>
          <p:cNvPr id="16" name="CustomShape 2">
            <a:extLst>
              <a:ext uri="{FF2B5EF4-FFF2-40B4-BE49-F238E27FC236}">
                <a16:creationId xmlns:a16="http://schemas.microsoft.com/office/drawing/2014/main" id="{17CC5912-53C1-4E76-B909-EC1582CFFF69}"/>
              </a:ext>
            </a:extLst>
          </p:cNvPr>
          <p:cNvSpPr/>
          <p:nvPr/>
        </p:nvSpPr>
        <p:spPr>
          <a:xfrm>
            <a:off x="250920" y="2804160"/>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u="sng" spc="-1" dirty="0">
                <a:solidFill>
                  <a:schemeClr val="tx2"/>
                </a:solidFill>
                <a:latin typeface="Abadi Extra Light" panose="020B0604020202020204" pitchFamily="34" charset="0"/>
                <a:ea typeface="Tahoma"/>
                <a:cs typeface="Calibri Light" panose="020F0302020204030204" pitchFamily="34" charset="0"/>
              </a:rPr>
              <a:t>PENDING task: </a:t>
            </a:r>
            <a:r>
              <a:rPr lang="en-US" sz="2000" spc="-1" dirty="0">
                <a:solidFill>
                  <a:schemeClr val="tx2"/>
                </a:solidFill>
                <a:latin typeface="Abadi Extra Light" panose="020B0604020202020204" pitchFamily="34" charset="0"/>
                <a:ea typeface="Tahoma"/>
                <a:cs typeface="Calibri Light" panose="020F0302020204030204" pitchFamily="34" charset="0"/>
              </a:rPr>
              <a:t>upload to the cluster and schedule some tests with final users.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2947677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4638</TotalTime>
  <Words>1235</Words>
  <Application>Microsoft Office PowerPoint</Application>
  <PresentationFormat>On-screen Show (4:3)</PresentationFormat>
  <Paragraphs>230</Paragraphs>
  <Slides>23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Abadi Extra Light</vt:lpstr>
      <vt:lpstr>Arial</vt:lpstr>
      <vt:lpstr>Calibri</vt:lpstr>
      <vt:lpstr>Symbol</vt:lpstr>
      <vt:lpstr>Tahoma</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Beckie Best</dc:creator>
  <dc:description/>
  <cp:lastModifiedBy>Andres Felipe Gomez Lopera</cp:lastModifiedBy>
  <cp:revision>190</cp:revision>
  <cp:lastPrinted>2018-06-11T12:22:51Z</cp:lastPrinted>
  <dcterms:created xsi:type="dcterms:W3CDTF">2018-01-04T09:16:16Z</dcterms:created>
  <dcterms:modified xsi:type="dcterms:W3CDTF">2019-09-03T12:25:57Z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Microsoft</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vt:i4>
  </property>
</Properties>
</file>